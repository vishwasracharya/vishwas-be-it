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28"/>
  </p:notesMasterIdLst>
  <p:sldIdLst>
    <p:sldId id="431" r:id="rId3"/>
    <p:sldId id="400" r:id="rId4"/>
    <p:sldId id="403" r:id="rId5"/>
    <p:sldId id="402" r:id="rId6"/>
    <p:sldId id="404" r:id="rId7"/>
    <p:sldId id="405" r:id="rId8"/>
    <p:sldId id="406" r:id="rId9"/>
    <p:sldId id="407" r:id="rId10"/>
    <p:sldId id="409" r:id="rId11"/>
    <p:sldId id="408" r:id="rId12"/>
    <p:sldId id="410" r:id="rId13"/>
    <p:sldId id="411" r:id="rId14"/>
    <p:sldId id="412" r:id="rId15"/>
    <p:sldId id="415" r:id="rId16"/>
    <p:sldId id="416" r:id="rId17"/>
    <p:sldId id="417" r:id="rId18"/>
    <p:sldId id="418" r:id="rId19"/>
    <p:sldId id="430" r:id="rId20"/>
    <p:sldId id="419" r:id="rId21"/>
    <p:sldId id="421" r:id="rId22"/>
    <p:sldId id="426" r:id="rId23"/>
    <p:sldId id="420" r:id="rId24"/>
    <p:sldId id="427" r:id="rId25"/>
    <p:sldId id="429" r:id="rId26"/>
    <p:sldId id="428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003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0524"/>
    <a:srgbClr val="4F81BD"/>
    <a:srgbClr val="E9EDF4"/>
    <a:srgbClr val="C0C0C0"/>
    <a:srgbClr val="D3D2D2"/>
    <a:srgbClr val="008000"/>
    <a:srgbClr val="4D4C4D"/>
    <a:srgbClr val="66FF66"/>
    <a:srgbClr val="385D8A"/>
    <a:srgbClr val="3449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5" autoAdjust="0"/>
    <p:restoredTop sz="93201" autoAdjust="0"/>
  </p:normalViewPr>
  <p:slideViewPr>
    <p:cSldViewPr>
      <p:cViewPr varScale="1">
        <p:scale>
          <a:sx n="68" d="100"/>
          <a:sy n="68" d="100"/>
        </p:scale>
        <p:origin x="-1428" y="-108"/>
      </p:cViewPr>
      <p:guideLst>
        <p:guide orient="horz" pos="100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EC9C6-1CE4-4880-838A-FB85AC35DCB4}" type="datetimeFigureOut">
              <a:rPr lang="en-US" smtClean="0"/>
              <a:pPr/>
              <a:t>19-Oct-20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A3D7D-4DD0-4519-9573-665089B6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6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837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582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277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26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000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734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9715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57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06363"/>
            <a:ext cx="8763000" cy="808037"/>
          </a:xfrm>
        </p:spPr>
        <p:txBody>
          <a:bodyPr/>
          <a:lstStyle>
            <a:lvl1pPr algn="l">
              <a:defRPr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8763000" cy="5334000"/>
          </a:xfrm>
        </p:spPr>
        <p:txBody>
          <a:bodyPr>
            <a:normAutofit/>
          </a:bodyPr>
          <a:lstStyle>
            <a:lvl1pPr marL="342900" indent="-342900" algn="just">
              <a:lnSpc>
                <a:spcPct val="114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>
              <a:lnSpc>
                <a:spcPct val="114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algn="just">
              <a:lnSpc>
                <a:spcPct val="114000"/>
              </a:lnSpc>
              <a:buClr>
                <a:schemeClr val="tx1">
                  <a:lumMod val="95000"/>
                  <a:lumOff val="5000"/>
                </a:schemeClr>
              </a:buClr>
              <a:defRPr sz="18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14000"/>
              </a:lnSpc>
              <a:buClr>
                <a:schemeClr val="tx1">
                  <a:lumMod val="95000"/>
                  <a:lumOff val="5000"/>
                </a:schemeClr>
              </a:buClr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14000"/>
              </a:lnSpc>
              <a:buClr>
                <a:schemeClr val="tx1">
                  <a:lumMod val="95000"/>
                  <a:lumOff val="5000"/>
                </a:schemeClr>
              </a:buClr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String Matching                             </a:t>
            </a:r>
            <a:r>
              <a:rPr lang="en-IN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         </a:t>
            </a:r>
            <a:r>
              <a:rPr lang="da-DK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fld id="{6E8469F3-9EE8-43CF-BEDC-475B89412D1D}" type="slidenum">
              <a:rPr lang="da-DK" sz="1800" kern="1200" noProof="1" smtClean="0">
                <a:solidFill>
                  <a:srgbClr val="FFFFFF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pPr marL="0" marR="0" indent="-34290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da-DK" sz="1800" kern="1200" baseline="0" noProof="1">
                <a:solidFill>
                  <a:srgbClr val="FFFFFF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           </a:t>
            </a:r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 Institute of Engineering &amp; Technology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90500" y="914400"/>
            <a:ext cx="8763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2747963"/>
            <a:ext cx="7772400" cy="1362075"/>
          </a:xfrm>
        </p:spPr>
        <p:txBody>
          <a:bodyPr anchor="t"/>
          <a:lstStyle>
            <a:lvl1pPr algn="l">
              <a:defRPr sz="4000" b="1" cap="none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ktangel 11"/>
          <p:cNvSpPr/>
          <p:nvPr userDrawn="1"/>
        </p:nvSpPr>
        <p:spPr>
          <a:xfrm>
            <a:off x="0" y="6434613"/>
            <a:ext cx="9144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6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Unit-7                                                      </a:t>
            </a:r>
            <a:r>
              <a:rPr lang="da-DK" sz="1600" baseline="0" noProof="1">
                <a:solidFill>
                  <a:srgbClr val="F8F8F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                          </a:t>
            </a:r>
            <a:r>
              <a:rPr lang="da-DK" sz="16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 Institute of Engineering &amp; Technology            </a:t>
            </a:r>
            <a:fld id="{6E8469F3-9EE8-43CF-BEDC-475B89412D1D}" type="slidenum">
              <a:rPr lang="da-DK" sz="16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>
                <a:defRPr/>
              </a:pPr>
              <a:t>‹#›</a:t>
            </a:fld>
            <a:endParaRPr lang="da-DK" sz="16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FF9BC18-5F67-48C8-AE19-74C8DD218351}" type="datetime1">
              <a:rPr lang="en-US" altLang="en-US">
                <a:solidFill>
                  <a:srgbClr val="000000"/>
                </a:solidFill>
              </a:rPr>
              <a:pPr/>
              <a:t>19-Oct-20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542CAB-82AF-48CC-9F29-41124BD44466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999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E3BC1A9-3026-4393-A80E-70E36827A4AD}" type="datetime1">
              <a:rPr lang="en-US" altLang="en-US">
                <a:solidFill>
                  <a:srgbClr val="000000"/>
                </a:solidFill>
              </a:rPr>
              <a:pPr/>
              <a:t>19-Oct-20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B2ED1F-C8F3-43E9-AED7-01176710CDFB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063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FC2276D-4A96-46EF-8F4E-3E4A2C9240C2}" type="datetime1">
              <a:rPr lang="en-US" altLang="en-US">
                <a:solidFill>
                  <a:srgbClr val="000000"/>
                </a:solidFill>
              </a:rPr>
              <a:pPr/>
              <a:t>19-Oct-20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8E09EA-C0CE-4BED-A47A-07C359C90800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308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F8817AE-1559-4AEF-BDB3-5BD030A59C90}" type="datetime1">
              <a:rPr lang="en-US" altLang="en-US">
                <a:solidFill>
                  <a:srgbClr val="000000"/>
                </a:solidFill>
              </a:rPr>
              <a:pPr/>
              <a:t>19-Oct-20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CB8AA6-F314-4771-A41D-9756F3A43647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343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49B86E4-7AE4-4E85-B048-146AB3044B18}" type="datetime1">
              <a:rPr lang="en-US" altLang="en-US">
                <a:solidFill>
                  <a:srgbClr val="000000"/>
                </a:solidFill>
              </a:rPr>
              <a:pPr/>
              <a:t>19-Oct-20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32A09A-456B-44E8-9ED5-46638CA9FA85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3032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15C2BFF-42B3-4937-97A6-34550EFA0AC8}" type="datetime1">
              <a:rPr lang="en-US" altLang="en-US">
                <a:solidFill>
                  <a:srgbClr val="000000"/>
                </a:solidFill>
              </a:rPr>
              <a:pPr/>
              <a:t>19-Oct-20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0DDFA1-3E15-497A-AF8D-C26CAC165219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9675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8D0F898-BE90-4F85-B1AC-FCBAACABB1BA}" type="datetime1">
              <a:rPr lang="en-US" altLang="en-US">
                <a:solidFill>
                  <a:srgbClr val="000000"/>
                </a:solidFill>
              </a:rPr>
              <a:pPr/>
              <a:t>19-Oct-20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FEFCD8-9014-49B2-92DF-8F1FF2738509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4633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BB57F4-4871-4F37-A6AB-98EE80D5FFB9}" type="datetime1">
              <a:rPr lang="en-US" altLang="en-US">
                <a:solidFill>
                  <a:srgbClr val="000000"/>
                </a:solidFill>
              </a:rPr>
              <a:pPr/>
              <a:t>19-Oct-20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032BB8-7F9C-4026-BEDA-6D71BD117CA9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1055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EB9B514-8B20-4D90-9E0B-3B5555402639}" type="datetime1">
              <a:rPr lang="en-US" altLang="en-US">
                <a:solidFill>
                  <a:srgbClr val="000000"/>
                </a:solidFill>
              </a:rPr>
              <a:pPr/>
              <a:t>19-Oct-20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A2F591-EF32-4442-8DCE-923FCAC4D1AE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5323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145F6A-67EF-4769-A964-C31A00AB2601}" type="datetime1">
              <a:rPr lang="en-US" altLang="en-US">
                <a:solidFill>
                  <a:srgbClr val="000000"/>
                </a:solidFill>
              </a:rPr>
              <a:pPr/>
              <a:t>19-Oct-20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D75CBD-765C-459E-85B5-505902757CC2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3204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C31762-40F3-409E-A80A-6F1776BEEA3B}" type="datetime1">
              <a:rPr lang="en-US" altLang="en-US">
                <a:solidFill>
                  <a:srgbClr val="000000"/>
                </a:solidFill>
              </a:rPr>
              <a:pPr/>
              <a:t>19-Oct-20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E0CCF3-82BA-4617-9267-681E7274A6B7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70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505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8FDA55D-4A49-4130-AC9C-7CCB25CEAAA8}" type="datetime1">
              <a:rPr lang="en-US" alt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505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505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3FFAF6E-EE6E-41BB-AB95-2D225EDB63A8}" type="slidenum">
              <a:rPr lang="en-US" alt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pic>
        <p:nvPicPr>
          <p:cNvPr id="150535" name="Picture 7" descr="1347-395_08_TTslide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858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74418" y="2588711"/>
            <a:ext cx="87540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Swis721 Cn BT" panose="020B050602020203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Unit-8</a:t>
            </a:r>
          </a:p>
          <a:p>
            <a:pPr algn="ctr"/>
            <a:r>
              <a:rPr lang="en-US" sz="3600" b="1" dirty="0">
                <a:solidFill>
                  <a:srgbClr val="FF0000"/>
                </a:solidFill>
                <a:ea typeface="Open Sans Semibold" panose="020B0706030804020204" pitchFamily="34" charset="0"/>
                <a:cs typeface="Open Sans Semibold" panose="020B0706030804020204" pitchFamily="34" charset="0"/>
              </a:rPr>
              <a:t>String Matching</a:t>
            </a:r>
            <a:endParaRPr lang="en-US" sz="3600" b="1" dirty="0">
              <a:solidFill>
                <a:srgbClr val="FF0000"/>
              </a:solidFill>
              <a:latin typeface="Swis721 Cn BT" panose="020B0506020202030204" pitchFamily="34" charset="0"/>
              <a:ea typeface="Open Sans Bold" panose="020B0806030504020204" pitchFamily="34" charset="0"/>
              <a:cs typeface="Open Sans Bold" panose="020B08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766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Text-editing programs frequently need to find </a:t>
            </a:r>
            <a:r>
              <a:rPr lang="en-IN" b="1" dirty="0"/>
              <a:t>all occurrences of a pattern</a:t>
            </a:r>
            <a:r>
              <a:rPr lang="en-IN" dirty="0"/>
              <a:t> in the text.</a:t>
            </a:r>
          </a:p>
          <a:p>
            <a:r>
              <a:rPr lang="en-IN" dirty="0"/>
              <a:t>Efficient algorithms for this problem is called </a:t>
            </a:r>
            <a:r>
              <a:rPr lang="en-IN" b="1" dirty="0"/>
              <a:t>“String-Matching”</a:t>
            </a:r>
            <a:r>
              <a:rPr lang="en-IN" dirty="0"/>
              <a:t>. </a:t>
            </a:r>
          </a:p>
          <a:p>
            <a:r>
              <a:rPr lang="en-IN" dirty="0"/>
              <a:t>Among its many applications,</a:t>
            </a:r>
            <a:r>
              <a:rPr lang="en-IN" b="1" dirty="0"/>
              <a:t> “String-Matching” </a:t>
            </a:r>
            <a:r>
              <a:rPr lang="en-IN" dirty="0"/>
              <a:t> is highly used in Searching for patterns in DNA and Internet search engines.</a:t>
            </a:r>
          </a:p>
        </p:txBody>
      </p:sp>
    </p:spTree>
    <p:extLst>
      <p:ext uri="{BB962C8B-B14F-4D97-AF65-F5344CB8AC3E}">
        <p14:creationId xmlns:p14="http://schemas.microsoft.com/office/powerpoint/2010/main" val="2800284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– </a:t>
            </a:r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Assume that text is an array 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IN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IN" dirty="0"/>
                  <a:t>Assume that pattern is an array 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r>
                      <a:rPr lang="en-IN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IN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IN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r>
                      <a:rPr lang="en-IN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</m:t>
                    </m:r>
                    <m:r>
                      <a:rPr lang="en-IN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IN" b="1" dirty="0">
                  <a:solidFill>
                    <a:schemeClr val="tx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r>
                  <a:rPr lang="en-IN" dirty="0"/>
                  <a:t>Where, </a:t>
                </a:r>
                <a:r>
                  <a:rPr lang="en-IN" b="1" dirty="0">
                    <a:solidFill>
                      <a:srgbClr val="FF0000"/>
                    </a:solidFill>
                  </a:rPr>
                  <a:t>0 ≤ s ≤ n-m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912612" y="2528900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3272612" y="2528900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b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3632612" y="2528900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c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992612" y="2528900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4352612" y="2528900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b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712612" y="2528900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075936" y="2528900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5435936" y="2528900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b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5795936" y="2528900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c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6155936" y="2528900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6515936" y="2528900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b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6875936" y="2528900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7234806" y="2528900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c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2912612" y="3284984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3272612" y="3284984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b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3632612" y="3284984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3995936" y="3284984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1439652" y="4054426"/>
            <a:ext cx="1404156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Shift s =</a:t>
            </a:r>
            <a:endParaRPr lang="en-IN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1540" y="2522513"/>
            <a:ext cx="2016224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Text T[1..13]</a:t>
            </a:r>
            <a:endParaRPr lang="en-IN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1540" y="3302986"/>
            <a:ext cx="2016224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Pattern P[1..4]</a:t>
            </a:r>
            <a:endParaRPr lang="en-IN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681790" y="4054426"/>
            <a:ext cx="324036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0</a:t>
            </a:r>
            <a:endParaRPr lang="en-IN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989288" y="3284984"/>
            <a:ext cx="360000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4349288" y="3284984"/>
            <a:ext cx="360000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b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4709288" y="3284984"/>
            <a:ext cx="360000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5072612" y="3284984"/>
            <a:ext cx="360000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2681790" y="4054717"/>
            <a:ext cx="324036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3</a:t>
            </a:r>
            <a:endParaRPr lang="en-IN" sz="24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13841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2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6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0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4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Naive String Matching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8763000" cy="962236"/>
          </a:xfrm>
        </p:spPr>
        <p:txBody>
          <a:bodyPr/>
          <a:lstStyle/>
          <a:p>
            <a:r>
              <a:rPr lang="en-IN" dirty="0"/>
              <a:t>The naive algorithm finds all valid shifts using a loop that checks the condition </a:t>
            </a:r>
            <a:r>
              <a:rPr lang="en-IN" b="1" dirty="0">
                <a:solidFill>
                  <a:srgbClr val="FF0000"/>
                </a:solidFill>
              </a:rPr>
              <a:t>P[1..m] = T[s+1..s+m]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372" y="2102785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710372" y="2102785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c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1070372" y="2102785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430372" y="2102785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1789242" y="2102785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b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350372" y="2966881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710372" y="2966881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1070372" y="2966881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b</a:t>
            </a:r>
            <a:endParaRPr lang="en-IN" dirty="0"/>
          </a:p>
        </p:txBody>
      </p:sp>
      <p:cxnSp>
        <p:nvCxnSpPr>
          <p:cNvPr id="15" name="Straight Connector 14"/>
          <p:cNvCxnSpPr>
            <a:stCxn id="4" idx="2"/>
            <a:endCxn id="9" idx="0"/>
          </p:cNvCxnSpPr>
          <p:nvPr/>
        </p:nvCxnSpPr>
        <p:spPr>
          <a:xfrm>
            <a:off x="530372" y="2564450"/>
            <a:ext cx="0" cy="4024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782986" y="2562445"/>
            <a:ext cx="173736" cy="399288"/>
          </a:xfrm>
          <a:custGeom>
            <a:avLst/>
            <a:gdLst>
              <a:gd name="connsiteX0" fmla="*/ 109728 w 173736"/>
              <a:gd name="connsiteY0" fmla="*/ 0 h 399288"/>
              <a:gd name="connsiteX1" fmla="*/ 0 w 173736"/>
              <a:gd name="connsiteY1" fmla="*/ 198120 h 399288"/>
              <a:gd name="connsiteX2" fmla="*/ 173736 w 173736"/>
              <a:gd name="connsiteY2" fmla="*/ 198120 h 399288"/>
              <a:gd name="connsiteX3" fmla="*/ 109728 w 173736"/>
              <a:gd name="connsiteY3" fmla="*/ 399288 h 39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736" h="399288">
                <a:moveTo>
                  <a:pt x="109728" y="0"/>
                </a:moveTo>
                <a:lnTo>
                  <a:pt x="0" y="198120"/>
                </a:lnTo>
                <a:lnTo>
                  <a:pt x="173736" y="198120"/>
                </a:lnTo>
                <a:lnTo>
                  <a:pt x="109728" y="399288"/>
                </a:lnTo>
              </a:path>
            </a:pathLst>
          </a:custGeom>
          <a:noFill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1114902" y="3591826"/>
            <a:ext cx="756084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 = 0</a:t>
            </a:r>
            <a:endParaRPr lang="en-IN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48112" y="2102784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c</a:t>
            </a:r>
            <a:endParaRPr lang="en-IN" dirty="0"/>
          </a:p>
        </p:txBody>
      </p:sp>
      <p:sp>
        <p:nvSpPr>
          <p:cNvPr id="36" name="TextBox 35"/>
          <p:cNvSpPr txBox="1"/>
          <p:nvPr/>
        </p:nvSpPr>
        <p:spPr>
          <a:xfrm>
            <a:off x="3074059" y="2097614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37" name="TextBox 36"/>
          <p:cNvSpPr txBox="1"/>
          <p:nvPr/>
        </p:nvSpPr>
        <p:spPr>
          <a:xfrm>
            <a:off x="3434059" y="2097614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c</a:t>
            </a:r>
            <a:endParaRPr lang="en-IN" dirty="0"/>
          </a:p>
        </p:txBody>
      </p:sp>
      <p:sp>
        <p:nvSpPr>
          <p:cNvPr id="38" name="TextBox 37"/>
          <p:cNvSpPr txBox="1"/>
          <p:nvPr/>
        </p:nvSpPr>
        <p:spPr>
          <a:xfrm>
            <a:off x="3794059" y="2097614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39" name="TextBox 38"/>
          <p:cNvSpPr txBox="1"/>
          <p:nvPr/>
        </p:nvSpPr>
        <p:spPr>
          <a:xfrm>
            <a:off x="4154059" y="2097614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40" name="TextBox 39"/>
          <p:cNvSpPr txBox="1"/>
          <p:nvPr/>
        </p:nvSpPr>
        <p:spPr>
          <a:xfrm>
            <a:off x="4512929" y="2097614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b</a:t>
            </a:r>
            <a:endParaRPr lang="en-IN" dirty="0"/>
          </a:p>
        </p:txBody>
      </p:sp>
      <p:sp>
        <p:nvSpPr>
          <p:cNvPr id="41" name="TextBox 40"/>
          <p:cNvSpPr txBox="1"/>
          <p:nvPr/>
        </p:nvSpPr>
        <p:spPr>
          <a:xfrm>
            <a:off x="3434059" y="2961733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42" name="TextBox 41"/>
          <p:cNvSpPr txBox="1"/>
          <p:nvPr/>
        </p:nvSpPr>
        <p:spPr>
          <a:xfrm>
            <a:off x="3794059" y="2961733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43" name="TextBox 42"/>
          <p:cNvSpPr txBox="1"/>
          <p:nvPr/>
        </p:nvSpPr>
        <p:spPr>
          <a:xfrm>
            <a:off x="4154059" y="2961733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b</a:t>
            </a:r>
            <a:endParaRPr lang="en-IN" dirty="0"/>
          </a:p>
        </p:txBody>
      </p:sp>
      <p:sp>
        <p:nvSpPr>
          <p:cNvPr id="45" name="Freeform 44"/>
          <p:cNvSpPr/>
          <p:nvPr/>
        </p:nvSpPr>
        <p:spPr>
          <a:xfrm>
            <a:off x="3506673" y="2557274"/>
            <a:ext cx="173736" cy="399288"/>
          </a:xfrm>
          <a:custGeom>
            <a:avLst/>
            <a:gdLst>
              <a:gd name="connsiteX0" fmla="*/ 109728 w 173736"/>
              <a:gd name="connsiteY0" fmla="*/ 0 h 399288"/>
              <a:gd name="connsiteX1" fmla="*/ 0 w 173736"/>
              <a:gd name="connsiteY1" fmla="*/ 198120 h 399288"/>
              <a:gd name="connsiteX2" fmla="*/ 173736 w 173736"/>
              <a:gd name="connsiteY2" fmla="*/ 198120 h 399288"/>
              <a:gd name="connsiteX3" fmla="*/ 109728 w 173736"/>
              <a:gd name="connsiteY3" fmla="*/ 399288 h 39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736" h="399288">
                <a:moveTo>
                  <a:pt x="109728" y="0"/>
                </a:moveTo>
                <a:lnTo>
                  <a:pt x="0" y="198120"/>
                </a:lnTo>
                <a:lnTo>
                  <a:pt x="173736" y="198120"/>
                </a:lnTo>
                <a:lnTo>
                  <a:pt x="109728" y="399288"/>
                </a:lnTo>
              </a:path>
            </a:pathLst>
          </a:custGeom>
          <a:noFill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/>
          <p:cNvSpPr/>
          <p:nvPr/>
        </p:nvSpPr>
        <p:spPr>
          <a:xfrm>
            <a:off x="3831121" y="3591826"/>
            <a:ext cx="758584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 = 1</a:t>
            </a:r>
            <a:endParaRPr lang="en-IN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871799" y="2097613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c</a:t>
            </a:r>
            <a:endParaRPr lang="en-IN" dirty="0"/>
          </a:p>
        </p:txBody>
      </p:sp>
      <p:sp>
        <p:nvSpPr>
          <p:cNvPr id="48" name="TextBox 47"/>
          <p:cNvSpPr txBox="1"/>
          <p:nvPr/>
        </p:nvSpPr>
        <p:spPr>
          <a:xfrm>
            <a:off x="5915242" y="2082839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49" name="TextBox 48"/>
          <p:cNvSpPr txBox="1"/>
          <p:nvPr/>
        </p:nvSpPr>
        <p:spPr>
          <a:xfrm>
            <a:off x="6275242" y="2082839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c</a:t>
            </a:r>
            <a:endParaRPr lang="en-IN" dirty="0"/>
          </a:p>
        </p:txBody>
      </p:sp>
      <p:sp>
        <p:nvSpPr>
          <p:cNvPr id="50" name="TextBox 49"/>
          <p:cNvSpPr txBox="1"/>
          <p:nvPr/>
        </p:nvSpPr>
        <p:spPr>
          <a:xfrm>
            <a:off x="6635242" y="2082839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51" name="TextBox 50"/>
          <p:cNvSpPr txBox="1"/>
          <p:nvPr/>
        </p:nvSpPr>
        <p:spPr>
          <a:xfrm>
            <a:off x="6995242" y="2082839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52" name="TextBox 51"/>
          <p:cNvSpPr txBox="1"/>
          <p:nvPr/>
        </p:nvSpPr>
        <p:spPr>
          <a:xfrm>
            <a:off x="7354112" y="2082839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b</a:t>
            </a:r>
            <a:endParaRPr lang="en-IN" dirty="0"/>
          </a:p>
        </p:txBody>
      </p:sp>
      <p:sp>
        <p:nvSpPr>
          <p:cNvPr id="53" name="TextBox 52"/>
          <p:cNvSpPr txBox="1"/>
          <p:nvPr/>
        </p:nvSpPr>
        <p:spPr>
          <a:xfrm>
            <a:off x="6635242" y="2924876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54" name="TextBox 53"/>
          <p:cNvSpPr txBox="1"/>
          <p:nvPr/>
        </p:nvSpPr>
        <p:spPr>
          <a:xfrm>
            <a:off x="6995242" y="2924876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55" name="TextBox 54"/>
          <p:cNvSpPr txBox="1"/>
          <p:nvPr/>
        </p:nvSpPr>
        <p:spPr>
          <a:xfrm>
            <a:off x="7355242" y="2924876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b</a:t>
            </a:r>
            <a:endParaRPr lang="en-IN" dirty="0"/>
          </a:p>
        </p:txBody>
      </p:sp>
      <p:sp>
        <p:nvSpPr>
          <p:cNvPr id="57" name="Rectangle 56"/>
          <p:cNvSpPr/>
          <p:nvPr/>
        </p:nvSpPr>
        <p:spPr>
          <a:xfrm>
            <a:off x="6718174" y="3591826"/>
            <a:ext cx="758584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 = 2</a:t>
            </a:r>
            <a:endParaRPr lang="en-IN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712982" y="2082838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c</a:t>
            </a:r>
            <a:endParaRPr lang="en-IN" dirty="0"/>
          </a:p>
        </p:txBody>
      </p:sp>
      <p:sp>
        <p:nvSpPr>
          <p:cNvPr id="59" name="TextBox 58"/>
          <p:cNvSpPr txBox="1"/>
          <p:nvPr/>
        </p:nvSpPr>
        <p:spPr>
          <a:xfrm>
            <a:off x="349242" y="4476704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60" name="TextBox 59"/>
          <p:cNvSpPr txBox="1"/>
          <p:nvPr/>
        </p:nvSpPr>
        <p:spPr>
          <a:xfrm>
            <a:off x="709242" y="4476704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c</a:t>
            </a:r>
            <a:endParaRPr lang="en-IN" dirty="0"/>
          </a:p>
        </p:txBody>
      </p:sp>
      <p:sp>
        <p:nvSpPr>
          <p:cNvPr id="61" name="TextBox 60"/>
          <p:cNvSpPr txBox="1"/>
          <p:nvPr/>
        </p:nvSpPr>
        <p:spPr>
          <a:xfrm>
            <a:off x="1069242" y="4476704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62" name="TextBox 61"/>
          <p:cNvSpPr txBox="1"/>
          <p:nvPr/>
        </p:nvSpPr>
        <p:spPr>
          <a:xfrm>
            <a:off x="1429242" y="4476704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63" name="TextBox 62"/>
          <p:cNvSpPr txBox="1"/>
          <p:nvPr/>
        </p:nvSpPr>
        <p:spPr>
          <a:xfrm>
            <a:off x="1788112" y="4476704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b</a:t>
            </a:r>
            <a:endParaRPr lang="en-IN" dirty="0"/>
          </a:p>
        </p:txBody>
      </p:sp>
      <p:sp>
        <p:nvSpPr>
          <p:cNvPr id="64" name="TextBox 63"/>
          <p:cNvSpPr txBox="1"/>
          <p:nvPr/>
        </p:nvSpPr>
        <p:spPr>
          <a:xfrm>
            <a:off x="1428112" y="5329905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65" name="TextBox 64"/>
          <p:cNvSpPr txBox="1"/>
          <p:nvPr/>
        </p:nvSpPr>
        <p:spPr>
          <a:xfrm>
            <a:off x="1788112" y="5329905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66" name="TextBox 65"/>
          <p:cNvSpPr txBox="1"/>
          <p:nvPr/>
        </p:nvSpPr>
        <p:spPr>
          <a:xfrm>
            <a:off x="2148112" y="5329905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b</a:t>
            </a:r>
            <a:endParaRPr lang="en-IN" dirty="0"/>
          </a:p>
        </p:txBody>
      </p:sp>
      <p:sp>
        <p:nvSpPr>
          <p:cNvPr id="67" name="Rectangle 66"/>
          <p:cNvSpPr/>
          <p:nvPr/>
        </p:nvSpPr>
        <p:spPr>
          <a:xfrm>
            <a:off x="1112402" y="5945731"/>
            <a:ext cx="758584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 = 3</a:t>
            </a:r>
            <a:endParaRPr lang="en-IN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146982" y="4476703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c</a:t>
            </a:r>
            <a:endParaRPr lang="en-IN" dirty="0"/>
          </a:p>
        </p:txBody>
      </p:sp>
      <p:cxnSp>
        <p:nvCxnSpPr>
          <p:cNvPr id="72" name="Straight Connector 71"/>
          <p:cNvCxnSpPr>
            <a:stCxn id="50" idx="2"/>
            <a:endCxn id="53" idx="0"/>
          </p:cNvCxnSpPr>
          <p:nvPr/>
        </p:nvCxnSpPr>
        <p:spPr>
          <a:xfrm>
            <a:off x="6815242" y="2544504"/>
            <a:ext cx="0" cy="3803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51" idx="2"/>
            <a:endCxn id="54" idx="0"/>
          </p:cNvCxnSpPr>
          <p:nvPr/>
        </p:nvCxnSpPr>
        <p:spPr>
          <a:xfrm>
            <a:off x="7175242" y="2544504"/>
            <a:ext cx="0" cy="3803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52" idx="2"/>
            <a:endCxn id="55" idx="0"/>
          </p:cNvCxnSpPr>
          <p:nvPr/>
        </p:nvCxnSpPr>
        <p:spPr>
          <a:xfrm>
            <a:off x="7534112" y="2544504"/>
            <a:ext cx="1130" cy="3803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62" idx="2"/>
            <a:endCxn id="64" idx="0"/>
          </p:cNvCxnSpPr>
          <p:nvPr/>
        </p:nvCxnSpPr>
        <p:spPr>
          <a:xfrm flipH="1">
            <a:off x="1608112" y="4938369"/>
            <a:ext cx="1130" cy="3915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1877785" y="4938368"/>
            <a:ext cx="173736" cy="399288"/>
          </a:xfrm>
          <a:custGeom>
            <a:avLst/>
            <a:gdLst>
              <a:gd name="connsiteX0" fmla="*/ 109728 w 173736"/>
              <a:gd name="connsiteY0" fmla="*/ 0 h 399288"/>
              <a:gd name="connsiteX1" fmla="*/ 0 w 173736"/>
              <a:gd name="connsiteY1" fmla="*/ 198120 h 399288"/>
              <a:gd name="connsiteX2" fmla="*/ 173736 w 173736"/>
              <a:gd name="connsiteY2" fmla="*/ 198120 h 399288"/>
              <a:gd name="connsiteX3" fmla="*/ 109728 w 173736"/>
              <a:gd name="connsiteY3" fmla="*/ 399288 h 39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736" h="399288">
                <a:moveTo>
                  <a:pt x="109728" y="0"/>
                </a:moveTo>
                <a:lnTo>
                  <a:pt x="0" y="198120"/>
                </a:lnTo>
                <a:lnTo>
                  <a:pt x="173736" y="198120"/>
                </a:lnTo>
                <a:lnTo>
                  <a:pt x="109728" y="399288"/>
                </a:lnTo>
              </a:path>
            </a:pathLst>
          </a:custGeom>
          <a:noFill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4" name="Straight Connector 83"/>
          <p:cNvCxnSpPr/>
          <p:nvPr/>
        </p:nvCxnSpPr>
        <p:spPr>
          <a:xfrm>
            <a:off x="2748355" y="1958769"/>
            <a:ext cx="0" cy="217991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5616116" y="1958769"/>
            <a:ext cx="0" cy="217991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190500" y="4285466"/>
            <a:ext cx="8763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0" name="Rounded Rectangular Callout 89"/>
          <p:cNvSpPr/>
          <p:nvPr/>
        </p:nvSpPr>
        <p:spPr>
          <a:xfrm>
            <a:off x="4871799" y="4922796"/>
            <a:ext cx="3984677" cy="972108"/>
          </a:xfrm>
          <a:prstGeom prst="wedgeRoundRectCallout">
            <a:avLst>
              <a:gd name="adj1" fmla="val 9388"/>
              <a:gd name="adj2" fmla="val -13401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Pattern matched with shift 2</a:t>
            </a:r>
          </a:p>
          <a:p>
            <a:pPr algn="ctr"/>
            <a:r>
              <a:rPr lang="en-IN" sz="2400" dirty="0">
                <a:latin typeface="Consolas" panose="020B0609020204030204" pitchFamily="49" charset="0"/>
                <a:ea typeface="Cambria Math" panose="02040503050406030204" pitchFamily="18" charset="0"/>
              </a:rPr>
              <a:t>P[1..m] = T[s+1..s+m]</a:t>
            </a:r>
          </a:p>
        </p:txBody>
      </p:sp>
    </p:spTree>
    <p:extLst>
      <p:ext uri="{BB962C8B-B14F-4D97-AF65-F5344CB8AC3E}">
        <p14:creationId xmlns:p14="http://schemas.microsoft.com/office/powerpoint/2010/main" val="3093255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45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49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139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143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152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156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165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169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220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3" dur="1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224" dur="1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5" dur="1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2" grpId="0" animBg="1"/>
      <p:bldP spid="23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82" grpId="0" animBg="1"/>
      <p:bldP spid="9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Naive String Matching -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8763000" cy="3086472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NAIVE-STRING MATCHER (T,P)</a:t>
            </a:r>
          </a:p>
          <a:p>
            <a:pPr marL="457200" indent="-457200">
              <a:buAutoNum type="arabicPeriod"/>
            </a:pPr>
            <a:r>
              <a:rPr lang="en-IN" dirty="0">
                <a:latin typeface="Consolas" panose="020B0609020204030204" pitchFamily="49" charset="0"/>
              </a:rPr>
              <a:t>n = </a:t>
            </a:r>
            <a:r>
              <a:rPr lang="en-IN" dirty="0" err="1">
                <a:latin typeface="Consolas" panose="020B0609020204030204" pitchFamily="49" charset="0"/>
              </a:rPr>
              <a:t>T.length</a:t>
            </a:r>
            <a:endParaRPr lang="en-IN" dirty="0">
              <a:latin typeface="Consolas" panose="020B0609020204030204" pitchFamily="49" charset="0"/>
            </a:endParaRPr>
          </a:p>
          <a:p>
            <a:pPr marL="457200" indent="-457200">
              <a:buAutoNum type="arabicPeriod"/>
            </a:pPr>
            <a:r>
              <a:rPr lang="en-IN" dirty="0">
                <a:latin typeface="Consolas" panose="020B0609020204030204" pitchFamily="49" charset="0"/>
              </a:rPr>
              <a:t>m = </a:t>
            </a:r>
            <a:r>
              <a:rPr lang="en-IN" dirty="0" err="1">
                <a:latin typeface="Consolas" panose="020B0609020204030204" pitchFamily="49" charset="0"/>
              </a:rPr>
              <a:t>P.length</a:t>
            </a:r>
            <a:endParaRPr lang="en-IN" dirty="0">
              <a:latin typeface="Consolas" panose="020B0609020204030204" pitchFamily="49" charset="0"/>
            </a:endParaRPr>
          </a:p>
          <a:p>
            <a:pPr marL="457200" indent="-457200">
              <a:buAutoNum type="arabicPeriod"/>
            </a:pPr>
            <a:r>
              <a:rPr lang="en-IN" dirty="0">
                <a:latin typeface="Consolas" panose="020B0609020204030204" pitchFamily="49" charset="0"/>
              </a:rPr>
              <a:t>for 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s=0 to n-m</a:t>
            </a:r>
          </a:p>
          <a:p>
            <a:pPr marL="457200" indent="-457200">
              <a:buAutoNum type="arabicPeriod"/>
            </a:pPr>
            <a:r>
              <a:rPr lang="en-IN" dirty="0">
                <a:latin typeface="Consolas" panose="020B0609020204030204" pitchFamily="49" charset="0"/>
              </a:rPr>
              <a:t>    if   p[1..m] == T[s+1..s+m]</a:t>
            </a:r>
          </a:p>
          <a:p>
            <a:pPr marL="457200" indent="-457200">
              <a:buAutoNum type="arabicPeriod"/>
            </a:pPr>
            <a:r>
              <a:rPr lang="en-IN" dirty="0">
                <a:latin typeface="Consolas" panose="020B0609020204030204" pitchFamily="49" charset="0"/>
              </a:rPr>
              <a:t>         print “Pattern Occurs with shift”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9021" y="4351159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009021" y="4351159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c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2369021" y="4351159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2729021" y="4351159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3087891" y="4351159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b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1649021" y="5193196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2009021" y="5193196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2369021" y="5193196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b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3446761" y="4351158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c</a:t>
            </a:r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325769" y="4344771"/>
            <a:ext cx="1062168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T[1..6]</a:t>
            </a:r>
            <a:endParaRPr lang="en-IN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25769" y="5186809"/>
            <a:ext cx="1008112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P[1..3]</a:t>
            </a:r>
            <a:endParaRPr lang="en-IN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07891" y="5193196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2367891" y="5193196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2727891" y="5193196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b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2366761" y="5193196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2726761" y="5193196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3086761" y="5193196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b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2726761" y="5193196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3086761" y="5193196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3446761" y="5193196"/>
            <a:ext cx="36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b</a:t>
            </a:r>
            <a:endParaRPr lang="en-IN" dirty="0"/>
          </a:p>
        </p:txBody>
      </p:sp>
      <p:sp>
        <p:nvSpPr>
          <p:cNvPr id="30" name="Rounded Rectangular Callout 29"/>
          <p:cNvSpPr/>
          <p:nvPr/>
        </p:nvSpPr>
        <p:spPr>
          <a:xfrm>
            <a:off x="4871799" y="4922796"/>
            <a:ext cx="3984677" cy="972108"/>
          </a:xfrm>
          <a:prstGeom prst="wedgeRoundRectCallout">
            <a:avLst>
              <a:gd name="adj1" fmla="val -27758"/>
              <a:gd name="adj2" fmla="val -13265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Naive String Matcher takes time O((n-m+1)m) </a:t>
            </a:r>
            <a:endParaRPr lang="en-IN" sz="2400" dirty="0">
              <a:latin typeface="Consolas" panose="020B0609020204030204" pitchFamily="49" charset="0"/>
              <a:ea typeface="Cambria Math" panose="020405030504060302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56476" y="48128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61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6" grpId="0" animBg="1"/>
      <p:bldP spid="17" grpId="0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8" grpId="0" animBg="1"/>
      <p:bldP spid="29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Rabin-Karp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Rabin-Karp algorithm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pre-processing time, and its worst-case running time is </a:t>
                </a:r>
                <a14:m>
                  <m:oMath xmlns:m="http://schemas.openxmlformats.org/officeDocument/2006/math">
                    <m:r>
                      <a:rPr lang="el-GR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((</m:t>
                    </m:r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IN" b="1" dirty="0">
                  <a:solidFill>
                    <a:srgbClr val="FF0000"/>
                  </a:solidFill>
                </a:endParaRPr>
              </a:p>
              <a:p>
                <a:r>
                  <a:rPr lang="en-IN" dirty="0"/>
                  <a:t>Assume that each character is a decimal digit in </a:t>
                </a:r>
                <a:r>
                  <a:rPr lang="en-IN" b="1" dirty="0"/>
                  <a:t>radix-d notation</a:t>
                </a:r>
                <a:r>
                  <a:rPr lang="en-IN" dirty="0"/>
                  <a:t>.</a:t>
                </a: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457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0304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47161"/>
            <a:ext cx="8763000" cy="658341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Rabin-Karp Example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398551"/>
              </p:ext>
            </p:extLst>
          </p:nvPr>
        </p:nvGraphicFramePr>
        <p:xfrm>
          <a:off x="1294766" y="697232"/>
          <a:ext cx="352926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0842">
                  <a:extLst>
                    <a:ext uri="{9D8B030D-6E8A-4147-A177-3AD203B41FA5}">
                      <a16:colId xmlns="" xmlns:a16="http://schemas.microsoft.com/office/drawing/2014/main" val="3584346046"/>
                    </a:ext>
                  </a:extLst>
                </a:gridCol>
                <a:gridCol w="320842">
                  <a:extLst>
                    <a:ext uri="{9D8B030D-6E8A-4147-A177-3AD203B41FA5}">
                      <a16:colId xmlns="" xmlns:a16="http://schemas.microsoft.com/office/drawing/2014/main" val="379684916"/>
                    </a:ext>
                  </a:extLst>
                </a:gridCol>
                <a:gridCol w="320842">
                  <a:extLst>
                    <a:ext uri="{9D8B030D-6E8A-4147-A177-3AD203B41FA5}">
                      <a16:colId xmlns="" xmlns:a16="http://schemas.microsoft.com/office/drawing/2014/main" val="1457192630"/>
                    </a:ext>
                  </a:extLst>
                </a:gridCol>
                <a:gridCol w="320842">
                  <a:extLst>
                    <a:ext uri="{9D8B030D-6E8A-4147-A177-3AD203B41FA5}">
                      <a16:colId xmlns="" xmlns:a16="http://schemas.microsoft.com/office/drawing/2014/main" val="3314813978"/>
                    </a:ext>
                  </a:extLst>
                </a:gridCol>
                <a:gridCol w="320842">
                  <a:extLst>
                    <a:ext uri="{9D8B030D-6E8A-4147-A177-3AD203B41FA5}">
                      <a16:colId xmlns="" xmlns:a16="http://schemas.microsoft.com/office/drawing/2014/main" val="2444222467"/>
                    </a:ext>
                  </a:extLst>
                </a:gridCol>
                <a:gridCol w="320842">
                  <a:extLst>
                    <a:ext uri="{9D8B030D-6E8A-4147-A177-3AD203B41FA5}">
                      <a16:colId xmlns="" xmlns:a16="http://schemas.microsoft.com/office/drawing/2014/main" val="4021103195"/>
                    </a:ext>
                  </a:extLst>
                </a:gridCol>
                <a:gridCol w="320842">
                  <a:extLst>
                    <a:ext uri="{9D8B030D-6E8A-4147-A177-3AD203B41FA5}">
                      <a16:colId xmlns="" xmlns:a16="http://schemas.microsoft.com/office/drawing/2014/main" val="2504161438"/>
                    </a:ext>
                  </a:extLst>
                </a:gridCol>
                <a:gridCol w="320842">
                  <a:extLst>
                    <a:ext uri="{9D8B030D-6E8A-4147-A177-3AD203B41FA5}">
                      <a16:colId xmlns="" xmlns:a16="http://schemas.microsoft.com/office/drawing/2014/main" val="3943242449"/>
                    </a:ext>
                  </a:extLst>
                </a:gridCol>
                <a:gridCol w="320842">
                  <a:extLst>
                    <a:ext uri="{9D8B030D-6E8A-4147-A177-3AD203B41FA5}">
                      <a16:colId xmlns="" xmlns:a16="http://schemas.microsoft.com/office/drawing/2014/main" val="896549800"/>
                    </a:ext>
                  </a:extLst>
                </a:gridCol>
                <a:gridCol w="320842">
                  <a:extLst>
                    <a:ext uri="{9D8B030D-6E8A-4147-A177-3AD203B41FA5}">
                      <a16:colId xmlns="" xmlns:a16="http://schemas.microsoft.com/office/drawing/2014/main" val="2393244396"/>
                    </a:ext>
                  </a:extLst>
                </a:gridCol>
                <a:gridCol w="320842">
                  <a:extLst>
                    <a:ext uri="{9D8B030D-6E8A-4147-A177-3AD203B41FA5}">
                      <a16:colId xmlns="" xmlns:a16="http://schemas.microsoft.com/office/drawing/2014/main" val="19166935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70875923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9399" y="697232"/>
            <a:ext cx="990213" cy="4680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Text </a:t>
            </a:r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  <a:ea typeface="Cambria Math" panose="02040503050406030204" pitchFamily="18" charset="0"/>
              </a:rPr>
              <a:t>T</a:t>
            </a:r>
            <a:endParaRPr lang="en-I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04048" y="713595"/>
            <a:ext cx="1393633" cy="4680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Pattern </a:t>
            </a:r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  <a:ea typeface="Cambria Math" panose="02040503050406030204" pitchFamily="18" charset="0"/>
              </a:rPr>
              <a:t>P</a:t>
            </a:r>
            <a:endParaRPr lang="en-I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111024"/>
              </p:ext>
            </p:extLst>
          </p:nvPr>
        </p:nvGraphicFramePr>
        <p:xfrm>
          <a:off x="6524099" y="724447"/>
          <a:ext cx="641684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0842">
                  <a:extLst>
                    <a:ext uri="{9D8B030D-6E8A-4147-A177-3AD203B41FA5}">
                      <a16:colId xmlns="" xmlns:a16="http://schemas.microsoft.com/office/drawing/2014/main" val="3584346046"/>
                    </a:ext>
                  </a:extLst>
                </a:gridCol>
                <a:gridCol w="320842">
                  <a:extLst>
                    <a:ext uri="{9D8B030D-6E8A-4147-A177-3AD203B41FA5}">
                      <a16:colId xmlns="" xmlns:a16="http://schemas.microsoft.com/office/drawing/2014/main" val="379684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70875923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5374" y="1227617"/>
            <a:ext cx="4536504" cy="4680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</a:rPr>
              <a:t>Choose a random prime number </a:t>
            </a:r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32606" y="1227617"/>
            <a:ext cx="1308274" cy="4680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q =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374" y="1754053"/>
            <a:ext cx="3648534" cy="86049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</a:rPr>
              <a:t>Let,   </a:t>
            </a:r>
            <a:r>
              <a:rPr lang="en-IN" sz="2400" i="1" dirty="0">
                <a:solidFill>
                  <a:schemeClr val="tx1"/>
                </a:solidFill>
                <a:latin typeface="Consolas" panose="020B0609020204030204" pitchFamily="49" charset="0"/>
              </a:rPr>
              <a:t>p </a:t>
            </a:r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= P mod q </a:t>
            </a:r>
          </a:p>
          <a:p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      =26 mod 11 =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25779" y="1804502"/>
            <a:ext cx="4823509" cy="81004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</a:rPr>
              <a:t>Let </a:t>
            </a:r>
            <a:r>
              <a:rPr lang="en-IN" sz="2400" i="1" dirty="0" err="1">
                <a:solidFill>
                  <a:schemeClr val="tx1"/>
                </a:solidFill>
                <a:latin typeface="Consolas" panose="020B0609020204030204" pitchFamily="49" charset="0"/>
              </a:rPr>
              <a:t>t</a:t>
            </a:r>
            <a:r>
              <a:rPr lang="en-IN" sz="2400" i="1" baseline="-25000" dirty="0" err="1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r>
              <a:rPr lang="en-IN" sz="2400" i="1" dirty="0">
                <a:solidFill>
                  <a:schemeClr val="tx1"/>
                </a:solidFill>
              </a:rPr>
              <a:t> </a:t>
            </a:r>
            <a:r>
              <a:rPr lang="en-IN" sz="2400" dirty="0">
                <a:solidFill>
                  <a:schemeClr val="tx1"/>
                </a:solidFill>
              </a:rPr>
              <a:t>denotes modulo </a:t>
            </a:r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q</a:t>
            </a:r>
            <a:r>
              <a:rPr lang="en-IN" sz="2400" dirty="0">
                <a:solidFill>
                  <a:schemeClr val="tx1"/>
                </a:solidFill>
              </a:rPr>
              <a:t> for text of length </a:t>
            </a:r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1764" y="4213706"/>
            <a:ext cx="3517200" cy="4680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i="1" dirty="0">
                <a:solidFill>
                  <a:schemeClr val="tx1"/>
                </a:solidFill>
                <a:latin typeface="Consolas" panose="020B0609020204030204" pitchFamily="49" charset="0"/>
              </a:rPr>
              <a:t>t</a:t>
            </a:r>
            <a:r>
              <a:rPr lang="en-IN" sz="2400" i="1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r>
              <a:rPr lang="en-IN" sz="2400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 = 31 mod 11 = 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680" y="4723774"/>
            <a:ext cx="3517200" cy="4680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i="1" dirty="0">
                <a:solidFill>
                  <a:schemeClr val="tx1"/>
                </a:solidFill>
                <a:latin typeface="Consolas" panose="020B0609020204030204" pitchFamily="49" charset="0"/>
              </a:rPr>
              <a:t>t</a:t>
            </a:r>
            <a:r>
              <a:rPr lang="en-IN" sz="2400" i="1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r>
              <a:rPr lang="en-IN" sz="2400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 = 14 mod 11 =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1680" y="5233842"/>
            <a:ext cx="3517200" cy="4680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i="1" dirty="0">
                <a:solidFill>
                  <a:schemeClr val="tx1"/>
                </a:solidFill>
                <a:latin typeface="Consolas" panose="020B0609020204030204" pitchFamily="49" charset="0"/>
              </a:rPr>
              <a:t>t</a:t>
            </a:r>
            <a:r>
              <a:rPr lang="en-IN" sz="2400" i="1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r>
              <a:rPr lang="en-IN" sz="2400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 = 41 mod 11 = 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3659" y="5746582"/>
            <a:ext cx="3517200" cy="4680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i="1" dirty="0">
                <a:solidFill>
                  <a:schemeClr val="tx1"/>
                </a:solidFill>
                <a:latin typeface="Consolas" panose="020B0609020204030204" pitchFamily="49" charset="0"/>
              </a:rPr>
              <a:t>t</a:t>
            </a:r>
            <a:r>
              <a:rPr lang="en-IN" sz="2400" i="1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r>
              <a:rPr lang="en-IN" sz="2400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 = 15 mod 11 =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8495" y="6265630"/>
            <a:ext cx="3517200" cy="4680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i="1" dirty="0">
                <a:solidFill>
                  <a:schemeClr val="tx1"/>
                </a:solidFill>
                <a:latin typeface="Consolas" panose="020B0609020204030204" pitchFamily="49" charset="0"/>
              </a:rPr>
              <a:t>t</a:t>
            </a:r>
            <a:r>
              <a:rPr lang="en-IN" sz="2400" i="1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r>
              <a:rPr lang="en-IN" sz="2400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 = 59 mod 11 =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47964" y="4213706"/>
            <a:ext cx="3517200" cy="4680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i="1" dirty="0">
                <a:solidFill>
                  <a:schemeClr val="tx1"/>
                </a:solidFill>
                <a:latin typeface="Consolas" panose="020B0609020204030204" pitchFamily="49" charset="0"/>
              </a:rPr>
              <a:t>t</a:t>
            </a:r>
            <a:r>
              <a:rPr lang="en-IN" sz="2400" i="1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r>
              <a:rPr lang="en-IN" sz="2400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 = 92 mod 11 = 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2800" y="4708486"/>
            <a:ext cx="3515658" cy="4680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i="1" dirty="0">
                <a:solidFill>
                  <a:schemeClr val="tx1"/>
                </a:solidFill>
                <a:latin typeface="Consolas" panose="020B0609020204030204" pitchFamily="49" charset="0"/>
              </a:rPr>
              <a:t>t</a:t>
            </a:r>
            <a:r>
              <a:rPr lang="en-IN" sz="2400" i="1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r>
              <a:rPr lang="en-IN" sz="2400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 = 26 mod 11 =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47964" y="5227534"/>
            <a:ext cx="3517200" cy="4680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i="1" dirty="0">
                <a:solidFill>
                  <a:schemeClr val="tx1"/>
                </a:solidFill>
                <a:latin typeface="Consolas" panose="020B0609020204030204" pitchFamily="49" charset="0"/>
              </a:rPr>
              <a:t>t</a:t>
            </a:r>
            <a:r>
              <a:rPr lang="en-IN" sz="2400" i="1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r>
              <a:rPr lang="en-IN" sz="2400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 = 65 mod 11 = 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42800" y="5746582"/>
            <a:ext cx="3515658" cy="4680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i="1" dirty="0">
                <a:solidFill>
                  <a:schemeClr val="tx1"/>
                </a:solidFill>
                <a:latin typeface="Consolas" panose="020B0609020204030204" pitchFamily="49" charset="0"/>
              </a:rPr>
              <a:t>t</a:t>
            </a:r>
            <a:r>
              <a:rPr lang="en-IN" sz="2400" i="1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r>
              <a:rPr lang="en-IN" sz="2400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 = 53 mod 11 = 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42800" y="6265630"/>
            <a:ext cx="3515658" cy="4680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i="1" dirty="0">
                <a:solidFill>
                  <a:schemeClr val="tx1"/>
                </a:solidFill>
                <a:latin typeface="Consolas" panose="020B0609020204030204" pitchFamily="49" charset="0"/>
              </a:rPr>
              <a:t>t</a:t>
            </a:r>
            <a:r>
              <a:rPr lang="en-IN" sz="2400" i="1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r>
              <a:rPr lang="en-IN" sz="2400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 = 35 mod 11 = 2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25651"/>
              </p:ext>
            </p:extLst>
          </p:nvPr>
        </p:nvGraphicFramePr>
        <p:xfrm>
          <a:off x="1523999" y="2827259"/>
          <a:ext cx="609600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4182">
                  <a:extLst>
                    <a:ext uri="{9D8B030D-6E8A-4147-A177-3AD203B41FA5}">
                      <a16:colId xmlns="" xmlns:a16="http://schemas.microsoft.com/office/drawing/2014/main" val="4208223411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57169838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101212751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2299447371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2901701410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2175626083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331642898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465400065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860598317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774959623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2354691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672000780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447531"/>
              </p:ext>
            </p:extLst>
          </p:nvPr>
        </p:nvGraphicFramePr>
        <p:xfrm>
          <a:off x="1860968" y="3608938"/>
          <a:ext cx="554182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4182">
                  <a:extLst>
                    <a:ext uri="{9D8B030D-6E8A-4147-A177-3AD203B41FA5}">
                      <a16:colId xmlns="" xmlns:a16="http://schemas.microsoft.com/office/drawing/2014/main" val="4208223411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57169838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101212751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2299447371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2901701410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2175626083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331642898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465400065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860598317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774959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672000780"/>
                  </a:ext>
                </a:extLst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1459387" y="2777814"/>
            <a:ext cx="1224136" cy="576064"/>
          </a:xfrm>
          <a:prstGeom prst="rect">
            <a:avLst/>
          </a:prstGeom>
          <a:noFill/>
          <a:ln w="38100">
            <a:solidFill>
              <a:srgbClr val="E405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/>
          <p:cNvSpPr/>
          <p:nvPr/>
        </p:nvSpPr>
        <p:spPr>
          <a:xfrm>
            <a:off x="3286708" y="2122452"/>
            <a:ext cx="457200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527884" y="3583868"/>
            <a:ext cx="219456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3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7.40741E-7 L 0.06094 0.00046 " pathEditMode="relative" rAng="0" ptsTypes="AA">
                                      <p:cBhvr>
                                        <p:cTn id="5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38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94 0.00046 L 0.12396 0.00046 " pathEditMode="relative" rAng="0" ptsTypes="AA">
                                      <p:cBhvr>
                                        <p:cTn id="6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396 0.00046 L 0.18299 -0.00116 " pathEditMode="relative" rAng="0" ptsTypes="AA">
                                      <p:cBhvr>
                                        <p:cTn id="6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1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299 -0.00116 L 0.24219 -0.00116 " pathEditMode="relative" rAng="0" ptsTypes="AA">
                                      <p:cBhvr>
                                        <p:cTn id="7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  <p:bldP spid="11" grpId="0" animBg="1"/>
      <p:bldP spid="12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8" grpId="0" animBg="1"/>
      <p:bldP spid="28" grpId="1" animBg="1"/>
      <p:bldP spid="28" grpId="2" animBg="1"/>
      <p:bldP spid="28" grpId="3" animBg="1"/>
      <p:bldP spid="28" grpId="4" animBg="1"/>
      <p:bldP spid="3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Rabin-Karp Example – </a:t>
            </a:r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361218"/>
              </p:ext>
            </p:extLst>
          </p:nvPr>
        </p:nvGraphicFramePr>
        <p:xfrm>
          <a:off x="1638078" y="1670230"/>
          <a:ext cx="609600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4182">
                  <a:extLst>
                    <a:ext uri="{9D8B030D-6E8A-4147-A177-3AD203B41FA5}">
                      <a16:colId xmlns="" xmlns:a16="http://schemas.microsoft.com/office/drawing/2014/main" val="4208223411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57169838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101212751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2299447371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2901701410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2175626083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331642898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465400065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860598317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774959623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2354691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67200078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311311"/>
              </p:ext>
            </p:extLst>
          </p:nvPr>
        </p:nvGraphicFramePr>
        <p:xfrm>
          <a:off x="1891063" y="2647764"/>
          <a:ext cx="554182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4182">
                  <a:extLst>
                    <a:ext uri="{9D8B030D-6E8A-4147-A177-3AD203B41FA5}">
                      <a16:colId xmlns="" xmlns:a16="http://schemas.microsoft.com/office/drawing/2014/main" val="4208223411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57169838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101212751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2299447371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2901701410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2175626083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331642898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465400065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860598317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774959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672000780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18027" y="980728"/>
            <a:ext cx="1393633" cy="4680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Pattern </a:t>
            </a:r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  <a:ea typeface="Cambria Math" panose="02040503050406030204" pitchFamily="18" charset="0"/>
              </a:rPr>
              <a:t>P</a:t>
            </a:r>
            <a:endParaRPr lang="en-I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855664"/>
              </p:ext>
            </p:extLst>
          </p:nvPr>
        </p:nvGraphicFramePr>
        <p:xfrm>
          <a:off x="1638078" y="991580"/>
          <a:ext cx="641684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0842">
                  <a:extLst>
                    <a:ext uri="{9D8B030D-6E8A-4147-A177-3AD203B41FA5}">
                      <a16:colId xmlns="" xmlns:a16="http://schemas.microsoft.com/office/drawing/2014/main" val="3584346046"/>
                    </a:ext>
                  </a:extLst>
                </a:gridCol>
                <a:gridCol w="320842">
                  <a:extLst>
                    <a:ext uri="{9D8B030D-6E8A-4147-A177-3AD203B41FA5}">
                      <a16:colId xmlns="" xmlns:a16="http://schemas.microsoft.com/office/drawing/2014/main" val="379684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708759237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406180" y="957229"/>
            <a:ext cx="1121704" cy="49155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i="1" dirty="0">
                <a:solidFill>
                  <a:schemeClr val="tx1"/>
                </a:solidFill>
                <a:latin typeface="Consolas" panose="020B0609020204030204" pitchFamily="49" charset="0"/>
              </a:rPr>
              <a:t>p </a:t>
            </a:r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=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027" y="1664804"/>
            <a:ext cx="1393633" cy="4680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Text </a:t>
            </a:r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  <a:ea typeface="Cambria Math" panose="02040503050406030204" pitchFamily="18" charset="0"/>
              </a:rPr>
              <a:t>T</a:t>
            </a:r>
            <a:endParaRPr lang="en-I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45055" y="2168860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mod 11</a:t>
            </a:r>
          </a:p>
        </p:txBody>
      </p:sp>
      <p:sp>
        <p:nvSpPr>
          <p:cNvPr id="13" name="Right Brace 12"/>
          <p:cNvSpPr/>
          <p:nvPr/>
        </p:nvSpPr>
        <p:spPr>
          <a:xfrm rot="5400000">
            <a:off x="3612405" y="1834526"/>
            <a:ext cx="502338" cy="1097718"/>
          </a:xfrm>
          <a:prstGeom prst="rightBrace">
            <a:avLst>
              <a:gd name="adj1" fmla="val 8333"/>
              <a:gd name="adj2" fmla="val 5647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ounded Rectangular Callout 13"/>
          <p:cNvSpPr/>
          <p:nvPr/>
        </p:nvSpPr>
        <p:spPr>
          <a:xfrm>
            <a:off x="2843808" y="3356992"/>
            <a:ext cx="1393633" cy="720080"/>
          </a:xfrm>
          <a:prstGeom prst="wedgeRoundRectCallout">
            <a:avLst>
              <a:gd name="adj1" fmla="val 21415"/>
              <a:gd name="adj2" fmla="val -8546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Spurious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Hit</a:t>
            </a:r>
            <a:endParaRPr lang="en-I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36488" y="2642338"/>
            <a:ext cx="1393633" cy="4680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i="1" dirty="0" err="1">
                <a:solidFill>
                  <a:schemeClr val="tx1"/>
                </a:solidFill>
                <a:latin typeface="Consolas" panose="020B0609020204030204" pitchFamily="49" charset="0"/>
              </a:rPr>
              <a:t>t</a:t>
            </a:r>
            <a:r>
              <a:rPr lang="en-IN" sz="2400" i="1" baseline="-25000" dirty="0" err="1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endParaRPr lang="en-I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73930" y="4370276"/>
            <a:ext cx="8030518" cy="12549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if  </a:t>
            </a:r>
            <a:r>
              <a:rPr lang="en-IN" sz="2400" i="1" dirty="0" err="1">
                <a:solidFill>
                  <a:schemeClr val="tx1"/>
                </a:solidFill>
                <a:latin typeface="Consolas" panose="020B0609020204030204" pitchFamily="49" charset="0"/>
              </a:rPr>
              <a:t>t</a:t>
            </a:r>
            <a:r>
              <a:rPr lang="en-IN" sz="2400" i="1" baseline="-25000" dirty="0" err="1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r>
              <a:rPr lang="en-IN" sz="2400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== </a:t>
            </a:r>
            <a:r>
              <a:rPr lang="en-IN" sz="2400" i="1" dirty="0">
                <a:solidFill>
                  <a:schemeClr val="tx1"/>
                </a:solidFill>
                <a:latin typeface="Consolas" panose="020B0609020204030204" pitchFamily="49" charset="0"/>
              </a:rPr>
              <a:t>p</a:t>
            </a:r>
          </a:p>
          <a:p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    if P[1..m] == T[s+1..s+m]</a:t>
            </a:r>
          </a:p>
          <a:p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       print “pattern occurs with shift” s</a:t>
            </a:r>
          </a:p>
        </p:txBody>
      </p:sp>
      <p:sp>
        <p:nvSpPr>
          <p:cNvPr id="17" name="Right Brace 16"/>
          <p:cNvSpPr/>
          <p:nvPr/>
        </p:nvSpPr>
        <p:spPr>
          <a:xfrm rot="5400000">
            <a:off x="4725674" y="1820168"/>
            <a:ext cx="502338" cy="1097718"/>
          </a:xfrm>
          <a:prstGeom prst="rightBrace">
            <a:avLst>
              <a:gd name="adj1" fmla="val 8333"/>
              <a:gd name="adj2" fmla="val 4953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ight Brace 17"/>
          <p:cNvSpPr/>
          <p:nvPr/>
        </p:nvSpPr>
        <p:spPr>
          <a:xfrm rot="5400000">
            <a:off x="4147840" y="1829740"/>
            <a:ext cx="502338" cy="1097718"/>
          </a:xfrm>
          <a:prstGeom prst="rightBrace">
            <a:avLst>
              <a:gd name="adj1" fmla="val 8333"/>
              <a:gd name="adj2" fmla="val 4953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ounded Rectangular Callout 18"/>
          <p:cNvSpPr/>
          <p:nvPr/>
        </p:nvSpPr>
        <p:spPr>
          <a:xfrm>
            <a:off x="3419872" y="3350384"/>
            <a:ext cx="1393633" cy="720080"/>
          </a:xfrm>
          <a:prstGeom prst="wedgeRoundRectCallout">
            <a:avLst>
              <a:gd name="adj1" fmla="val 21415"/>
              <a:gd name="adj2" fmla="val -8546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Spurious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Hit</a:t>
            </a:r>
            <a:endParaRPr lang="en-I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Right Brace 19"/>
          <p:cNvSpPr/>
          <p:nvPr/>
        </p:nvSpPr>
        <p:spPr>
          <a:xfrm rot="5400000">
            <a:off x="5248303" y="1820168"/>
            <a:ext cx="502338" cy="1097718"/>
          </a:xfrm>
          <a:prstGeom prst="rightBrace">
            <a:avLst>
              <a:gd name="adj1" fmla="val 8333"/>
              <a:gd name="adj2" fmla="val 4953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ounded Rectangular Callout 20"/>
          <p:cNvSpPr/>
          <p:nvPr/>
        </p:nvSpPr>
        <p:spPr>
          <a:xfrm>
            <a:off x="4551628" y="3377580"/>
            <a:ext cx="1393633" cy="720080"/>
          </a:xfrm>
          <a:prstGeom prst="wedgeRoundRectCallout">
            <a:avLst>
              <a:gd name="adj1" fmla="val 21415"/>
              <a:gd name="adj2" fmla="val -8546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Valid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match</a:t>
            </a:r>
            <a:endParaRPr lang="en-I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557380" y="2658168"/>
            <a:ext cx="219456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314715" y="1664804"/>
            <a:ext cx="1097718" cy="453054"/>
          </a:xfrm>
          <a:prstGeom prst="rect">
            <a:avLst/>
          </a:prstGeom>
          <a:solidFill>
            <a:srgbClr val="C0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4950446" y="1664804"/>
            <a:ext cx="1143000" cy="453054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886508" y="5193196"/>
            <a:ext cx="3657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48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/>
      <p:bldP spid="13" grpId="0" animBg="1"/>
      <p:bldP spid="13" grpId="1" animBg="1"/>
      <p:bldP spid="14" grpId="0" animBg="1"/>
      <p:bldP spid="14" grpId="1" animBg="1"/>
      <p:bldP spid="15" grpId="0" animBg="1"/>
      <p:bldP spid="16" grpId="0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1" grpId="0" animBg="1"/>
      <p:bldP spid="22" grpId="0" animBg="1"/>
      <p:bldP spid="23" grpId="0" animBg="1"/>
      <p:bldP spid="23" grpId="1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Rabin-Karp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8763000" cy="441104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We can compute </a:t>
            </a:r>
            <a:r>
              <a:rPr lang="en-IN" i="1" dirty="0" err="1">
                <a:latin typeface="Consolas" panose="020B0609020204030204" pitchFamily="49" charset="0"/>
              </a:rPr>
              <a:t>t</a:t>
            </a:r>
            <a:r>
              <a:rPr lang="en-IN" i="1" baseline="-25000" dirty="0" err="1">
                <a:latin typeface="Consolas" panose="020B0609020204030204" pitchFamily="49" charset="0"/>
              </a:rPr>
              <a:t>s</a:t>
            </a:r>
            <a:r>
              <a:rPr lang="en-IN" dirty="0"/>
              <a:t> using following formula 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750" y="1440715"/>
            <a:ext cx="9072500" cy="54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i="1" dirty="0">
                <a:solidFill>
                  <a:schemeClr val="tx1"/>
                </a:solidFill>
                <a:latin typeface="Consolas" panose="020B0609020204030204" pitchFamily="49" charset="0"/>
              </a:rPr>
              <a:t>t</a:t>
            </a:r>
            <a:r>
              <a:rPr lang="en-IN" sz="3200" i="1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r>
              <a:rPr lang="en-IN" sz="3200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+1 </a:t>
            </a:r>
            <a:r>
              <a:rPr lang="en-IN" sz="3200" dirty="0">
                <a:solidFill>
                  <a:schemeClr val="tx1"/>
                </a:solidFill>
                <a:latin typeface="Consolas" panose="020B0609020204030204" pitchFamily="49" charset="0"/>
              </a:rPr>
              <a:t>= 10(</a:t>
            </a:r>
            <a:r>
              <a:rPr lang="en-IN" sz="3200" i="1" dirty="0" err="1">
                <a:solidFill>
                  <a:schemeClr val="tx1"/>
                </a:solidFill>
                <a:latin typeface="Consolas" panose="020B0609020204030204" pitchFamily="49" charset="0"/>
              </a:rPr>
              <a:t>t</a:t>
            </a:r>
            <a:r>
              <a:rPr lang="en-IN" sz="3200" i="1" baseline="-25000" dirty="0" err="1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r>
              <a:rPr lang="en-IN" sz="3200" i="1" baseline="-25000" dirty="0">
                <a:latin typeface="Consolas" panose="020B0609020204030204" pitchFamily="49" charset="0"/>
              </a:rPr>
              <a:t> </a:t>
            </a:r>
            <a:r>
              <a:rPr lang="en-IN" sz="3200" dirty="0">
                <a:solidFill>
                  <a:schemeClr val="tx1"/>
                </a:solidFill>
                <a:latin typeface="Consolas" panose="020B0609020204030204" pitchFamily="49" charset="0"/>
              </a:rPr>
              <a:t>- 10</a:t>
            </a:r>
            <a:r>
              <a:rPr lang="en-IN" sz="3200" baseline="30000" dirty="0">
                <a:solidFill>
                  <a:schemeClr val="tx1"/>
                </a:solidFill>
                <a:latin typeface="Consolas" panose="020B0609020204030204" pitchFamily="49" charset="0"/>
              </a:rPr>
              <a:t>m-1</a:t>
            </a:r>
            <a:r>
              <a:rPr lang="en-IN" sz="3200" dirty="0">
                <a:solidFill>
                  <a:schemeClr val="tx1"/>
                </a:solidFill>
                <a:latin typeface="Consolas" panose="020B0609020204030204" pitchFamily="49" charset="0"/>
              </a:rPr>
              <a:t>T[s+1]) + T[s + m + 1] 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093360"/>
              </p:ext>
            </p:extLst>
          </p:nvPr>
        </p:nvGraphicFramePr>
        <p:xfrm>
          <a:off x="1523999" y="2139204"/>
          <a:ext cx="609600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4182">
                  <a:extLst>
                    <a:ext uri="{9D8B030D-6E8A-4147-A177-3AD203B41FA5}">
                      <a16:colId xmlns="" xmlns:a16="http://schemas.microsoft.com/office/drawing/2014/main" val="4208223411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57169838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101212751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2299447371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2901701410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2175626083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331642898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465400065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860598317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774959623"/>
                    </a:ext>
                  </a:extLst>
                </a:gridCol>
                <a:gridCol w="554182">
                  <a:extLst>
                    <a:ext uri="{9D8B030D-6E8A-4147-A177-3AD203B41FA5}">
                      <a16:colId xmlns="" xmlns:a16="http://schemas.microsoft.com/office/drawing/2014/main" val="2354691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672000780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87430" y="2798542"/>
            <a:ext cx="3448466" cy="4680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For m=2 and </a:t>
            </a:r>
            <a:r>
              <a:rPr lang="en-IN" sz="2400" i="1" dirty="0" err="1">
                <a:solidFill>
                  <a:schemeClr val="tx1"/>
                </a:solidFill>
                <a:latin typeface="Consolas" panose="020B0609020204030204" pitchFamily="49" charset="0"/>
              </a:rPr>
              <a:t>t</a:t>
            </a:r>
            <a:r>
              <a:rPr lang="en-IN" sz="2400" baseline="-25000" dirty="0" err="1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 = 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30" y="3338056"/>
            <a:ext cx="8766070" cy="8260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sz="2400" dirty="0">
                <a:solidFill>
                  <a:schemeClr val="tx1"/>
                </a:solidFill>
                <a:latin typeface="+mj-lt"/>
              </a:rPr>
              <a:t>We wish to remove higher order digit T[s+1]=3 and bring the new lower order digit T[s+m+1]=4 </a:t>
            </a:r>
          </a:p>
        </p:txBody>
      </p:sp>
      <p:sp>
        <p:nvSpPr>
          <p:cNvPr id="9" name="Rectangle 8"/>
          <p:cNvSpPr/>
          <p:nvPr/>
        </p:nvSpPr>
        <p:spPr>
          <a:xfrm>
            <a:off x="1439652" y="2083466"/>
            <a:ext cx="1260140" cy="576064"/>
          </a:xfrm>
          <a:prstGeom prst="rect">
            <a:avLst/>
          </a:prstGeom>
          <a:noFill/>
          <a:ln w="28575">
            <a:solidFill>
              <a:srgbClr val="E405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ounded Rectangle 9"/>
          <p:cNvSpPr/>
          <p:nvPr/>
        </p:nvSpPr>
        <p:spPr>
          <a:xfrm>
            <a:off x="186845" y="4235608"/>
            <a:ext cx="8750628" cy="8260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sz="2400" i="1" dirty="0">
                <a:solidFill>
                  <a:schemeClr val="tx1"/>
                </a:solidFill>
                <a:latin typeface="Consolas" panose="020B0609020204030204" pitchFamily="49" charset="0"/>
              </a:rPr>
              <a:t>t</a:t>
            </a:r>
            <a:r>
              <a:rPr lang="en-IN" sz="2400" i="1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r>
              <a:rPr lang="en-IN" sz="2400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+1</a:t>
            </a:r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 = 10(31-10·3) + 4</a:t>
            </a:r>
          </a:p>
          <a:p>
            <a:pPr algn="just"/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    = 10(1) + 4 = 14</a:t>
            </a:r>
            <a:endParaRPr lang="en-IN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86845" y="5117748"/>
            <a:ext cx="8750628" cy="8260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sz="2400" i="1" dirty="0">
                <a:solidFill>
                  <a:schemeClr val="tx1"/>
                </a:solidFill>
                <a:latin typeface="Consolas" panose="020B0609020204030204" pitchFamily="49" charset="0"/>
              </a:rPr>
              <a:t>t</a:t>
            </a:r>
            <a:r>
              <a:rPr lang="en-IN" sz="2400" i="1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r>
              <a:rPr lang="en-IN" sz="2400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+2</a:t>
            </a:r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 = 10(14-10·1) + 1</a:t>
            </a:r>
          </a:p>
          <a:p>
            <a:pPr algn="just"/>
            <a:r>
              <a:rPr lang="en-IN" sz="2400" dirty="0">
                <a:solidFill>
                  <a:schemeClr val="tx1"/>
                </a:solidFill>
                <a:latin typeface="Consolas" panose="020B0609020204030204" pitchFamily="49" charset="0"/>
              </a:rPr>
              <a:t>    = 10(4) + 1 = 41</a:t>
            </a:r>
            <a:endParaRPr lang="en-IN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Rounded Rectangular Callout 12"/>
          <p:cNvSpPr/>
          <p:nvPr/>
        </p:nvSpPr>
        <p:spPr>
          <a:xfrm>
            <a:off x="1007604" y="2760336"/>
            <a:ext cx="3384376" cy="1419222"/>
          </a:xfrm>
          <a:prstGeom prst="wedgeRoundRectCallout">
            <a:avLst>
              <a:gd name="adj1" fmla="val 36111"/>
              <a:gd name="adj2" fmla="val -10917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Removes the higher- order digit from </a:t>
            </a:r>
            <a:r>
              <a:rPr lang="en-IN" sz="2800" i="1" dirty="0" err="1">
                <a:solidFill>
                  <a:schemeClr val="bg1"/>
                </a:solidFill>
                <a:latin typeface="Consolas" panose="020B0609020204030204" pitchFamily="49" charset="0"/>
              </a:rPr>
              <a:t>t</a:t>
            </a:r>
            <a:r>
              <a:rPr lang="en-IN" sz="2800" i="1" baseline="-25000" dirty="0" err="1">
                <a:solidFill>
                  <a:schemeClr val="bg1"/>
                </a:solidFill>
                <a:latin typeface="Consolas" panose="020B0609020204030204" pitchFamily="49" charset="0"/>
              </a:rPr>
              <a:t>s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4" name="Rounded Rectangular Callout 13"/>
          <p:cNvSpPr/>
          <p:nvPr/>
        </p:nvSpPr>
        <p:spPr>
          <a:xfrm>
            <a:off x="4752020" y="2780655"/>
            <a:ext cx="3384376" cy="1419222"/>
          </a:xfrm>
          <a:prstGeom prst="wedgeRoundRectCallout">
            <a:avLst>
              <a:gd name="adj1" fmla="val 36111"/>
              <a:gd name="adj2" fmla="val -10917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Brings lower-order digit</a:t>
            </a:r>
          </a:p>
        </p:txBody>
      </p:sp>
    </p:spTree>
    <p:extLst>
      <p:ext uri="{BB962C8B-B14F-4D97-AF65-F5344CB8AC3E}">
        <p14:creationId xmlns:p14="http://schemas.microsoft.com/office/powerpoint/2010/main" val="1052052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1.85185E-6 L 0.06094 -0.00231 " pathEditMode="relative" rAng="0" ptsTypes="AA">
                                      <p:cBhvr>
                                        <p:cTn id="35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38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9" grpId="2" animBg="1"/>
      <p:bldP spid="10" grpId="0" animBg="1"/>
      <p:bldP spid="10" grpId="1" animBg="1"/>
      <p:bldP spid="11" grpId="0" animBg="1"/>
      <p:bldP spid="11" grpId="1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Rabin-Karp-Matcher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RABIN-KARP-MATCHER(T, P, d, q)</a:t>
            </a:r>
          </a:p>
          <a:p>
            <a:pPr marL="0" indent="0"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n ← length[T];</a:t>
            </a:r>
          </a:p>
          <a:p>
            <a:pPr marL="0" indent="0"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m ← length[P];</a:t>
            </a:r>
          </a:p>
          <a:p>
            <a:pPr marL="0" indent="0"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h ← d</a:t>
            </a:r>
            <a:r>
              <a:rPr lang="en-IN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m-1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mod q;</a:t>
            </a:r>
          </a:p>
          <a:p>
            <a:pPr marL="0" indent="0"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IN" i="1" dirty="0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← 0;</a:t>
            </a:r>
          </a:p>
          <a:p>
            <a:pPr marL="0" indent="0"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t</a:t>
            </a:r>
            <a:r>
              <a:rPr lang="en-IN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← 0;</a:t>
            </a:r>
          </a:p>
          <a:p>
            <a:pPr marL="0" indent="0"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for </a:t>
            </a:r>
            <a:r>
              <a:rPr lang="en-IN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← 1 to m do </a:t>
            </a:r>
          </a:p>
          <a:p>
            <a:pPr marL="0" indent="0"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    </a:t>
            </a:r>
            <a:r>
              <a:rPr lang="en-IN" i="1" dirty="0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← (</a:t>
            </a:r>
            <a:r>
              <a:rPr lang="en-IN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  <a:r>
              <a:rPr lang="en-IN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+ P[</a:t>
            </a:r>
            <a:r>
              <a:rPr lang="en-IN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]) mod q</a:t>
            </a:r>
          </a:p>
          <a:p>
            <a:pPr marL="0" indent="0"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    t</a:t>
            </a:r>
            <a:r>
              <a:rPr lang="en-IN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← (dt</a:t>
            </a:r>
            <a:r>
              <a:rPr lang="en-IN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+ T[</a:t>
            </a:r>
            <a:r>
              <a:rPr lang="en-IN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]) mod q</a:t>
            </a:r>
          </a:p>
          <a:p>
            <a:pPr marL="0" indent="0"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for s ← 0 to n – m do </a:t>
            </a:r>
          </a:p>
          <a:p>
            <a:pPr marL="0" indent="0"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if </a:t>
            </a:r>
            <a:r>
              <a:rPr lang="en-IN" i="1" dirty="0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ts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then</a:t>
            </a:r>
          </a:p>
          <a:p>
            <a:pPr marL="0" indent="0"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if P[1..m] == T[s+1..s+m] then </a:t>
            </a:r>
          </a:p>
          <a:p>
            <a:pPr marL="0" indent="0"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	   print “pattern occurs with shift” s</a:t>
            </a:r>
          </a:p>
          <a:p>
            <a:pPr marL="0" indent="0"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if s &lt; n-m then </a:t>
            </a:r>
          </a:p>
          <a:p>
            <a:pPr marL="0" indent="0"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t</a:t>
            </a:r>
            <a:r>
              <a:rPr lang="en-IN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s+1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← (d(</a:t>
            </a:r>
            <a:r>
              <a:rPr lang="en-IN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n-IN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– T[s+1]h) + T[s+m+1]) mod q</a:t>
            </a:r>
          </a:p>
          <a:p>
            <a:pPr marL="0" indent="0">
              <a:buNone/>
            </a:pP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130043"/>
              </p:ext>
            </p:extLst>
          </p:nvPr>
        </p:nvGraphicFramePr>
        <p:xfrm>
          <a:off x="5616111" y="996942"/>
          <a:ext cx="3337392" cy="4719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116">
                  <a:extLst>
                    <a:ext uri="{9D8B030D-6E8A-4147-A177-3AD203B41FA5}">
                      <a16:colId xmlns="" xmlns:a16="http://schemas.microsoft.com/office/drawing/2014/main" val="1137199498"/>
                    </a:ext>
                  </a:extLst>
                </a:gridCol>
                <a:gridCol w="278116">
                  <a:extLst>
                    <a:ext uri="{9D8B030D-6E8A-4147-A177-3AD203B41FA5}">
                      <a16:colId xmlns="" xmlns:a16="http://schemas.microsoft.com/office/drawing/2014/main" val="814699450"/>
                    </a:ext>
                  </a:extLst>
                </a:gridCol>
                <a:gridCol w="278116">
                  <a:extLst>
                    <a:ext uri="{9D8B030D-6E8A-4147-A177-3AD203B41FA5}">
                      <a16:colId xmlns="" xmlns:a16="http://schemas.microsoft.com/office/drawing/2014/main" val="3632972313"/>
                    </a:ext>
                  </a:extLst>
                </a:gridCol>
                <a:gridCol w="278116">
                  <a:extLst>
                    <a:ext uri="{9D8B030D-6E8A-4147-A177-3AD203B41FA5}">
                      <a16:colId xmlns="" xmlns:a16="http://schemas.microsoft.com/office/drawing/2014/main" val="2959464589"/>
                    </a:ext>
                  </a:extLst>
                </a:gridCol>
                <a:gridCol w="278116">
                  <a:extLst>
                    <a:ext uri="{9D8B030D-6E8A-4147-A177-3AD203B41FA5}">
                      <a16:colId xmlns="" xmlns:a16="http://schemas.microsoft.com/office/drawing/2014/main" val="2837615725"/>
                    </a:ext>
                  </a:extLst>
                </a:gridCol>
                <a:gridCol w="278116">
                  <a:extLst>
                    <a:ext uri="{9D8B030D-6E8A-4147-A177-3AD203B41FA5}">
                      <a16:colId xmlns="" xmlns:a16="http://schemas.microsoft.com/office/drawing/2014/main" val="2340922682"/>
                    </a:ext>
                  </a:extLst>
                </a:gridCol>
                <a:gridCol w="278116">
                  <a:extLst>
                    <a:ext uri="{9D8B030D-6E8A-4147-A177-3AD203B41FA5}">
                      <a16:colId xmlns="" xmlns:a16="http://schemas.microsoft.com/office/drawing/2014/main" val="154022684"/>
                    </a:ext>
                  </a:extLst>
                </a:gridCol>
                <a:gridCol w="278116">
                  <a:extLst>
                    <a:ext uri="{9D8B030D-6E8A-4147-A177-3AD203B41FA5}">
                      <a16:colId xmlns="" xmlns:a16="http://schemas.microsoft.com/office/drawing/2014/main" val="389237245"/>
                    </a:ext>
                  </a:extLst>
                </a:gridCol>
                <a:gridCol w="278116">
                  <a:extLst>
                    <a:ext uri="{9D8B030D-6E8A-4147-A177-3AD203B41FA5}">
                      <a16:colId xmlns="" xmlns:a16="http://schemas.microsoft.com/office/drawing/2014/main" val="1077832017"/>
                    </a:ext>
                  </a:extLst>
                </a:gridCol>
                <a:gridCol w="278116">
                  <a:extLst>
                    <a:ext uri="{9D8B030D-6E8A-4147-A177-3AD203B41FA5}">
                      <a16:colId xmlns="" xmlns:a16="http://schemas.microsoft.com/office/drawing/2014/main" val="3303865244"/>
                    </a:ext>
                  </a:extLst>
                </a:gridCol>
                <a:gridCol w="278116">
                  <a:extLst>
                    <a:ext uri="{9D8B030D-6E8A-4147-A177-3AD203B41FA5}">
                      <a16:colId xmlns="" xmlns:a16="http://schemas.microsoft.com/office/drawing/2014/main" val="2741318054"/>
                    </a:ext>
                  </a:extLst>
                </a:gridCol>
                <a:gridCol w="278116">
                  <a:extLst>
                    <a:ext uri="{9D8B030D-6E8A-4147-A177-3AD203B41FA5}">
                      <a16:colId xmlns="" xmlns:a16="http://schemas.microsoft.com/office/drawing/2014/main" val="1355053339"/>
                    </a:ext>
                  </a:extLst>
                </a:gridCol>
              </a:tblGrid>
              <a:tr h="47192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73791297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242733"/>
              </p:ext>
            </p:extLst>
          </p:nvPr>
        </p:nvGraphicFramePr>
        <p:xfrm>
          <a:off x="5616108" y="1522663"/>
          <a:ext cx="834348" cy="4719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116">
                  <a:extLst>
                    <a:ext uri="{9D8B030D-6E8A-4147-A177-3AD203B41FA5}">
                      <a16:colId xmlns="" xmlns:a16="http://schemas.microsoft.com/office/drawing/2014/main" val="1137199498"/>
                    </a:ext>
                  </a:extLst>
                </a:gridCol>
                <a:gridCol w="278116">
                  <a:extLst>
                    <a:ext uri="{9D8B030D-6E8A-4147-A177-3AD203B41FA5}">
                      <a16:colId xmlns="" xmlns:a16="http://schemas.microsoft.com/office/drawing/2014/main" val="814699450"/>
                    </a:ext>
                  </a:extLst>
                </a:gridCol>
                <a:gridCol w="278116">
                  <a:extLst>
                    <a:ext uri="{9D8B030D-6E8A-4147-A177-3AD203B41FA5}">
                      <a16:colId xmlns="" xmlns:a16="http://schemas.microsoft.com/office/drawing/2014/main" val="3632972313"/>
                    </a:ext>
                  </a:extLst>
                </a:gridCol>
              </a:tblGrid>
              <a:tr h="47192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737912973"/>
                  </a:ext>
                </a:extLst>
              </a:tr>
            </a:tbl>
          </a:graphicData>
        </a:graphic>
      </p:graphicFrame>
      <p:cxnSp>
        <p:nvCxnSpPr>
          <p:cNvPr id="11" name="Straight Connector 10"/>
          <p:cNvCxnSpPr/>
          <p:nvPr/>
        </p:nvCxnSpPr>
        <p:spPr>
          <a:xfrm>
            <a:off x="5338835" y="930262"/>
            <a:ext cx="0" cy="492275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285881"/>
              </p:ext>
            </p:extLst>
          </p:nvPr>
        </p:nvGraphicFramePr>
        <p:xfrm>
          <a:off x="6641012" y="1522663"/>
          <a:ext cx="834348" cy="4719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116">
                  <a:extLst>
                    <a:ext uri="{9D8B030D-6E8A-4147-A177-3AD203B41FA5}">
                      <a16:colId xmlns="" xmlns:a16="http://schemas.microsoft.com/office/drawing/2014/main" val="1137199498"/>
                    </a:ext>
                  </a:extLst>
                </a:gridCol>
                <a:gridCol w="556232">
                  <a:extLst>
                    <a:ext uri="{9D8B030D-6E8A-4147-A177-3AD203B41FA5}">
                      <a16:colId xmlns="" xmlns:a16="http://schemas.microsoft.com/office/drawing/2014/main" val="814699450"/>
                    </a:ext>
                  </a:extLst>
                </a:gridCol>
              </a:tblGrid>
              <a:tr h="47192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73791297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469468"/>
              </p:ext>
            </p:extLst>
          </p:nvPr>
        </p:nvGraphicFramePr>
        <p:xfrm>
          <a:off x="7665916" y="1522663"/>
          <a:ext cx="834348" cy="4719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116">
                  <a:extLst>
                    <a:ext uri="{9D8B030D-6E8A-4147-A177-3AD203B41FA5}">
                      <a16:colId xmlns="" xmlns:a16="http://schemas.microsoft.com/office/drawing/2014/main" val="1137199498"/>
                    </a:ext>
                  </a:extLst>
                </a:gridCol>
                <a:gridCol w="556232">
                  <a:extLst>
                    <a:ext uri="{9D8B030D-6E8A-4147-A177-3AD203B41FA5}">
                      <a16:colId xmlns="" xmlns:a16="http://schemas.microsoft.com/office/drawing/2014/main" val="814699450"/>
                    </a:ext>
                  </a:extLst>
                </a:gridCol>
              </a:tblGrid>
              <a:tr h="47192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q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737912973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548852"/>
              </p:ext>
            </p:extLst>
          </p:nvPr>
        </p:nvGraphicFramePr>
        <p:xfrm>
          <a:off x="5616108" y="2073903"/>
          <a:ext cx="834348" cy="4719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116">
                  <a:extLst>
                    <a:ext uri="{9D8B030D-6E8A-4147-A177-3AD203B41FA5}">
                      <a16:colId xmlns="" xmlns:a16="http://schemas.microsoft.com/office/drawing/2014/main" val="1137199498"/>
                    </a:ext>
                  </a:extLst>
                </a:gridCol>
                <a:gridCol w="556232">
                  <a:extLst>
                    <a:ext uri="{9D8B030D-6E8A-4147-A177-3AD203B41FA5}">
                      <a16:colId xmlns="" xmlns:a16="http://schemas.microsoft.com/office/drawing/2014/main" val="814699450"/>
                    </a:ext>
                  </a:extLst>
                </a:gridCol>
              </a:tblGrid>
              <a:tr h="47192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737912973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978617"/>
              </p:ext>
            </p:extLst>
          </p:nvPr>
        </p:nvGraphicFramePr>
        <p:xfrm>
          <a:off x="6641012" y="2068116"/>
          <a:ext cx="834348" cy="4719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116">
                  <a:extLst>
                    <a:ext uri="{9D8B030D-6E8A-4147-A177-3AD203B41FA5}">
                      <a16:colId xmlns="" xmlns:a16="http://schemas.microsoft.com/office/drawing/2014/main" val="1137199498"/>
                    </a:ext>
                  </a:extLst>
                </a:gridCol>
                <a:gridCol w="556232">
                  <a:extLst>
                    <a:ext uri="{9D8B030D-6E8A-4147-A177-3AD203B41FA5}">
                      <a16:colId xmlns="" xmlns:a16="http://schemas.microsoft.com/office/drawing/2014/main" val="814699450"/>
                    </a:ext>
                  </a:extLst>
                </a:gridCol>
              </a:tblGrid>
              <a:tr h="47192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737912973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425756"/>
              </p:ext>
            </p:extLst>
          </p:nvPr>
        </p:nvGraphicFramePr>
        <p:xfrm>
          <a:off x="7665916" y="2048384"/>
          <a:ext cx="834348" cy="4719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116">
                  <a:extLst>
                    <a:ext uri="{9D8B030D-6E8A-4147-A177-3AD203B41FA5}">
                      <a16:colId xmlns="" xmlns:a16="http://schemas.microsoft.com/office/drawing/2014/main" val="1137199498"/>
                    </a:ext>
                  </a:extLst>
                </a:gridCol>
                <a:gridCol w="556232">
                  <a:extLst>
                    <a:ext uri="{9D8B030D-6E8A-4147-A177-3AD203B41FA5}">
                      <a16:colId xmlns="" xmlns:a16="http://schemas.microsoft.com/office/drawing/2014/main" val="814699450"/>
                    </a:ext>
                  </a:extLst>
                </a:gridCol>
              </a:tblGrid>
              <a:tr h="47192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737912973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364663"/>
              </p:ext>
            </p:extLst>
          </p:nvPr>
        </p:nvGraphicFramePr>
        <p:xfrm>
          <a:off x="5616108" y="2627754"/>
          <a:ext cx="834348" cy="4719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116">
                  <a:extLst>
                    <a:ext uri="{9D8B030D-6E8A-4147-A177-3AD203B41FA5}">
                      <a16:colId xmlns="" xmlns:a16="http://schemas.microsoft.com/office/drawing/2014/main" val="1137199498"/>
                    </a:ext>
                  </a:extLst>
                </a:gridCol>
                <a:gridCol w="556232">
                  <a:extLst>
                    <a:ext uri="{9D8B030D-6E8A-4147-A177-3AD203B41FA5}">
                      <a16:colId xmlns="" xmlns:a16="http://schemas.microsoft.com/office/drawing/2014/main" val="814699450"/>
                    </a:ext>
                  </a:extLst>
                </a:gridCol>
              </a:tblGrid>
              <a:tr h="47192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737912973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214270"/>
              </p:ext>
            </p:extLst>
          </p:nvPr>
        </p:nvGraphicFramePr>
        <p:xfrm>
          <a:off x="6628157" y="2613569"/>
          <a:ext cx="834348" cy="4719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4123">
                  <a:extLst>
                    <a:ext uri="{9D8B030D-6E8A-4147-A177-3AD203B41FA5}">
                      <a16:colId xmlns="" xmlns:a16="http://schemas.microsoft.com/office/drawing/2014/main" val="1137199498"/>
                    </a:ext>
                  </a:extLst>
                </a:gridCol>
                <a:gridCol w="370225">
                  <a:extLst>
                    <a:ext uri="{9D8B030D-6E8A-4147-A177-3AD203B41FA5}">
                      <a16:colId xmlns="" xmlns:a16="http://schemas.microsoft.com/office/drawing/2014/main" val="814699450"/>
                    </a:ext>
                  </a:extLst>
                </a:gridCol>
              </a:tblGrid>
              <a:tr h="471926">
                <a:tc>
                  <a:txBody>
                    <a:bodyPr/>
                    <a:lstStyle/>
                    <a:p>
                      <a:pPr algn="ctr"/>
                      <a:r>
                        <a:rPr lang="en-IN" sz="240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IN" sz="2400" i="0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737912973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119042"/>
              </p:ext>
            </p:extLst>
          </p:nvPr>
        </p:nvGraphicFramePr>
        <p:xfrm>
          <a:off x="5616108" y="2623113"/>
          <a:ext cx="834348" cy="4719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116">
                  <a:extLst>
                    <a:ext uri="{9D8B030D-6E8A-4147-A177-3AD203B41FA5}">
                      <a16:colId xmlns="" xmlns:a16="http://schemas.microsoft.com/office/drawing/2014/main" val="1137199498"/>
                    </a:ext>
                  </a:extLst>
                </a:gridCol>
                <a:gridCol w="556232">
                  <a:extLst>
                    <a:ext uri="{9D8B030D-6E8A-4147-A177-3AD203B41FA5}">
                      <a16:colId xmlns="" xmlns:a16="http://schemas.microsoft.com/office/drawing/2014/main" val="814699450"/>
                    </a:ext>
                  </a:extLst>
                </a:gridCol>
              </a:tblGrid>
              <a:tr h="47192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737912973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494980"/>
              </p:ext>
            </p:extLst>
          </p:nvPr>
        </p:nvGraphicFramePr>
        <p:xfrm>
          <a:off x="6628157" y="2608928"/>
          <a:ext cx="834348" cy="4719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4123">
                  <a:extLst>
                    <a:ext uri="{9D8B030D-6E8A-4147-A177-3AD203B41FA5}">
                      <a16:colId xmlns="" xmlns:a16="http://schemas.microsoft.com/office/drawing/2014/main" val="1137199498"/>
                    </a:ext>
                  </a:extLst>
                </a:gridCol>
                <a:gridCol w="370225">
                  <a:extLst>
                    <a:ext uri="{9D8B030D-6E8A-4147-A177-3AD203B41FA5}">
                      <a16:colId xmlns="" xmlns:a16="http://schemas.microsoft.com/office/drawing/2014/main" val="814699450"/>
                    </a:ext>
                  </a:extLst>
                </a:gridCol>
              </a:tblGrid>
              <a:tr h="471926">
                <a:tc>
                  <a:txBody>
                    <a:bodyPr/>
                    <a:lstStyle/>
                    <a:p>
                      <a:pPr algn="ctr"/>
                      <a:r>
                        <a:rPr lang="en-IN" sz="240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IN" sz="2400" i="0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737912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70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String Matching Using Finite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A finite automaton M is a 5-tuple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32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IN" sz="32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3200" b="1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32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IN" sz="32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IN" sz="32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32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IN" sz="32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32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𝜮</m:t>
                      </m:r>
                      <m:r>
                        <a:rPr lang="en-IN" sz="32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32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𝜹</m:t>
                      </m:r>
                      <m:r>
                        <a:rPr lang="en-IN" sz="32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3200" b="1" dirty="0">
                  <a:solidFill>
                    <a:schemeClr val="tx2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IN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IN" dirty="0"/>
                  <a:t> is a finite set of </a:t>
                </a:r>
                <a:r>
                  <a:rPr lang="en-IN" b="1" dirty="0">
                    <a:solidFill>
                      <a:schemeClr val="tx2"/>
                    </a:solidFill>
                  </a:rPr>
                  <a:t>states</a:t>
                </a:r>
                <a:r>
                  <a:rPr lang="en-IN" dirty="0"/>
                  <a:t>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I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I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b="1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𝛜</m:t>
                    </m:r>
                    <m:r>
                      <a:rPr lang="en-IN" b="1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IN" b="1" dirty="0">
                    <a:solidFill>
                      <a:schemeClr val="tx2"/>
                    </a:solidFill>
                  </a:rPr>
                  <a:t> </a:t>
                </a:r>
                <a:r>
                  <a:rPr lang="en-IN" dirty="0"/>
                  <a:t>is a </a:t>
                </a:r>
                <a:r>
                  <a:rPr lang="en-IN" b="1" dirty="0">
                    <a:solidFill>
                      <a:schemeClr val="tx2"/>
                    </a:solidFill>
                  </a:rPr>
                  <a:t>start state</a:t>
                </a:r>
                <a:r>
                  <a:rPr lang="en-IN" dirty="0"/>
                  <a:t>,</a:t>
                </a:r>
              </a:p>
              <a:p>
                <a14:m>
                  <m:oMath xmlns:m="http://schemas.openxmlformats.org/officeDocument/2006/math">
                    <m:r>
                      <a:rPr lang="en-IN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IN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IN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IN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set of </a:t>
                </a:r>
                <a:r>
                  <a:rPr lang="en-IN" b="1" dirty="0">
                    <a:solidFill>
                      <a:schemeClr val="tx2"/>
                    </a:solidFill>
                  </a:rPr>
                  <a:t>accepting states</a:t>
                </a:r>
                <a:r>
                  <a:rPr lang="en-IN" dirty="0"/>
                  <a:t>,</a:t>
                </a:r>
              </a:p>
              <a:p>
                <a14:m>
                  <m:oMath xmlns:m="http://schemas.openxmlformats.org/officeDocument/2006/math">
                    <m:r>
                      <a:rPr lang="en-IN" b="1" i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IN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is a finite </a:t>
                </a:r>
                <a:r>
                  <a:rPr lang="en-IN" b="1" dirty="0">
                    <a:solidFill>
                      <a:schemeClr val="tx2"/>
                    </a:solidFill>
                  </a:rPr>
                  <a:t>input alphabet</a:t>
                </a:r>
                <a:r>
                  <a:rPr lang="en-IN" dirty="0"/>
                  <a:t>,</a:t>
                </a:r>
                <a:r>
                  <a:rPr lang="en-IN" b="1" dirty="0">
                    <a:solidFill>
                      <a:schemeClr val="tx2"/>
                    </a:solidFill>
                  </a:rPr>
                  <a:t>	 </a:t>
                </a:r>
              </a:p>
              <a:p>
                <a14:m>
                  <m:oMath xmlns:m="http://schemas.openxmlformats.org/officeDocument/2006/math">
                    <m:r>
                      <a:rPr lang="en-IN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en-IN" b="1" dirty="0">
                    <a:solidFill>
                      <a:schemeClr val="tx2"/>
                    </a:solidFill>
                  </a:rPr>
                  <a:t> </a:t>
                </a:r>
                <a:r>
                  <a:rPr lang="en-IN" dirty="0"/>
                  <a:t>is a </a:t>
                </a:r>
                <a:r>
                  <a:rPr lang="en-IN" b="1" dirty="0">
                    <a:solidFill>
                      <a:schemeClr val="tx2"/>
                    </a:solidFill>
                  </a:rPr>
                  <a:t>transition function</a:t>
                </a:r>
                <a:r>
                  <a:rPr lang="en-IN" dirty="0"/>
                  <a:t> of M.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04" t="-4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622775"/>
              </p:ext>
            </p:extLst>
          </p:nvPr>
        </p:nvGraphicFramePr>
        <p:xfrm>
          <a:off x="575556" y="4560684"/>
          <a:ext cx="2592288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4096">
                  <a:extLst>
                    <a:ext uri="{9D8B030D-6E8A-4147-A177-3AD203B41FA5}">
                      <a16:colId xmlns="" xmlns:a16="http://schemas.microsoft.com/office/drawing/2014/main" val="2333572094"/>
                    </a:ext>
                  </a:extLst>
                </a:gridCol>
                <a:gridCol w="864096">
                  <a:extLst>
                    <a:ext uri="{9D8B030D-6E8A-4147-A177-3AD203B41FA5}">
                      <a16:colId xmlns="" xmlns:a16="http://schemas.microsoft.com/office/drawing/2014/main" val="833963497"/>
                    </a:ext>
                  </a:extLst>
                </a:gridCol>
                <a:gridCol w="864096">
                  <a:extLst>
                    <a:ext uri="{9D8B030D-6E8A-4147-A177-3AD203B41FA5}">
                      <a16:colId xmlns="" xmlns:a16="http://schemas.microsoft.com/office/drawing/2014/main" val="589098103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Input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520142934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State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319656607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54745318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16655326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>
            <a:off x="5014798" y="4367750"/>
            <a:ext cx="3938702" cy="2021734"/>
            <a:chOff x="3931150" y="4367750"/>
            <a:chExt cx="3938702" cy="2021734"/>
          </a:xfrm>
        </p:grpSpPr>
        <p:sp>
          <p:nvSpPr>
            <p:cNvPr id="5" name="Oval 4"/>
            <p:cNvSpPr/>
            <p:nvPr/>
          </p:nvSpPr>
          <p:spPr>
            <a:xfrm>
              <a:off x="4860032" y="5013176"/>
              <a:ext cx="648000" cy="64807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400" b="1" dirty="0"/>
                <a:t>0</a:t>
              </a:r>
              <a:endParaRPr lang="en-IN" b="1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7221852" y="5013176"/>
              <a:ext cx="648000" cy="64807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b="1" dirty="0"/>
                <a:t>1</a:t>
              </a:r>
              <a:endParaRPr lang="en-IN" b="1" dirty="0"/>
            </a:p>
          </p:txBody>
        </p:sp>
        <p:cxnSp>
          <p:nvCxnSpPr>
            <p:cNvPr id="8" name="Curved Connector 7"/>
            <p:cNvCxnSpPr>
              <a:stCxn id="5" idx="0"/>
              <a:endCxn id="6" idx="0"/>
            </p:cNvCxnSpPr>
            <p:nvPr/>
          </p:nvCxnSpPr>
          <p:spPr>
            <a:xfrm rot="5400000" flipH="1" flipV="1">
              <a:off x="6364942" y="3832266"/>
              <a:ext cx="12700" cy="2361820"/>
            </a:xfrm>
            <a:prstGeom prst="curvedConnector3">
              <a:avLst>
                <a:gd name="adj1" fmla="val 1800000"/>
              </a:avLst>
            </a:prstGeom>
            <a:ln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Curved Connector 9"/>
            <p:cNvCxnSpPr>
              <a:stCxn id="6" idx="4"/>
              <a:endCxn id="5" idx="4"/>
            </p:cNvCxnSpPr>
            <p:nvPr/>
          </p:nvCxnSpPr>
          <p:spPr>
            <a:xfrm rot="5400000">
              <a:off x="6364942" y="4480338"/>
              <a:ext cx="12700" cy="2361820"/>
            </a:xfrm>
            <a:prstGeom prst="curvedConnector3">
              <a:avLst>
                <a:gd name="adj1" fmla="val 1800000"/>
              </a:avLst>
            </a:prstGeom>
            <a:ln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Curved Connector 11"/>
            <p:cNvCxnSpPr>
              <a:stCxn id="6" idx="5"/>
              <a:endCxn id="5" idx="3"/>
            </p:cNvCxnSpPr>
            <p:nvPr/>
          </p:nvCxnSpPr>
          <p:spPr>
            <a:xfrm rot="5400000">
              <a:off x="6364942" y="4156327"/>
              <a:ext cx="12700" cy="2820026"/>
            </a:xfrm>
            <a:prstGeom prst="curvedConnector3">
              <a:avLst>
                <a:gd name="adj1" fmla="val 6121402"/>
              </a:avLst>
            </a:prstGeom>
            <a:ln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Curved Connector 20"/>
            <p:cNvCxnSpPr>
              <a:stCxn id="5" idx="1"/>
              <a:endCxn id="5" idx="2"/>
            </p:cNvCxnSpPr>
            <p:nvPr/>
          </p:nvCxnSpPr>
          <p:spPr>
            <a:xfrm rot="16200000" flipH="1" flipV="1">
              <a:off x="4792917" y="5175199"/>
              <a:ext cx="229128" cy="94897"/>
            </a:xfrm>
            <a:prstGeom prst="curvedConnector4">
              <a:avLst>
                <a:gd name="adj1" fmla="val -195741"/>
                <a:gd name="adj2" fmla="val 673635"/>
              </a:avLst>
            </a:prstGeom>
            <a:ln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6211322" y="4367750"/>
              <a:ext cx="432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/>
                <a:t>a</a:t>
              </a:r>
              <a:endParaRPr lang="en-IN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228184" y="5436765"/>
              <a:ext cx="432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/>
                <a:t>a</a:t>
              </a:r>
              <a:endParaRPr lang="en-IN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228184" y="5927819"/>
              <a:ext cx="432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/>
                <a:t>b</a:t>
              </a:r>
              <a:endParaRPr lang="en-IN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931150" y="4689140"/>
              <a:ext cx="432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/>
                <a:t>b</a:t>
              </a:r>
              <a:endParaRPr lang="en-IN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ounded Rectangle 30"/>
              <p:cNvSpPr/>
              <p:nvPr/>
            </p:nvSpPr>
            <p:spPr>
              <a:xfrm>
                <a:off x="4874047" y="2096852"/>
                <a:ext cx="1717633" cy="468052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IN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{0,1}</m:t>
                      </m:r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ounded 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047" y="2096852"/>
                <a:ext cx="1717633" cy="468052"/>
              </a:xfrm>
              <a:prstGeom prst="roundRect">
                <a:avLst/>
              </a:prstGeom>
              <a:blipFill>
                <a:blip r:embed="rId4"/>
                <a:stretch>
                  <a:fillRect b="-168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ounded Rectangle 31"/>
              <p:cNvSpPr/>
              <p:nvPr/>
            </p:nvSpPr>
            <p:spPr>
              <a:xfrm>
                <a:off x="4880397" y="2577724"/>
                <a:ext cx="1711283" cy="468052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I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IN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Rounded 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0397" y="2577724"/>
                <a:ext cx="1711283" cy="468052"/>
              </a:xfrm>
              <a:prstGeom prst="roundRect">
                <a:avLst/>
              </a:prstGeom>
              <a:blipFill>
                <a:blip r:embed="rId5"/>
                <a:stretch>
                  <a:fillRect b="-103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ounded Rectangle 32"/>
              <p:cNvSpPr/>
              <p:nvPr/>
            </p:nvSpPr>
            <p:spPr>
              <a:xfrm>
                <a:off x="4886541" y="3550431"/>
                <a:ext cx="1705139" cy="468052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I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sty m:val="p"/>
                        </m:rPr>
                        <a:rPr lang="en-I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I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I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ounded 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541" y="3550431"/>
                <a:ext cx="1705139" cy="468052"/>
              </a:xfrm>
              <a:prstGeom prst="roundRect">
                <a:avLst/>
              </a:prstGeom>
              <a:blipFill>
                <a:blip r:embed="rId6"/>
                <a:stretch>
                  <a:fillRect b="-168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ounded Rectangle 33"/>
              <p:cNvSpPr/>
              <p:nvPr/>
            </p:nvSpPr>
            <p:spPr>
              <a:xfrm>
                <a:off x="4874047" y="4044849"/>
                <a:ext cx="1717633" cy="468052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𝜹</m:t>
                      </m:r>
                      <m:d>
                        <m:d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ounded 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047" y="4044849"/>
                <a:ext cx="1717633" cy="468052"/>
              </a:xfrm>
              <a:prstGeom prst="roundRect">
                <a:avLst/>
              </a:prstGeom>
              <a:blipFill>
                <a:blip r:embed="rId7"/>
                <a:stretch>
                  <a:fillRect l="-7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ounded Rectangle 34"/>
              <p:cNvSpPr/>
              <p:nvPr/>
            </p:nvSpPr>
            <p:spPr>
              <a:xfrm>
                <a:off x="4880397" y="3061887"/>
                <a:ext cx="1711283" cy="468052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IN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ounded 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0397" y="3061887"/>
                <a:ext cx="1711283" cy="468052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372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Suffix of String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>
                    <a:latin typeface="+mn-lt"/>
                  </a:rPr>
                  <a:t>If a string </a:t>
                </a:r>
                <a14:m>
                  <m:oMath xmlns:m="http://schemas.openxmlformats.org/officeDocument/2006/math">
                    <m:r>
                      <a:rPr lang="en-IN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𝛚</m:t>
                    </m:r>
                  </m:oMath>
                </a14:m>
                <a:r>
                  <a:rPr lang="en-IN" dirty="0">
                    <a:latin typeface="+mn-lt"/>
                  </a:rPr>
                  <a:t> is a </a:t>
                </a:r>
                <a:r>
                  <a:rPr lang="en-IN" b="1" dirty="0">
                    <a:solidFill>
                      <a:srgbClr val="FF0000"/>
                    </a:solidFill>
                    <a:latin typeface="+mn-lt"/>
                  </a:rPr>
                  <a:t>suffix</a:t>
                </a:r>
                <a:r>
                  <a:rPr lang="en-IN" dirty="0">
                    <a:solidFill>
                      <a:srgbClr val="FF0000"/>
                    </a:solidFill>
                    <a:latin typeface="+mn-lt"/>
                  </a:rPr>
                  <a:t> </a:t>
                </a:r>
                <a:r>
                  <a:rPr lang="en-IN" dirty="0">
                    <a:latin typeface="+mn-lt"/>
                  </a:rPr>
                  <a:t>of a string </a:t>
                </a:r>
                <a:r>
                  <a:rPr lang="en-IN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</a:rPr>
                  <a:t>x</a:t>
                </a:r>
                <a:r>
                  <a:rPr lang="en-IN" dirty="0">
                    <a:latin typeface="+mn-lt"/>
                  </a:rPr>
                  <a:t> then it is denoted by 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𝝎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⊐</m:t>
                    </m:r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𝒙</m:t>
                    </m:r>
                  </m:oMath>
                </a14:m>
                <a:endParaRPr lang="en-IN" b="1" i="1" dirty="0">
                  <a:solidFill>
                    <a:schemeClr val="tx2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endParaRPr>
              </a:p>
              <a:p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0475737"/>
                  </p:ext>
                </p:extLst>
              </p:nvPr>
            </p:nvGraphicFramePr>
            <p:xfrm>
              <a:off x="1524000" y="1736812"/>
              <a:ext cx="6096000" cy="27614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48000">
                      <a:extLst>
                        <a:ext uri="{9D8B030D-6E8A-4147-A177-3AD203B41FA5}">
                          <a16:colId xmlns="" xmlns:a16="http://schemas.microsoft.com/office/drawing/2014/main" val="3738005212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="" xmlns:a16="http://schemas.microsoft.com/office/drawing/2014/main" val="88814739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US" sz="2400" i="1" dirty="0" err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𝑎𝑏𝑎𝑏𝑎</m:t>
                                </m:r>
                              </m:oMath>
                            </m:oMathPara>
                          </a14:m>
                          <a:endParaRPr lang="en-IN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8975301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⊐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046651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⊐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3949625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⊐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135243666"/>
                      </a:ext>
                    </a:extLst>
                  </a:tr>
                  <a:tr h="47545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𝑏𝑎𝑏𝑎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⊐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478004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𝑎𝑏𝑎𝑏𝑎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⊐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7900035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0475737"/>
                  </p:ext>
                </p:extLst>
              </p:nvPr>
            </p:nvGraphicFramePr>
            <p:xfrm>
              <a:off x="1524000" y="1736812"/>
              <a:ext cx="6096000" cy="27614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3738005212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88814739"/>
                        </a:ext>
                      </a:extLst>
                    </a:gridCol>
                  </a:tblGrid>
                  <a:tr h="4572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" t="-1333" r="-300" b="-509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9753011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0" t="-101333" r="-100600" b="-4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400" t="-101333" r="-600" b="-40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66516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0" t="-201333" r="-100600" b="-3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400" t="-201333" r="-600" b="-30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496256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0" t="-297368" r="-100600" b="-2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400" t="-297368" r="-600" b="-20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243666"/>
                      </a:ext>
                    </a:extLst>
                  </a:tr>
                  <a:tr h="4754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0" t="-387179" r="-1006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400" t="-387179" r="-600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800403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0" t="-506667" r="-100600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400" t="-506667" r="-600" b="-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000356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/>
          <p:cNvSpPr/>
          <p:nvPr/>
        </p:nvSpPr>
        <p:spPr>
          <a:xfrm>
            <a:off x="2172128" y="2255616"/>
            <a:ext cx="1931820" cy="32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112060" y="2255616"/>
            <a:ext cx="1931820" cy="32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191796" y="2719424"/>
            <a:ext cx="1931820" cy="32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131728" y="2719424"/>
            <a:ext cx="1931820" cy="32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087724" y="3180968"/>
            <a:ext cx="1931820" cy="32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027656" y="3180968"/>
            <a:ext cx="1931820" cy="32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159732" y="3649020"/>
            <a:ext cx="1931820" cy="32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099664" y="3649020"/>
            <a:ext cx="1931820" cy="32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943708" y="4102324"/>
            <a:ext cx="2286000" cy="32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135668" y="4102324"/>
            <a:ext cx="1931820" cy="32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35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Compute Transition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3688" y="1916832"/>
            <a:ext cx="5616624" cy="452663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COMPUTE-TRANSITION-FUNCTION(P,  Σ )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  <a:cs typeface="Microsoft Sans Serif" panose="020B0604020202020204" pitchFamily="34" charset="0"/>
            </a:endParaRPr>
          </a:p>
          <a:p>
            <a:pPr marL="0" lv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m ← length[P]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  <a:cs typeface="Microsoft Sans Serif" panose="020B0604020202020204" pitchFamily="34" charset="0"/>
            </a:endParaRPr>
          </a:p>
          <a:p>
            <a:pPr marL="0" lvl="0" indent="0">
              <a:buNone/>
            </a:pP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for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 q ← 0 to m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do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  <a:cs typeface="Microsoft Sans Serif" panose="020B0604020202020204" pitchFamily="34" charset="0"/>
            </a:endParaRPr>
          </a:p>
          <a:p>
            <a:pPr marL="0" lv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  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for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 each character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α</a:t>
            </a:r>
            <a:r>
              <a:rPr lang="en-US" i="1" dirty="0"/>
              <a:t>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Є Σ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do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  <a:cs typeface="Microsoft Sans Serif" panose="020B0604020202020204" pitchFamily="34" charset="0"/>
            </a:endParaRPr>
          </a:p>
          <a:p>
            <a:pPr marL="0" lv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          k ← min(m + 1, q + 2)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  <a:cs typeface="Microsoft Sans Serif" panose="020B0604020202020204" pitchFamily="34" charset="0"/>
            </a:endParaRPr>
          </a:p>
          <a:p>
            <a:pPr marL="0" lv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         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repeat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 k ← k - 1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  <a:cs typeface="Microsoft Sans Serif" panose="020B0604020202020204" pitchFamily="34" charset="0"/>
            </a:endParaRPr>
          </a:p>
          <a:p>
            <a:pPr marL="0" lvl="0" indent="0">
              <a:buNone/>
            </a:pP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          until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P</a:t>
            </a:r>
            <a:r>
              <a:rPr lang="en-US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k</a:t>
            </a:r>
            <a:r>
              <a:rPr 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⊐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P</a:t>
            </a:r>
            <a:r>
              <a:rPr lang="en-US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q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α</a:t>
            </a:r>
            <a:endParaRPr lang="en-IN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lv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          δ(q,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α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) ← k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  <a:cs typeface="Microsoft Sans Serif" panose="020B06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return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 δ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579096"/>
              </p:ext>
            </p:extLst>
          </p:nvPr>
        </p:nvGraphicFramePr>
        <p:xfrm>
          <a:off x="0" y="898260"/>
          <a:ext cx="504004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0995">
                  <a:extLst>
                    <a:ext uri="{9D8B030D-6E8A-4147-A177-3AD203B41FA5}">
                      <a16:colId xmlns="" xmlns:a16="http://schemas.microsoft.com/office/drawing/2014/main" val="2544549060"/>
                    </a:ext>
                  </a:extLst>
                </a:gridCol>
                <a:gridCol w="542722">
                  <a:extLst>
                    <a:ext uri="{9D8B030D-6E8A-4147-A177-3AD203B41FA5}">
                      <a16:colId xmlns="" xmlns:a16="http://schemas.microsoft.com/office/drawing/2014/main" val="4208223411"/>
                    </a:ext>
                  </a:extLst>
                </a:gridCol>
                <a:gridCol w="542722">
                  <a:extLst>
                    <a:ext uri="{9D8B030D-6E8A-4147-A177-3AD203B41FA5}">
                      <a16:colId xmlns="" xmlns:a16="http://schemas.microsoft.com/office/drawing/2014/main" val="57169838"/>
                    </a:ext>
                  </a:extLst>
                </a:gridCol>
                <a:gridCol w="542722">
                  <a:extLst>
                    <a:ext uri="{9D8B030D-6E8A-4147-A177-3AD203B41FA5}">
                      <a16:colId xmlns="" xmlns:a16="http://schemas.microsoft.com/office/drawing/2014/main" val="101212751"/>
                    </a:ext>
                  </a:extLst>
                </a:gridCol>
                <a:gridCol w="542722">
                  <a:extLst>
                    <a:ext uri="{9D8B030D-6E8A-4147-A177-3AD203B41FA5}">
                      <a16:colId xmlns="" xmlns:a16="http://schemas.microsoft.com/office/drawing/2014/main" val="2299447371"/>
                    </a:ext>
                  </a:extLst>
                </a:gridCol>
                <a:gridCol w="542722">
                  <a:extLst>
                    <a:ext uri="{9D8B030D-6E8A-4147-A177-3AD203B41FA5}">
                      <a16:colId xmlns="" xmlns:a16="http://schemas.microsoft.com/office/drawing/2014/main" val="2901701410"/>
                    </a:ext>
                  </a:extLst>
                </a:gridCol>
                <a:gridCol w="542722">
                  <a:extLst>
                    <a:ext uri="{9D8B030D-6E8A-4147-A177-3AD203B41FA5}">
                      <a16:colId xmlns="" xmlns:a16="http://schemas.microsoft.com/office/drawing/2014/main" val="2175626083"/>
                    </a:ext>
                  </a:extLst>
                </a:gridCol>
                <a:gridCol w="542722">
                  <a:extLst>
                    <a:ext uri="{9D8B030D-6E8A-4147-A177-3AD203B41FA5}">
                      <a16:colId xmlns="" xmlns:a16="http://schemas.microsoft.com/office/drawing/2014/main" val="438334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868821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Pattern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72000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0683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5746988" y="4276877"/>
                <a:ext cx="3348372" cy="2555931"/>
              </a:xfr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for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q ← 0 to m </a:t>
                </a: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do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Microsoft Sans Serif" panose="020B0604020202020204" pitchFamily="34" charset="0"/>
                </a:endParaRPr>
              </a:p>
              <a:p>
                <a:pPr marL="0" lv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  </a:t>
                </a: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for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each character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Є Σ </a:t>
                </a: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do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Microsoft Sans Serif" panose="020B0604020202020204" pitchFamily="34" charset="0"/>
                </a:endParaRPr>
              </a:p>
              <a:p>
                <a:pPr marL="0" lv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         k ← min(m + 1, q + 2)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Microsoft Sans Serif" panose="020B0604020202020204" pitchFamily="34" charset="0"/>
                </a:endParaRPr>
              </a:p>
              <a:p>
                <a:pPr marL="0" lv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         </a:t>
                </a: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repeat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k ← k - 1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Microsoft Sans Serif" panose="020B0604020202020204" pitchFamily="34" charset="0"/>
                </a:endParaRPr>
              </a:p>
              <a:p>
                <a:pPr marL="0" lvl="0" indent="0">
                  <a:buNone/>
                </a:pP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         until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</a:t>
                </a:r>
                <a:r>
                  <a:rPr lang="en-US" sz="2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P</a:t>
                </a:r>
                <a:r>
                  <a:rPr lang="en-US" sz="2000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k</a:t>
                </a:r>
                <a:r>
                  <a:rPr 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⊐ </a:t>
                </a:r>
                <a:r>
                  <a:rPr lang="en-US" sz="2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P</a:t>
                </a:r>
                <a:r>
                  <a:rPr lang="en-US" sz="2000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q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endParaRPr lang="en-IN" sz="2000" i="1" dirty="0">
                  <a:latin typeface="Cambria Math" panose="02040503050406030204" pitchFamily="18" charset="0"/>
                  <a:ea typeface="Cambria Math" panose="02040503050406030204" pitchFamily="18" charset="0"/>
                  <a:cs typeface="Microsoft Sans Serif" panose="020B0604020202020204" pitchFamily="34" charset="0"/>
                </a:endParaRPr>
              </a:p>
              <a:p>
                <a:pPr marL="0" lv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         δ(q,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) ← k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Microsoft Sans Serif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return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δ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Microsoft Sans Serif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5746988" y="4276877"/>
                <a:ext cx="3348372" cy="2555931"/>
              </a:xfrm>
              <a:blipFill>
                <a:blip r:embed="rId3"/>
                <a:stretch>
                  <a:fillRect l="-2004" t="-1432" b="-57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838760"/>
              </p:ext>
            </p:extLst>
          </p:nvPr>
        </p:nvGraphicFramePr>
        <p:xfrm>
          <a:off x="-72516" y="-12258"/>
          <a:ext cx="4464495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9280">
                  <a:extLst>
                    <a:ext uri="{9D8B030D-6E8A-4147-A177-3AD203B41FA5}">
                      <a16:colId xmlns="" xmlns:a16="http://schemas.microsoft.com/office/drawing/2014/main" val="2544549060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4208223411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57169838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101212751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2299447371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2901701410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2175626083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438334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868821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Pattern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7200078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742740"/>
              </p:ext>
            </p:extLst>
          </p:nvPr>
        </p:nvGraphicFramePr>
        <p:xfrm>
          <a:off x="6503756" y="-29911"/>
          <a:ext cx="2563356" cy="420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5893">
                  <a:extLst>
                    <a:ext uri="{9D8B030D-6E8A-4147-A177-3AD203B41FA5}">
                      <a16:colId xmlns="" xmlns:a16="http://schemas.microsoft.com/office/drawing/2014/main" val="14892859"/>
                    </a:ext>
                  </a:extLst>
                </a:gridCol>
                <a:gridCol w="575463">
                  <a:extLst>
                    <a:ext uri="{9D8B030D-6E8A-4147-A177-3AD203B41FA5}">
                      <a16:colId xmlns="" xmlns:a16="http://schemas.microsoft.com/office/drawing/2014/main" val="2768018132"/>
                    </a:ext>
                  </a:extLst>
                </a:gridCol>
                <a:gridCol w="576000">
                  <a:extLst>
                    <a:ext uri="{9D8B030D-6E8A-4147-A177-3AD203B41FA5}">
                      <a16:colId xmlns="" xmlns:a16="http://schemas.microsoft.com/office/drawing/2014/main" val="1748220190"/>
                    </a:ext>
                  </a:extLst>
                </a:gridCol>
                <a:gridCol w="576000">
                  <a:extLst>
                    <a:ext uri="{9D8B030D-6E8A-4147-A177-3AD203B41FA5}">
                      <a16:colId xmlns="" xmlns:a16="http://schemas.microsoft.com/office/drawing/2014/main" val="149765579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en-IN" sz="1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input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699019812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State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36735453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84391201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65998015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615382278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073876971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14943085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73693988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268540029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78877866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962781"/>
              </p:ext>
            </p:extLst>
          </p:nvPr>
        </p:nvGraphicFramePr>
        <p:xfrm>
          <a:off x="1971366" y="4368446"/>
          <a:ext cx="3672408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00100">
                  <a:extLst>
                    <a:ext uri="{9D8B030D-6E8A-4147-A177-3AD203B41FA5}">
                      <a16:colId xmlns="" xmlns:a16="http://schemas.microsoft.com/office/drawing/2014/main" val="1112720180"/>
                    </a:ext>
                  </a:extLst>
                </a:gridCol>
                <a:gridCol w="1620180">
                  <a:extLst>
                    <a:ext uri="{9D8B030D-6E8A-4147-A177-3AD203B41FA5}">
                      <a16:colId xmlns="" xmlns:a16="http://schemas.microsoft.com/office/drawing/2014/main" val="4056709790"/>
                    </a:ext>
                  </a:extLst>
                </a:gridCol>
                <a:gridCol w="1152128">
                  <a:extLst>
                    <a:ext uri="{9D8B030D-6E8A-4147-A177-3AD203B41FA5}">
                      <a16:colId xmlns="" xmlns:a16="http://schemas.microsoft.com/office/drawing/2014/main" val="42008041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  <a:cs typeface="+mn-cs"/>
                        </a:rPr>
                        <a:t>k=0</a:t>
                      </a:r>
                      <a:endParaRPr lang="en-IN" sz="24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0</a:t>
                      </a:r>
                      <a:r>
                        <a:rPr lang="en-US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0</a:t>
                      </a:r>
                      <a:r>
                        <a:rPr lang="el-GR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ϵ⊐ϵc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80093658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263611"/>
              </p:ext>
            </p:extLst>
          </p:nvPr>
        </p:nvGraphicFramePr>
        <p:xfrm>
          <a:off x="107504" y="1268760"/>
          <a:ext cx="5544616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82007">
                  <a:extLst>
                    <a:ext uri="{9D8B030D-6E8A-4147-A177-3AD203B41FA5}">
                      <a16:colId xmlns="" xmlns:a16="http://schemas.microsoft.com/office/drawing/2014/main" val="3015274529"/>
                    </a:ext>
                  </a:extLst>
                </a:gridCol>
                <a:gridCol w="1090201">
                  <a:extLst>
                    <a:ext uri="{9D8B030D-6E8A-4147-A177-3AD203B41FA5}">
                      <a16:colId xmlns="" xmlns:a16="http://schemas.microsoft.com/office/drawing/2014/main" val="3223696195"/>
                    </a:ext>
                  </a:extLst>
                </a:gridCol>
                <a:gridCol w="900100">
                  <a:extLst>
                    <a:ext uri="{9D8B030D-6E8A-4147-A177-3AD203B41FA5}">
                      <a16:colId xmlns="" xmlns:a16="http://schemas.microsoft.com/office/drawing/2014/main" val="3992919855"/>
                    </a:ext>
                  </a:extLst>
                </a:gridCol>
                <a:gridCol w="1620180">
                  <a:extLst>
                    <a:ext uri="{9D8B030D-6E8A-4147-A177-3AD203B41FA5}">
                      <a16:colId xmlns="" xmlns:a16="http://schemas.microsoft.com/office/drawing/2014/main" val="4256814182"/>
                    </a:ext>
                  </a:extLst>
                </a:gridCol>
                <a:gridCol w="1152128">
                  <a:extLst>
                    <a:ext uri="{9D8B030D-6E8A-4147-A177-3AD203B41FA5}">
                      <a16:colId xmlns="" xmlns:a16="http://schemas.microsoft.com/office/drawing/2014/main" val="21969070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q=0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=a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k=2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2</a:t>
                      </a:r>
                      <a:r>
                        <a:rPr lang="en-US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0</a:t>
                      </a:r>
                      <a:r>
                        <a:rPr lang="el-GR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r>
                        <a:rPr lang="en-IN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ab⊐ϵa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28948855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028296"/>
              </p:ext>
            </p:extLst>
          </p:nvPr>
        </p:nvGraphicFramePr>
        <p:xfrm>
          <a:off x="1978986" y="1689384"/>
          <a:ext cx="3672408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00100">
                  <a:extLst>
                    <a:ext uri="{9D8B030D-6E8A-4147-A177-3AD203B41FA5}">
                      <a16:colId xmlns="" xmlns:a16="http://schemas.microsoft.com/office/drawing/2014/main" val="2426618447"/>
                    </a:ext>
                  </a:extLst>
                </a:gridCol>
                <a:gridCol w="1620180">
                  <a:extLst>
                    <a:ext uri="{9D8B030D-6E8A-4147-A177-3AD203B41FA5}">
                      <a16:colId xmlns="" xmlns:a16="http://schemas.microsoft.com/office/drawing/2014/main" val="3965953603"/>
                    </a:ext>
                  </a:extLst>
                </a:gridCol>
                <a:gridCol w="1152128">
                  <a:extLst>
                    <a:ext uri="{9D8B030D-6E8A-4147-A177-3AD203B41FA5}">
                      <a16:colId xmlns="" xmlns:a16="http://schemas.microsoft.com/office/drawing/2014/main" val="32969325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  <a:cs typeface="+mn-cs"/>
                        </a:rPr>
                        <a:t>k=1</a:t>
                      </a:r>
                      <a:endParaRPr lang="en-IN" sz="24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</a:t>
                      </a:r>
                      <a:r>
                        <a:rPr lang="en-US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0</a:t>
                      </a:r>
                      <a:r>
                        <a:rPr lang="el-GR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a⊐ϵa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407117238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989730"/>
              </p:ext>
            </p:extLst>
          </p:nvPr>
        </p:nvGraphicFramePr>
        <p:xfrm>
          <a:off x="883002" y="2110008"/>
          <a:ext cx="4762609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90201">
                  <a:extLst>
                    <a:ext uri="{9D8B030D-6E8A-4147-A177-3AD203B41FA5}">
                      <a16:colId xmlns="" xmlns:a16="http://schemas.microsoft.com/office/drawing/2014/main" val="3727308851"/>
                    </a:ext>
                  </a:extLst>
                </a:gridCol>
                <a:gridCol w="900100">
                  <a:extLst>
                    <a:ext uri="{9D8B030D-6E8A-4147-A177-3AD203B41FA5}">
                      <a16:colId xmlns="" xmlns:a16="http://schemas.microsoft.com/office/drawing/2014/main" val="2134813177"/>
                    </a:ext>
                  </a:extLst>
                </a:gridCol>
                <a:gridCol w="1620180">
                  <a:extLst>
                    <a:ext uri="{9D8B030D-6E8A-4147-A177-3AD203B41FA5}">
                      <a16:colId xmlns="" xmlns:a16="http://schemas.microsoft.com/office/drawing/2014/main" val="3046434303"/>
                    </a:ext>
                  </a:extLst>
                </a:gridCol>
                <a:gridCol w="1152128">
                  <a:extLst>
                    <a:ext uri="{9D8B030D-6E8A-4147-A177-3AD203B41FA5}">
                      <a16:colId xmlns="" xmlns:a16="http://schemas.microsoft.com/office/drawing/2014/main" val="3592588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=b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k=2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2</a:t>
                      </a:r>
                      <a:r>
                        <a:rPr lang="en-US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0</a:t>
                      </a:r>
                      <a:r>
                        <a:rPr lang="el-GR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ab⊐ϵb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700782149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403703"/>
              </p:ext>
            </p:extLst>
          </p:nvPr>
        </p:nvGraphicFramePr>
        <p:xfrm>
          <a:off x="1971366" y="2563461"/>
          <a:ext cx="3672408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00100">
                  <a:extLst>
                    <a:ext uri="{9D8B030D-6E8A-4147-A177-3AD203B41FA5}">
                      <a16:colId xmlns="" xmlns:a16="http://schemas.microsoft.com/office/drawing/2014/main" val="942508629"/>
                    </a:ext>
                  </a:extLst>
                </a:gridCol>
                <a:gridCol w="1620180">
                  <a:extLst>
                    <a:ext uri="{9D8B030D-6E8A-4147-A177-3AD203B41FA5}">
                      <a16:colId xmlns="" xmlns:a16="http://schemas.microsoft.com/office/drawing/2014/main" val="978063131"/>
                    </a:ext>
                  </a:extLst>
                </a:gridCol>
                <a:gridCol w="1152128">
                  <a:extLst>
                    <a:ext uri="{9D8B030D-6E8A-4147-A177-3AD203B41FA5}">
                      <a16:colId xmlns="" xmlns:a16="http://schemas.microsoft.com/office/drawing/2014/main" val="26096988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k=1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</a:t>
                      </a:r>
                      <a:r>
                        <a:rPr lang="en-US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0</a:t>
                      </a:r>
                      <a:r>
                        <a:rPr lang="el-GR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a⊐ϵb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4241857417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824495"/>
              </p:ext>
            </p:extLst>
          </p:nvPr>
        </p:nvGraphicFramePr>
        <p:xfrm>
          <a:off x="1971366" y="3016914"/>
          <a:ext cx="3672408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00100">
                  <a:extLst>
                    <a:ext uri="{9D8B030D-6E8A-4147-A177-3AD203B41FA5}">
                      <a16:colId xmlns="" xmlns:a16="http://schemas.microsoft.com/office/drawing/2014/main" val="1982893943"/>
                    </a:ext>
                  </a:extLst>
                </a:gridCol>
                <a:gridCol w="1620180">
                  <a:extLst>
                    <a:ext uri="{9D8B030D-6E8A-4147-A177-3AD203B41FA5}">
                      <a16:colId xmlns="" xmlns:a16="http://schemas.microsoft.com/office/drawing/2014/main" val="2879827618"/>
                    </a:ext>
                  </a:extLst>
                </a:gridCol>
                <a:gridCol w="1152128">
                  <a:extLst>
                    <a:ext uri="{9D8B030D-6E8A-4147-A177-3AD203B41FA5}">
                      <a16:colId xmlns="" xmlns:a16="http://schemas.microsoft.com/office/drawing/2014/main" val="7332007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  <a:cs typeface="+mn-cs"/>
                        </a:rPr>
                        <a:t>k=0</a:t>
                      </a:r>
                      <a:endParaRPr lang="en-IN" sz="24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0</a:t>
                      </a:r>
                      <a:r>
                        <a:rPr lang="en-US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0</a:t>
                      </a:r>
                      <a:r>
                        <a:rPr lang="el-GR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ϵ⊐ϵb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495223027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36151"/>
              </p:ext>
            </p:extLst>
          </p:nvPr>
        </p:nvGraphicFramePr>
        <p:xfrm>
          <a:off x="877910" y="3467636"/>
          <a:ext cx="4762609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90201">
                  <a:extLst>
                    <a:ext uri="{9D8B030D-6E8A-4147-A177-3AD203B41FA5}">
                      <a16:colId xmlns="" xmlns:a16="http://schemas.microsoft.com/office/drawing/2014/main" val="2064533246"/>
                    </a:ext>
                  </a:extLst>
                </a:gridCol>
                <a:gridCol w="900100">
                  <a:extLst>
                    <a:ext uri="{9D8B030D-6E8A-4147-A177-3AD203B41FA5}">
                      <a16:colId xmlns="" xmlns:a16="http://schemas.microsoft.com/office/drawing/2014/main" val="1559044680"/>
                    </a:ext>
                  </a:extLst>
                </a:gridCol>
                <a:gridCol w="1620180">
                  <a:extLst>
                    <a:ext uri="{9D8B030D-6E8A-4147-A177-3AD203B41FA5}">
                      <a16:colId xmlns="" xmlns:a16="http://schemas.microsoft.com/office/drawing/2014/main" val="1611379938"/>
                    </a:ext>
                  </a:extLst>
                </a:gridCol>
                <a:gridCol w="1152128">
                  <a:extLst>
                    <a:ext uri="{9D8B030D-6E8A-4147-A177-3AD203B41FA5}">
                      <a16:colId xmlns="" xmlns:a16="http://schemas.microsoft.com/office/drawing/2014/main" val="12256819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=c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k=2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2</a:t>
                      </a:r>
                      <a:r>
                        <a:rPr lang="en-US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0</a:t>
                      </a:r>
                      <a:r>
                        <a:rPr lang="el-GR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ab⊐ϵc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28647907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848764"/>
              </p:ext>
            </p:extLst>
          </p:nvPr>
        </p:nvGraphicFramePr>
        <p:xfrm>
          <a:off x="1971366" y="3914993"/>
          <a:ext cx="3672408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00100">
                  <a:extLst>
                    <a:ext uri="{9D8B030D-6E8A-4147-A177-3AD203B41FA5}">
                      <a16:colId xmlns="" xmlns:a16="http://schemas.microsoft.com/office/drawing/2014/main" val="1442122683"/>
                    </a:ext>
                  </a:extLst>
                </a:gridCol>
                <a:gridCol w="1620180">
                  <a:extLst>
                    <a:ext uri="{9D8B030D-6E8A-4147-A177-3AD203B41FA5}">
                      <a16:colId xmlns="" xmlns:a16="http://schemas.microsoft.com/office/drawing/2014/main" val="2045746811"/>
                    </a:ext>
                  </a:extLst>
                </a:gridCol>
                <a:gridCol w="1152128">
                  <a:extLst>
                    <a:ext uri="{9D8B030D-6E8A-4147-A177-3AD203B41FA5}">
                      <a16:colId xmlns="" xmlns:a16="http://schemas.microsoft.com/office/drawing/2014/main" val="2865644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k=1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</a:t>
                      </a:r>
                      <a:r>
                        <a:rPr lang="en-US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0</a:t>
                      </a:r>
                      <a:r>
                        <a:rPr lang="el-GR" sz="240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a⊐ϵc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150934413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380312" y="800708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956376" y="790264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8526984" y="791284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1971366" y="1689384"/>
            <a:ext cx="908446" cy="420624"/>
          </a:xfrm>
          <a:prstGeom prst="rect">
            <a:avLst/>
          </a:prstGeom>
          <a:solidFill>
            <a:srgbClr val="C00000">
              <a:alpha val="30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960923" y="3020247"/>
            <a:ext cx="908446" cy="420624"/>
          </a:xfrm>
          <a:prstGeom prst="rect">
            <a:avLst/>
          </a:prstGeom>
          <a:solidFill>
            <a:srgbClr val="C00000">
              <a:alpha val="30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960923" y="4365113"/>
            <a:ext cx="908446" cy="420624"/>
          </a:xfrm>
          <a:prstGeom prst="rect">
            <a:avLst/>
          </a:prstGeom>
          <a:solidFill>
            <a:srgbClr val="C00000">
              <a:alpha val="30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892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15" grpId="0" animBg="1"/>
      <p:bldP spid="16" grpId="0" animBg="1"/>
      <p:bldP spid="17" grpId="0" animBg="1"/>
      <p:bldP spid="5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5746988" y="4276877"/>
                <a:ext cx="3348372" cy="2555931"/>
              </a:xfr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for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q ← 0 to m </a:t>
                </a: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do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Microsoft Sans Serif" panose="020B0604020202020204" pitchFamily="34" charset="0"/>
                </a:endParaRPr>
              </a:p>
              <a:p>
                <a:pPr marL="0" lv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  </a:t>
                </a: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for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each character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Є Σ </a:t>
                </a: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do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Microsoft Sans Serif" panose="020B0604020202020204" pitchFamily="34" charset="0"/>
                </a:endParaRPr>
              </a:p>
              <a:p>
                <a:pPr marL="0" lv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         k ← min(m + 1, q + 2)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Microsoft Sans Serif" panose="020B0604020202020204" pitchFamily="34" charset="0"/>
                </a:endParaRPr>
              </a:p>
              <a:p>
                <a:pPr marL="0" lv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         </a:t>
                </a: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repeat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k ← k - 1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Microsoft Sans Serif" panose="020B0604020202020204" pitchFamily="34" charset="0"/>
                </a:endParaRPr>
              </a:p>
              <a:p>
                <a:pPr marL="0" lvl="0" indent="0">
                  <a:buNone/>
                </a:pP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         until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</a:t>
                </a:r>
                <a:r>
                  <a:rPr lang="en-US" sz="2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P</a:t>
                </a:r>
                <a:r>
                  <a:rPr lang="en-US" sz="2000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k</a:t>
                </a:r>
                <a:r>
                  <a:rPr 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⊐ </a:t>
                </a:r>
                <a:r>
                  <a:rPr lang="en-US" sz="2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P</a:t>
                </a:r>
                <a:r>
                  <a:rPr lang="en-US" sz="2000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q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endParaRPr lang="en-IN" sz="2000" i="1" dirty="0">
                  <a:latin typeface="Cambria Math" panose="02040503050406030204" pitchFamily="18" charset="0"/>
                  <a:ea typeface="Cambria Math" panose="02040503050406030204" pitchFamily="18" charset="0"/>
                  <a:cs typeface="Microsoft Sans Serif" panose="020B0604020202020204" pitchFamily="34" charset="0"/>
                </a:endParaRPr>
              </a:p>
              <a:p>
                <a:pPr marL="0" lv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         δ(q,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) ← k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Microsoft Sans Serif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return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δ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Microsoft Sans Serif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5746988" y="4276877"/>
                <a:ext cx="3348372" cy="2555931"/>
              </a:xfrm>
              <a:blipFill>
                <a:blip r:embed="rId3"/>
                <a:stretch>
                  <a:fillRect l="-2004" t="-1432" b="-57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838760"/>
              </p:ext>
            </p:extLst>
          </p:nvPr>
        </p:nvGraphicFramePr>
        <p:xfrm>
          <a:off x="-72516" y="-12258"/>
          <a:ext cx="4464495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9280">
                  <a:extLst>
                    <a:ext uri="{9D8B030D-6E8A-4147-A177-3AD203B41FA5}">
                      <a16:colId xmlns="" xmlns:a16="http://schemas.microsoft.com/office/drawing/2014/main" val="2544549060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4208223411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57169838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101212751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2299447371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2901701410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2175626083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438334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868821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Pattern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7200078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548418"/>
              </p:ext>
            </p:extLst>
          </p:nvPr>
        </p:nvGraphicFramePr>
        <p:xfrm>
          <a:off x="6503756" y="-29911"/>
          <a:ext cx="2563356" cy="420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5893">
                  <a:extLst>
                    <a:ext uri="{9D8B030D-6E8A-4147-A177-3AD203B41FA5}">
                      <a16:colId xmlns="" xmlns:a16="http://schemas.microsoft.com/office/drawing/2014/main" val="14892859"/>
                    </a:ext>
                  </a:extLst>
                </a:gridCol>
                <a:gridCol w="575463">
                  <a:extLst>
                    <a:ext uri="{9D8B030D-6E8A-4147-A177-3AD203B41FA5}">
                      <a16:colId xmlns="" xmlns:a16="http://schemas.microsoft.com/office/drawing/2014/main" val="2768018132"/>
                    </a:ext>
                  </a:extLst>
                </a:gridCol>
                <a:gridCol w="576000">
                  <a:extLst>
                    <a:ext uri="{9D8B030D-6E8A-4147-A177-3AD203B41FA5}">
                      <a16:colId xmlns="" xmlns:a16="http://schemas.microsoft.com/office/drawing/2014/main" val="1748220190"/>
                    </a:ext>
                  </a:extLst>
                </a:gridCol>
                <a:gridCol w="576000">
                  <a:extLst>
                    <a:ext uri="{9D8B030D-6E8A-4147-A177-3AD203B41FA5}">
                      <a16:colId xmlns="" xmlns:a16="http://schemas.microsoft.com/office/drawing/2014/main" val="149765579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en-IN" sz="1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input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699019812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State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36735453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84391201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65998015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615382278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073876971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14943085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73693988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268540029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78877866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371565"/>
              </p:ext>
            </p:extLst>
          </p:nvPr>
        </p:nvGraphicFramePr>
        <p:xfrm>
          <a:off x="1971366" y="4439566"/>
          <a:ext cx="3672408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00100">
                  <a:extLst>
                    <a:ext uri="{9D8B030D-6E8A-4147-A177-3AD203B41FA5}">
                      <a16:colId xmlns="" xmlns:a16="http://schemas.microsoft.com/office/drawing/2014/main" val="1112720180"/>
                    </a:ext>
                  </a:extLst>
                </a:gridCol>
                <a:gridCol w="1304490">
                  <a:extLst>
                    <a:ext uri="{9D8B030D-6E8A-4147-A177-3AD203B41FA5}">
                      <a16:colId xmlns="" xmlns:a16="http://schemas.microsoft.com/office/drawing/2014/main" val="4056709790"/>
                    </a:ext>
                  </a:extLst>
                </a:gridCol>
                <a:gridCol w="1467818">
                  <a:extLst>
                    <a:ext uri="{9D8B030D-6E8A-4147-A177-3AD203B41FA5}">
                      <a16:colId xmlns="" xmlns:a16="http://schemas.microsoft.com/office/drawing/2014/main" val="42008041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  <a:cs typeface="+mn-cs"/>
                        </a:rPr>
                        <a:t>k=1</a:t>
                      </a:r>
                      <a:endParaRPr lang="en-IN" sz="24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</a:t>
                      </a: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a⊐ac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80093658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523114"/>
              </p:ext>
            </p:extLst>
          </p:nvPr>
        </p:nvGraphicFramePr>
        <p:xfrm>
          <a:off x="107504" y="1268760"/>
          <a:ext cx="5544616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82007">
                  <a:extLst>
                    <a:ext uri="{9D8B030D-6E8A-4147-A177-3AD203B41FA5}">
                      <a16:colId xmlns="" xmlns:a16="http://schemas.microsoft.com/office/drawing/2014/main" val="3015274529"/>
                    </a:ext>
                  </a:extLst>
                </a:gridCol>
                <a:gridCol w="1090201">
                  <a:extLst>
                    <a:ext uri="{9D8B030D-6E8A-4147-A177-3AD203B41FA5}">
                      <a16:colId xmlns="" xmlns:a16="http://schemas.microsoft.com/office/drawing/2014/main" val="3223696195"/>
                    </a:ext>
                  </a:extLst>
                </a:gridCol>
                <a:gridCol w="900100">
                  <a:extLst>
                    <a:ext uri="{9D8B030D-6E8A-4147-A177-3AD203B41FA5}">
                      <a16:colId xmlns="" xmlns:a16="http://schemas.microsoft.com/office/drawing/2014/main" val="3992919855"/>
                    </a:ext>
                  </a:extLst>
                </a:gridCol>
                <a:gridCol w="1296144">
                  <a:extLst>
                    <a:ext uri="{9D8B030D-6E8A-4147-A177-3AD203B41FA5}">
                      <a16:colId xmlns="" xmlns:a16="http://schemas.microsoft.com/office/drawing/2014/main" val="4256814182"/>
                    </a:ext>
                  </a:extLst>
                </a:gridCol>
                <a:gridCol w="1476164">
                  <a:extLst>
                    <a:ext uri="{9D8B030D-6E8A-4147-A177-3AD203B41FA5}">
                      <a16:colId xmlns="" xmlns:a16="http://schemas.microsoft.com/office/drawing/2014/main" val="21969070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q=1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=a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k=3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3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</a:t>
                      </a: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r>
                        <a:rPr lang="en-IN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aba⊐aa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28948855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045384"/>
              </p:ext>
            </p:extLst>
          </p:nvPr>
        </p:nvGraphicFramePr>
        <p:xfrm>
          <a:off x="1978986" y="1719864"/>
          <a:ext cx="3672408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00100">
                  <a:extLst>
                    <a:ext uri="{9D8B030D-6E8A-4147-A177-3AD203B41FA5}">
                      <a16:colId xmlns="" xmlns:a16="http://schemas.microsoft.com/office/drawing/2014/main" val="2426618447"/>
                    </a:ext>
                  </a:extLst>
                </a:gridCol>
                <a:gridCol w="1296870">
                  <a:extLst>
                    <a:ext uri="{9D8B030D-6E8A-4147-A177-3AD203B41FA5}">
                      <a16:colId xmlns="" xmlns:a16="http://schemas.microsoft.com/office/drawing/2014/main" val="3965953603"/>
                    </a:ext>
                  </a:extLst>
                </a:gridCol>
                <a:gridCol w="1475438">
                  <a:extLst>
                    <a:ext uri="{9D8B030D-6E8A-4147-A177-3AD203B41FA5}">
                      <a16:colId xmlns="" xmlns:a16="http://schemas.microsoft.com/office/drawing/2014/main" val="32969325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  <a:cs typeface="+mn-cs"/>
                        </a:rPr>
                        <a:t>k=2</a:t>
                      </a:r>
                      <a:endParaRPr lang="en-IN" sz="24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2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</a:t>
                      </a: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ab⊐aa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407117238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499660"/>
              </p:ext>
            </p:extLst>
          </p:nvPr>
        </p:nvGraphicFramePr>
        <p:xfrm>
          <a:off x="883002" y="2633248"/>
          <a:ext cx="4762609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90201">
                  <a:extLst>
                    <a:ext uri="{9D8B030D-6E8A-4147-A177-3AD203B41FA5}">
                      <a16:colId xmlns="" xmlns:a16="http://schemas.microsoft.com/office/drawing/2014/main" val="3727308851"/>
                    </a:ext>
                  </a:extLst>
                </a:gridCol>
                <a:gridCol w="900100">
                  <a:extLst>
                    <a:ext uri="{9D8B030D-6E8A-4147-A177-3AD203B41FA5}">
                      <a16:colId xmlns="" xmlns:a16="http://schemas.microsoft.com/office/drawing/2014/main" val="2134813177"/>
                    </a:ext>
                  </a:extLst>
                </a:gridCol>
                <a:gridCol w="1302653">
                  <a:extLst>
                    <a:ext uri="{9D8B030D-6E8A-4147-A177-3AD203B41FA5}">
                      <a16:colId xmlns="" xmlns:a16="http://schemas.microsoft.com/office/drawing/2014/main" val="3046434303"/>
                    </a:ext>
                  </a:extLst>
                </a:gridCol>
                <a:gridCol w="1469655">
                  <a:extLst>
                    <a:ext uri="{9D8B030D-6E8A-4147-A177-3AD203B41FA5}">
                      <a16:colId xmlns="" xmlns:a16="http://schemas.microsoft.com/office/drawing/2014/main" val="3592588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=b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k=3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3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</a:t>
                      </a: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aba⊐ab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700782149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856456"/>
              </p:ext>
            </p:extLst>
          </p:nvPr>
        </p:nvGraphicFramePr>
        <p:xfrm>
          <a:off x="1971366" y="3086701"/>
          <a:ext cx="3672408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00100">
                  <a:extLst>
                    <a:ext uri="{9D8B030D-6E8A-4147-A177-3AD203B41FA5}">
                      <a16:colId xmlns="" xmlns:a16="http://schemas.microsoft.com/office/drawing/2014/main" val="942508629"/>
                    </a:ext>
                  </a:extLst>
                </a:gridCol>
                <a:gridCol w="1304490">
                  <a:extLst>
                    <a:ext uri="{9D8B030D-6E8A-4147-A177-3AD203B41FA5}">
                      <a16:colId xmlns="" xmlns:a16="http://schemas.microsoft.com/office/drawing/2014/main" val="978063131"/>
                    </a:ext>
                  </a:extLst>
                </a:gridCol>
                <a:gridCol w="1467818">
                  <a:extLst>
                    <a:ext uri="{9D8B030D-6E8A-4147-A177-3AD203B41FA5}">
                      <a16:colId xmlns="" xmlns:a16="http://schemas.microsoft.com/office/drawing/2014/main" val="26096988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k=2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2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</a:t>
                      </a: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ab⊐ab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4241857417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29137"/>
              </p:ext>
            </p:extLst>
          </p:nvPr>
        </p:nvGraphicFramePr>
        <p:xfrm>
          <a:off x="1968111" y="4887268"/>
          <a:ext cx="3672408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00100">
                  <a:extLst>
                    <a:ext uri="{9D8B030D-6E8A-4147-A177-3AD203B41FA5}">
                      <a16:colId xmlns="" xmlns:a16="http://schemas.microsoft.com/office/drawing/2014/main" val="1982893943"/>
                    </a:ext>
                  </a:extLst>
                </a:gridCol>
                <a:gridCol w="1304490">
                  <a:extLst>
                    <a:ext uri="{9D8B030D-6E8A-4147-A177-3AD203B41FA5}">
                      <a16:colId xmlns="" xmlns:a16="http://schemas.microsoft.com/office/drawing/2014/main" val="2879827618"/>
                    </a:ext>
                  </a:extLst>
                </a:gridCol>
                <a:gridCol w="1467818">
                  <a:extLst>
                    <a:ext uri="{9D8B030D-6E8A-4147-A177-3AD203B41FA5}">
                      <a16:colId xmlns="" xmlns:a16="http://schemas.microsoft.com/office/drawing/2014/main" val="7332007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  <a:cs typeface="+mn-cs"/>
                        </a:rPr>
                        <a:t>k=0</a:t>
                      </a:r>
                      <a:endParaRPr lang="en-IN" sz="24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0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</a:t>
                      </a: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ϵ⊐ac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495223027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808390"/>
              </p:ext>
            </p:extLst>
          </p:nvPr>
        </p:nvGraphicFramePr>
        <p:xfrm>
          <a:off x="877910" y="3538756"/>
          <a:ext cx="4762609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90201">
                  <a:extLst>
                    <a:ext uri="{9D8B030D-6E8A-4147-A177-3AD203B41FA5}">
                      <a16:colId xmlns="" xmlns:a16="http://schemas.microsoft.com/office/drawing/2014/main" val="2064533246"/>
                    </a:ext>
                  </a:extLst>
                </a:gridCol>
                <a:gridCol w="900100">
                  <a:extLst>
                    <a:ext uri="{9D8B030D-6E8A-4147-A177-3AD203B41FA5}">
                      <a16:colId xmlns="" xmlns:a16="http://schemas.microsoft.com/office/drawing/2014/main" val="1559044680"/>
                    </a:ext>
                  </a:extLst>
                </a:gridCol>
                <a:gridCol w="1307745">
                  <a:extLst>
                    <a:ext uri="{9D8B030D-6E8A-4147-A177-3AD203B41FA5}">
                      <a16:colId xmlns="" xmlns:a16="http://schemas.microsoft.com/office/drawing/2014/main" val="1611379938"/>
                    </a:ext>
                  </a:extLst>
                </a:gridCol>
                <a:gridCol w="1464563">
                  <a:extLst>
                    <a:ext uri="{9D8B030D-6E8A-4147-A177-3AD203B41FA5}">
                      <a16:colId xmlns="" xmlns:a16="http://schemas.microsoft.com/office/drawing/2014/main" val="12256819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=c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k=3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3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</a:t>
                      </a: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aba⊐ac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28647907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69990"/>
              </p:ext>
            </p:extLst>
          </p:nvPr>
        </p:nvGraphicFramePr>
        <p:xfrm>
          <a:off x="1971366" y="3986113"/>
          <a:ext cx="3672408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00100">
                  <a:extLst>
                    <a:ext uri="{9D8B030D-6E8A-4147-A177-3AD203B41FA5}">
                      <a16:colId xmlns="" xmlns:a16="http://schemas.microsoft.com/office/drawing/2014/main" val="1442122683"/>
                    </a:ext>
                  </a:extLst>
                </a:gridCol>
                <a:gridCol w="1304490">
                  <a:extLst>
                    <a:ext uri="{9D8B030D-6E8A-4147-A177-3AD203B41FA5}">
                      <a16:colId xmlns="" xmlns:a16="http://schemas.microsoft.com/office/drawing/2014/main" val="2045746811"/>
                    </a:ext>
                  </a:extLst>
                </a:gridCol>
                <a:gridCol w="1467818">
                  <a:extLst>
                    <a:ext uri="{9D8B030D-6E8A-4147-A177-3AD203B41FA5}">
                      <a16:colId xmlns="" xmlns:a16="http://schemas.microsoft.com/office/drawing/2014/main" val="2865644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k=2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2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</a:t>
                      </a: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ab⊐ac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150934413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72014"/>
              </p:ext>
            </p:extLst>
          </p:nvPr>
        </p:nvGraphicFramePr>
        <p:xfrm>
          <a:off x="1978986" y="2181128"/>
          <a:ext cx="3672408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00100">
                  <a:extLst>
                    <a:ext uri="{9D8B030D-6E8A-4147-A177-3AD203B41FA5}">
                      <a16:colId xmlns="" xmlns:a16="http://schemas.microsoft.com/office/drawing/2014/main" val="2426618447"/>
                    </a:ext>
                  </a:extLst>
                </a:gridCol>
                <a:gridCol w="1296870">
                  <a:extLst>
                    <a:ext uri="{9D8B030D-6E8A-4147-A177-3AD203B41FA5}">
                      <a16:colId xmlns="" xmlns:a16="http://schemas.microsoft.com/office/drawing/2014/main" val="3965953603"/>
                    </a:ext>
                  </a:extLst>
                </a:gridCol>
                <a:gridCol w="1475438">
                  <a:extLst>
                    <a:ext uri="{9D8B030D-6E8A-4147-A177-3AD203B41FA5}">
                      <a16:colId xmlns="" xmlns:a16="http://schemas.microsoft.com/office/drawing/2014/main" val="32969325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  <a:cs typeface="+mn-cs"/>
                        </a:rPr>
                        <a:t>k=1</a:t>
                      </a:r>
                      <a:endParaRPr lang="en-IN" sz="24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</a:t>
                      </a: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a⊐aa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4071172384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7378407" y="1225136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/>
          <p:cNvSpPr/>
          <p:nvPr/>
        </p:nvSpPr>
        <p:spPr>
          <a:xfrm>
            <a:off x="7949776" y="1221517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8523050" y="1227232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1971366" y="2180284"/>
            <a:ext cx="908446" cy="420624"/>
          </a:xfrm>
          <a:prstGeom prst="rect">
            <a:avLst/>
          </a:prstGeom>
          <a:solidFill>
            <a:srgbClr val="C00000">
              <a:alpha val="30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60923" y="3079239"/>
            <a:ext cx="908446" cy="420624"/>
          </a:xfrm>
          <a:prstGeom prst="rect">
            <a:avLst/>
          </a:prstGeom>
          <a:solidFill>
            <a:srgbClr val="C00000">
              <a:alpha val="30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960923" y="4881293"/>
            <a:ext cx="908446" cy="420624"/>
          </a:xfrm>
          <a:prstGeom prst="rect">
            <a:avLst/>
          </a:prstGeom>
          <a:solidFill>
            <a:srgbClr val="C00000">
              <a:alpha val="30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623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17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5958136" y="4231717"/>
                <a:ext cx="3312368" cy="2555931"/>
              </a:xfr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for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q ← 0 to m </a:t>
                </a: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do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Microsoft Sans Serif" panose="020B0604020202020204" pitchFamily="34" charset="0"/>
                </a:endParaRPr>
              </a:p>
              <a:p>
                <a:pPr marL="0" lv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  </a:t>
                </a: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for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each character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Є Σ </a:t>
                </a: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do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Microsoft Sans Serif" panose="020B0604020202020204" pitchFamily="34" charset="0"/>
                </a:endParaRPr>
              </a:p>
              <a:p>
                <a:pPr marL="0" lv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         k ← min(m + 1, q + 2)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Microsoft Sans Serif" panose="020B0604020202020204" pitchFamily="34" charset="0"/>
                </a:endParaRPr>
              </a:p>
              <a:p>
                <a:pPr marL="0" lv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         </a:t>
                </a: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repeat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k ← k - 1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Microsoft Sans Serif" panose="020B0604020202020204" pitchFamily="34" charset="0"/>
                </a:endParaRPr>
              </a:p>
              <a:p>
                <a:pPr marL="0" lvl="0" indent="0">
                  <a:buNone/>
                </a:pP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         until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</a:t>
                </a:r>
                <a:r>
                  <a:rPr lang="en-US" sz="2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P</a:t>
                </a:r>
                <a:r>
                  <a:rPr lang="en-US" sz="2000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k</a:t>
                </a:r>
                <a:r>
                  <a:rPr 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⊐ </a:t>
                </a:r>
                <a:r>
                  <a:rPr lang="en-US" sz="2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P</a:t>
                </a:r>
                <a:r>
                  <a:rPr lang="en-US" sz="2000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q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endParaRPr lang="en-IN" sz="2000" i="1" dirty="0">
                  <a:latin typeface="Cambria Math" panose="02040503050406030204" pitchFamily="18" charset="0"/>
                  <a:ea typeface="Cambria Math" panose="02040503050406030204" pitchFamily="18" charset="0"/>
                  <a:cs typeface="Microsoft Sans Serif" panose="020B0604020202020204" pitchFamily="34" charset="0"/>
                </a:endParaRPr>
              </a:p>
              <a:p>
                <a:pPr marL="0" lv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         δ(q,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) ← k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Microsoft Sans Serif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return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Microsoft Sans Serif" panose="020B0604020202020204" pitchFamily="34" charset="0"/>
                  </a:rPr>
                  <a:t> δ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Microsoft Sans Serif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5958136" y="4231717"/>
                <a:ext cx="3312368" cy="2555931"/>
              </a:xfrm>
              <a:blipFill>
                <a:blip r:embed="rId3"/>
                <a:stretch>
                  <a:fillRect l="-1838" t="-1193" r="-735" b="-57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838760"/>
              </p:ext>
            </p:extLst>
          </p:nvPr>
        </p:nvGraphicFramePr>
        <p:xfrm>
          <a:off x="-72516" y="-12258"/>
          <a:ext cx="4464495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9280">
                  <a:extLst>
                    <a:ext uri="{9D8B030D-6E8A-4147-A177-3AD203B41FA5}">
                      <a16:colId xmlns="" xmlns:a16="http://schemas.microsoft.com/office/drawing/2014/main" val="2544549060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4208223411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57169838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101212751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2299447371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2901701410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2175626083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438334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868821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Pattern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7200078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568408"/>
              </p:ext>
            </p:extLst>
          </p:nvPr>
        </p:nvGraphicFramePr>
        <p:xfrm>
          <a:off x="6503756" y="-29911"/>
          <a:ext cx="2563356" cy="420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5893">
                  <a:extLst>
                    <a:ext uri="{9D8B030D-6E8A-4147-A177-3AD203B41FA5}">
                      <a16:colId xmlns="" xmlns:a16="http://schemas.microsoft.com/office/drawing/2014/main" val="14892859"/>
                    </a:ext>
                  </a:extLst>
                </a:gridCol>
                <a:gridCol w="575463">
                  <a:extLst>
                    <a:ext uri="{9D8B030D-6E8A-4147-A177-3AD203B41FA5}">
                      <a16:colId xmlns="" xmlns:a16="http://schemas.microsoft.com/office/drawing/2014/main" val="2768018132"/>
                    </a:ext>
                  </a:extLst>
                </a:gridCol>
                <a:gridCol w="576000">
                  <a:extLst>
                    <a:ext uri="{9D8B030D-6E8A-4147-A177-3AD203B41FA5}">
                      <a16:colId xmlns="" xmlns:a16="http://schemas.microsoft.com/office/drawing/2014/main" val="1748220190"/>
                    </a:ext>
                  </a:extLst>
                </a:gridCol>
                <a:gridCol w="576000">
                  <a:extLst>
                    <a:ext uri="{9D8B030D-6E8A-4147-A177-3AD203B41FA5}">
                      <a16:colId xmlns="" xmlns:a16="http://schemas.microsoft.com/office/drawing/2014/main" val="149765579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en-IN" sz="1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input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699019812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State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36735453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84391201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65998015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615382278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073876971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14943085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73693988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268540029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7887786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194563"/>
              </p:ext>
            </p:extLst>
          </p:nvPr>
        </p:nvGraphicFramePr>
        <p:xfrm>
          <a:off x="107504" y="1268760"/>
          <a:ext cx="5976665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42942">
                  <a:extLst>
                    <a:ext uri="{9D8B030D-6E8A-4147-A177-3AD203B41FA5}">
                      <a16:colId xmlns="" xmlns:a16="http://schemas.microsoft.com/office/drawing/2014/main" val="3015274529"/>
                    </a:ext>
                  </a:extLst>
                </a:gridCol>
                <a:gridCol w="1175152">
                  <a:extLst>
                    <a:ext uri="{9D8B030D-6E8A-4147-A177-3AD203B41FA5}">
                      <a16:colId xmlns="" xmlns:a16="http://schemas.microsoft.com/office/drawing/2014/main" val="3223696195"/>
                    </a:ext>
                  </a:extLst>
                </a:gridCol>
                <a:gridCol w="970238">
                  <a:extLst>
                    <a:ext uri="{9D8B030D-6E8A-4147-A177-3AD203B41FA5}">
                      <a16:colId xmlns="" xmlns:a16="http://schemas.microsoft.com/office/drawing/2014/main" val="3992919855"/>
                    </a:ext>
                  </a:extLst>
                </a:gridCol>
                <a:gridCol w="1397143">
                  <a:extLst>
                    <a:ext uri="{9D8B030D-6E8A-4147-A177-3AD203B41FA5}">
                      <a16:colId xmlns="" xmlns:a16="http://schemas.microsoft.com/office/drawing/2014/main" val="4256814182"/>
                    </a:ext>
                  </a:extLst>
                </a:gridCol>
                <a:gridCol w="1591190">
                  <a:extLst>
                    <a:ext uri="{9D8B030D-6E8A-4147-A177-3AD203B41FA5}">
                      <a16:colId xmlns="" xmlns:a16="http://schemas.microsoft.com/office/drawing/2014/main" val="21969070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q=2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=a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k=4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4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2</a:t>
                      </a: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r>
                        <a:rPr lang="en-IN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abab⊐aba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28948855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687437"/>
              </p:ext>
            </p:extLst>
          </p:nvPr>
        </p:nvGraphicFramePr>
        <p:xfrm>
          <a:off x="2123726" y="1724944"/>
          <a:ext cx="3960442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70697">
                  <a:extLst>
                    <a:ext uri="{9D8B030D-6E8A-4147-A177-3AD203B41FA5}">
                      <a16:colId xmlns="" xmlns:a16="http://schemas.microsoft.com/office/drawing/2014/main" val="2426618447"/>
                    </a:ext>
                  </a:extLst>
                </a:gridCol>
                <a:gridCol w="1398586">
                  <a:extLst>
                    <a:ext uri="{9D8B030D-6E8A-4147-A177-3AD203B41FA5}">
                      <a16:colId xmlns="" xmlns:a16="http://schemas.microsoft.com/office/drawing/2014/main" val="3965953603"/>
                    </a:ext>
                  </a:extLst>
                </a:gridCol>
                <a:gridCol w="1591159">
                  <a:extLst>
                    <a:ext uri="{9D8B030D-6E8A-4147-A177-3AD203B41FA5}">
                      <a16:colId xmlns="" xmlns:a16="http://schemas.microsoft.com/office/drawing/2014/main" val="32969325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  <a:cs typeface="+mn-cs"/>
                        </a:rPr>
                        <a:t>k=3</a:t>
                      </a:r>
                      <a:endParaRPr lang="en-IN" sz="24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3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2</a:t>
                      </a: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aba⊐aba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407117238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163010"/>
              </p:ext>
            </p:extLst>
          </p:nvPr>
        </p:nvGraphicFramePr>
        <p:xfrm>
          <a:off x="1033448" y="2207889"/>
          <a:ext cx="5045641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85200">
                  <a:extLst>
                    <a:ext uri="{9D8B030D-6E8A-4147-A177-3AD203B41FA5}">
                      <a16:colId xmlns="" xmlns:a16="http://schemas.microsoft.com/office/drawing/2014/main" val="3727308851"/>
                    </a:ext>
                  </a:extLst>
                </a:gridCol>
                <a:gridCol w="972108">
                  <a:extLst>
                    <a:ext uri="{9D8B030D-6E8A-4147-A177-3AD203B41FA5}">
                      <a16:colId xmlns="" xmlns:a16="http://schemas.microsoft.com/office/drawing/2014/main" val="2134813177"/>
                    </a:ext>
                  </a:extLst>
                </a:gridCol>
                <a:gridCol w="1404156">
                  <a:extLst>
                    <a:ext uri="{9D8B030D-6E8A-4147-A177-3AD203B41FA5}">
                      <a16:colId xmlns="" xmlns:a16="http://schemas.microsoft.com/office/drawing/2014/main" val="3046434303"/>
                    </a:ext>
                  </a:extLst>
                </a:gridCol>
                <a:gridCol w="1584177">
                  <a:extLst>
                    <a:ext uri="{9D8B030D-6E8A-4147-A177-3AD203B41FA5}">
                      <a16:colId xmlns="" xmlns:a16="http://schemas.microsoft.com/office/drawing/2014/main" val="3592588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=b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k=0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0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2</a:t>
                      </a: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ϵ⊐</a:t>
                      </a:r>
                      <a:r>
                        <a:rPr lang="en-US" sz="2400" dirty="0" err="1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abb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700782149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915485"/>
              </p:ext>
            </p:extLst>
          </p:nvPr>
        </p:nvGraphicFramePr>
        <p:xfrm>
          <a:off x="1038528" y="2703022"/>
          <a:ext cx="5045640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85200">
                  <a:extLst>
                    <a:ext uri="{9D8B030D-6E8A-4147-A177-3AD203B41FA5}">
                      <a16:colId xmlns="" xmlns:a16="http://schemas.microsoft.com/office/drawing/2014/main" val="2064533246"/>
                    </a:ext>
                  </a:extLst>
                </a:gridCol>
                <a:gridCol w="972108">
                  <a:extLst>
                    <a:ext uri="{9D8B030D-6E8A-4147-A177-3AD203B41FA5}">
                      <a16:colId xmlns="" xmlns:a16="http://schemas.microsoft.com/office/drawing/2014/main" val="1559044680"/>
                    </a:ext>
                  </a:extLst>
                </a:gridCol>
                <a:gridCol w="1404156">
                  <a:extLst>
                    <a:ext uri="{9D8B030D-6E8A-4147-A177-3AD203B41FA5}">
                      <a16:colId xmlns="" xmlns:a16="http://schemas.microsoft.com/office/drawing/2014/main" val="1611379938"/>
                    </a:ext>
                  </a:extLst>
                </a:gridCol>
                <a:gridCol w="1584176">
                  <a:extLst>
                    <a:ext uri="{9D8B030D-6E8A-4147-A177-3AD203B41FA5}">
                      <a16:colId xmlns="" xmlns:a16="http://schemas.microsoft.com/office/drawing/2014/main" val="12256819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=c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k=0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0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2</a:t>
                      </a: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ϵ⊐</a:t>
                      </a:r>
                      <a:r>
                        <a:rPr lang="en-US" sz="2400" dirty="0" err="1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abc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28647907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7380312" y="1656936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/>
          <p:cNvSpPr/>
          <p:nvPr/>
        </p:nvSpPr>
        <p:spPr>
          <a:xfrm>
            <a:off x="7951681" y="1653317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8524955" y="1659032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7381222" y="2079707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7952591" y="2076088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8525865" y="2081803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522448"/>
              </p:ext>
            </p:extLst>
          </p:nvPr>
        </p:nvGraphicFramePr>
        <p:xfrm>
          <a:off x="38768" y="3400069"/>
          <a:ext cx="5878987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29166">
                  <a:extLst>
                    <a:ext uri="{9D8B030D-6E8A-4147-A177-3AD203B41FA5}">
                      <a16:colId xmlns="" xmlns:a16="http://schemas.microsoft.com/office/drawing/2014/main" val="3015274529"/>
                    </a:ext>
                  </a:extLst>
                </a:gridCol>
                <a:gridCol w="904105">
                  <a:extLst>
                    <a:ext uri="{9D8B030D-6E8A-4147-A177-3AD203B41FA5}">
                      <a16:colId xmlns="" xmlns:a16="http://schemas.microsoft.com/office/drawing/2014/main" val="3223696195"/>
                    </a:ext>
                  </a:extLst>
                </a:gridCol>
                <a:gridCol w="1008112">
                  <a:extLst>
                    <a:ext uri="{9D8B030D-6E8A-4147-A177-3AD203B41FA5}">
                      <a16:colId xmlns="" xmlns:a16="http://schemas.microsoft.com/office/drawing/2014/main" val="3992919855"/>
                    </a:ext>
                  </a:extLst>
                </a:gridCol>
                <a:gridCol w="1404156">
                  <a:extLst>
                    <a:ext uri="{9D8B030D-6E8A-4147-A177-3AD203B41FA5}">
                      <a16:colId xmlns="" xmlns:a16="http://schemas.microsoft.com/office/drawing/2014/main" val="4256814182"/>
                    </a:ext>
                  </a:extLst>
                </a:gridCol>
                <a:gridCol w="1733448">
                  <a:extLst>
                    <a:ext uri="{9D8B030D-6E8A-4147-A177-3AD203B41FA5}">
                      <a16:colId xmlns="" xmlns:a16="http://schemas.microsoft.com/office/drawing/2014/main" val="21969070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q=3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=a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k=1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3</a:t>
                      </a: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r>
                        <a:rPr lang="en-IN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a⊐abaa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289488556"/>
                  </a:ext>
                </a:extLst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010953"/>
              </p:ext>
            </p:extLst>
          </p:nvPr>
        </p:nvGraphicFramePr>
        <p:xfrm>
          <a:off x="872114" y="3899365"/>
          <a:ext cx="5045641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99925">
                  <a:extLst>
                    <a:ext uri="{9D8B030D-6E8A-4147-A177-3AD203B41FA5}">
                      <a16:colId xmlns="" xmlns:a16="http://schemas.microsoft.com/office/drawing/2014/main" val="3727308851"/>
                    </a:ext>
                  </a:extLst>
                </a:gridCol>
                <a:gridCol w="1008112">
                  <a:extLst>
                    <a:ext uri="{9D8B030D-6E8A-4147-A177-3AD203B41FA5}">
                      <a16:colId xmlns="" xmlns:a16="http://schemas.microsoft.com/office/drawing/2014/main" val="2134813177"/>
                    </a:ext>
                  </a:extLst>
                </a:gridCol>
                <a:gridCol w="1404156">
                  <a:extLst>
                    <a:ext uri="{9D8B030D-6E8A-4147-A177-3AD203B41FA5}">
                      <a16:colId xmlns="" xmlns:a16="http://schemas.microsoft.com/office/drawing/2014/main" val="3046434303"/>
                    </a:ext>
                  </a:extLst>
                </a:gridCol>
                <a:gridCol w="1733448">
                  <a:extLst>
                    <a:ext uri="{9D8B030D-6E8A-4147-A177-3AD203B41FA5}">
                      <a16:colId xmlns="" xmlns:a16="http://schemas.microsoft.com/office/drawing/2014/main" val="3592588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=b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k=4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4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3</a:t>
                      </a: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abab⊐abab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700782149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57171"/>
              </p:ext>
            </p:extLst>
          </p:nvPr>
        </p:nvGraphicFramePr>
        <p:xfrm>
          <a:off x="877194" y="4394498"/>
          <a:ext cx="5045640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94845">
                  <a:extLst>
                    <a:ext uri="{9D8B030D-6E8A-4147-A177-3AD203B41FA5}">
                      <a16:colId xmlns="" xmlns:a16="http://schemas.microsoft.com/office/drawing/2014/main" val="2064533246"/>
                    </a:ext>
                  </a:extLst>
                </a:gridCol>
                <a:gridCol w="1008112">
                  <a:extLst>
                    <a:ext uri="{9D8B030D-6E8A-4147-A177-3AD203B41FA5}">
                      <a16:colId xmlns="" xmlns:a16="http://schemas.microsoft.com/office/drawing/2014/main" val="1559044680"/>
                    </a:ext>
                  </a:extLst>
                </a:gridCol>
                <a:gridCol w="1404156">
                  <a:extLst>
                    <a:ext uri="{9D8B030D-6E8A-4147-A177-3AD203B41FA5}">
                      <a16:colId xmlns="" xmlns:a16="http://schemas.microsoft.com/office/drawing/2014/main" val="1611379938"/>
                    </a:ext>
                  </a:extLst>
                </a:gridCol>
                <a:gridCol w="1738527">
                  <a:extLst>
                    <a:ext uri="{9D8B030D-6E8A-4147-A177-3AD203B41FA5}">
                      <a16:colId xmlns="" xmlns:a16="http://schemas.microsoft.com/office/drawing/2014/main" val="12256819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=c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k=0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0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3</a:t>
                      </a: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ϵ⊐</a:t>
                      </a:r>
                      <a:r>
                        <a:rPr lang="en-US" sz="2400" dirty="0" err="1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abac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28647907"/>
                  </a:ext>
                </a:extLst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7380312" y="2503252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/>
          <p:cNvSpPr/>
          <p:nvPr/>
        </p:nvSpPr>
        <p:spPr>
          <a:xfrm>
            <a:off x="7951681" y="2499633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/>
          <p:cNvSpPr/>
          <p:nvPr/>
        </p:nvSpPr>
        <p:spPr>
          <a:xfrm>
            <a:off x="8524955" y="2505348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429320"/>
              </p:ext>
            </p:extLst>
          </p:nvPr>
        </p:nvGraphicFramePr>
        <p:xfrm>
          <a:off x="17283" y="5087146"/>
          <a:ext cx="5878987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29166">
                  <a:extLst>
                    <a:ext uri="{9D8B030D-6E8A-4147-A177-3AD203B41FA5}">
                      <a16:colId xmlns="" xmlns:a16="http://schemas.microsoft.com/office/drawing/2014/main" val="3015274529"/>
                    </a:ext>
                  </a:extLst>
                </a:gridCol>
                <a:gridCol w="745570">
                  <a:extLst>
                    <a:ext uri="{9D8B030D-6E8A-4147-A177-3AD203B41FA5}">
                      <a16:colId xmlns="" xmlns:a16="http://schemas.microsoft.com/office/drawing/2014/main" val="3223696195"/>
                    </a:ext>
                  </a:extLst>
                </a:gridCol>
                <a:gridCol w="792088">
                  <a:extLst>
                    <a:ext uri="{9D8B030D-6E8A-4147-A177-3AD203B41FA5}">
                      <a16:colId xmlns="" xmlns:a16="http://schemas.microsoft.com/office/drawing/2014/main" val="3992919855"/>
                    </a:ext>
                  </a:extLst>
                </a:gridCol>
                <a:gridCol w="1368152">
                  <a:extLst>
                    <a:ext uri="{9D8B030D-6E8A-4147-A177-3AD203B41FA5}">
                      <a16:colId xmlns="" xmlns:a16="http://schemas.microsoft.com/office/drawing/2014/main" val="4256814182"/>
                    </a:ext>
                  </a:extLst>
                </a:gridCol>
                <a:gridCol w="2144011">
                  <a:extLst>
                    <a:ext uri="{9D8B030D-6E8A-4147-A177-3AD203B41FA5}">
                      <a16:colId xmlns="" xmlns:a16="http://schemas.microsoft.com/office/drawing/2014/main" val="21969070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q=4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=a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k=5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5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4</a:t>
                      </a: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r>
                        <a:rPr lang="en-IN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ababa⊐ababa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289488556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882618"/>
              </p:ext>
            </p:extLst>
          </p:nvPr>
        </p:nvGraphicFramePr>
        <p:xfrm>
          <a:off x="850629" y="5586442"/>
          <a:ext cx="5045641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41390">
                  <a:extLst>
                    <a:ext uri="{9D8B030D-6E8A-4147-A177-3AD203B41FA5}">
                      <a16:colId xmlns="" xmlns:a16="http://schemas.microsoft.com/office/drawing/2014/main" val="3727308851"/>
                    </a:ext>
                  </a:extLst>
                </a:gridCol>
                <a:gridCol w="792088">
                  <a:extLst>
                    <a:ext uri="{9D8B030D-6E8A-4147-A177-3AD203B41FA5}">
                      <a16:colId xmlns="" xmlns:a16="http://schemas.microsoft.com/office/drawing/2014/main" val="2134813177"/>
                    </a:ext>
                  </a:extLst>
                </a:gridCol>
                <a:gridCol w="1368152">
                  <a:extLst>
                    <a:ext uri="{9D8B030D-6E8A-4147-A177-3AD203B41FA5}">
                      <a16:colId xmlns="" xmlns:a16="http://schemas.microsoft.com/office/drawing/2014/main" val="3046434303"/>
                    </a:ext>
                  </a:extLst>
                </a:gridCol>
                <a:gridCol w="2144011">
                  <a:extLst>
                    <a:ext uri="{9D8B030D-6E8A-4147-A177-3AD203B41FA5}">
                      <a16:colId xmlns="" xmlns:a16="http://schemas.microsoft.com/office/drawing/2014/main" val="3592588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=b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k=0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0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4</a:t>
                      </a: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ϵ⊐</a:t>
                      </a:r>
                      <a:r>
                        <a:rPr lang="en-US" sz="2400" dirty="0" err="1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ababb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700782149"/>
                  </a:ext>
                </a:extLst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735906"/>
              </p:ext>
            </p:extLst>
          </p:nvPr>
        </p:nvGraphicFramePr>
        <p:xfrm>
          <a:off x="855709" y="6081575"/>
          <a:ext cx="5045640" cy="420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36310">
                  <a:extLst>
                    <a:ext uri="{9D8B030D-6E8A-4147-A177-3AD203B41FA5}">
                      <a16:colId xmlns="" xmlns:a16="http://schemas.microsoft.com/office/drawing/2014/main" val="2064533246"/>
                    </a:ext>
                  </a:extLst>
                </a:gridCol>
                <a:gridCol w="792088">
                  <a:extLst>
                    <a:ext uri="{9D8B030D-6E8A-4147-A177-3AD203B41FA5}">
                      <a16:colId xmlns="" xmlns:a16="http://schemas.microsoft.com/office/drawing/2014/main" val="1559044680"/>
                    </a:ext>
                  </a:extLst>
                </a:gridCol>
                <a:gridCol w="1368152">
                  <a:extLst>
                    <a:ext uri="{9D8B030D-6E8A-4147-A177-3AD203B41FA5}">
                      <a16:colId xmlns="" xmlns:a16="http://schemas.microsoft.com/office/drawing/2014/main" val="1611379938"/>
                    </a:ext>
                  </a:extLst>
                </a:gridCol>
                <a:gridCol w="2149090">
                  <a:extLst>
                    <a:ext uri="{9D8B030D-6E8A-4147-A177-3AD203B41FA5}">
                      <a16:colId xmlns="" xmlns:a16="http://schemas.microsoft.com/office/drawing/2014/main" val="12256819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=c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k=0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0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⊐P</a:t>
                      </a:r>
                      <a:r>
                        <a:rPr lang="en-US" sz="2400" baseline="-250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3</a:t>
                      </a:r>
                      <a:r>
                        <a:rPr lang="el-GR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ω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ϵ⊐</a:t>
                      </a:r>
                      <a:r>
                        <a:rPr lang="en-US" sz="2400" dirty="0" err="1">
                          <a:effectLst/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ababc</a:t>
                      </a:r>
                      <a:endParaRPr lang="en-IN" sz="2400" dirty="0">
                        <a:effectLst/>
                        <a:latin typeface="Consolas" panose="020B0609020204030204" pitchFamily="49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28647907"/>
                  </a:ext>
                </a:extLst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7383319" y="2928315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/>
          <p:cNvSpPr/>
          <p:nvPr/>
        </p:nvSpPr>
        <p:spPr>
          <a:xfrm>
            <a:off x="7954688" y="2924696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/>
          <p:cNvSpPr/>
          <p:nvPr/>
        </p:nvSpPr>
        <p:spPr>
          <a:xfrm>
            <a:off x="8527962" y="2930411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/>
          <p:cNvSpPr/>
          <p:nvPr/>
        </p:nvSpPr>
        <p:spPr>
          <a:xfrm>
            <a:off x="7378598" y="3359023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/>
          <p:cNvSpPr/>
          <p:nvPr/>
        </p:nvSpPr>
        <p:spPr>
          <a:xfrm>
            <a:off x="7949967" y="3355404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/>
          <p:cNvSpPr/>
          <p:nvPr/>
        </p:nvSpPr>
        <p:spPr>
          <a:xfrm>
            <a:off x="8523241" y="3361119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/>
          <p:cNvSpPr/>
          <p:nvPr/>
        </p:nvSpPr>
        <p:spPr>
          <a:xfrm>
            <a:off x="7381141" y="3783343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/>
          <p:cNvSpPr/>
          <p:nvPr/>
        </p:nvSpPr>
        <p:spPr>
          <a:xfrm>
            <a:off x="7952510" y="3779724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/>
          <p:cNvSpPr/>
          <p:nvPr/>
        </p:nvSpPr>
        <p:spPr>
          <a:xfrm>
            <a:off x="8525784" y="3785439"/>
            <a:ext cx="5040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232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17" grpId="0" animBg="1"/>
      <p:bldP spid="22" grpId="0" animBg="1"/>
      <p:bldP spid="23" grpId="0" animBg="1"/>
      <p:bldP spid="28" grpId="0" animBg="1"/>
      <p:bldP spid="29" grpId="0" animBg="1"/>
      <p:bldP spid="30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-87790"/>
            <a:ext cx="8763000" cy="808037"/>
          </a:xfrm>
        </p:spPr>
        <p:txBody>
          <a:bodyPr/>
          <a:lstStyle/>
          <a:p>
            <a:pPr algn="l"/>
            <a:r>
              <a:rPr lang="en-IN" dirty="0"/>
              <a:t>Finite Automata Matcher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1500" y="669152"/>
            <a:ext cx="5688632" cy="35271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-ItalicMT"/>
              </a:rPr>
              <a:t>FINITE-AUTOMATON MATCHER(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T, δ, m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-ItalicMT"/>
              </a:rPr>
              <a:t>)</a:t>
            </a:r>
          </a:p>
          <a:p>
            <a:pPr lv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-ItalicMT"/>
              </a:rPr>
              <a:t>n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MT"/>
              </a:rPr>
              <a:t>←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-ItalicMT"/>
              </a:rPr>
              <a:t>length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MT"/>
              </a:rPr>
              <a:t>[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-ItalicMT"/>
              </a:rPr>
              <a:t>T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MT"/>
              </a:rPr>
              <a:t>]</a:t>
            </a:r>
            <a:endParaRPr lang="en-IN" sz="24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-ItalicMT"/>
              </a:rPr>
              <a:t>q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MT"/>
              </a:rPr>
              <a:t>← 0</a:t>
            </a:r>
            <a:endParaRPr lang="en-IN" sz="24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  <a:cs typeface="CourierNewPS-BoldMT"/>
              </a:rPr>
              <a:t>for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  <a:cs typeface="CourierNewPS-ItalicMT"/>
              </a:rPr>
              <a:t>i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-ItalicMT"/>
              </a:rPr>
              <a:t>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MT"/>
              </a:rPr>
              <a:t>← 1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  <a:cs typeface="CourierNewPS-BoldMT"/>
              </a:rPr>
              <a:t>to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-ItalicMT"/>
              </a:rPr>
              <a:t>n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  <a:cs typeface="CourierNewPS-BoldMT"/>
              </a:rPr>
              <a:t>do</a:t>
            </a:r>
            <a:endParaRPr lang="en-IN" sz="24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-ItalicMT"/>
              </a:rPr>
              <a:t>     q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MT"/>
              </a:rPr>
              <a:t>←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-ItalicMT"/>
              </a:rPr>
              <a:t>δ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MT"/>
              </a:rPr>
              <a:t>(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-ItalicMT"/>
              </a:rPr>
              <a:t>q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MT"/>
              </a:rPr>
              <a:t>,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-ItalicMT"/>
              </a:rPr>
              <a:t>T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MT"/>
              </a:rPr>
              <a:t>[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  <a:cs typeface="CourierNewPS-ItalicMT"/>
              </a:rPr>
              <a:t>i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MT"/>
              </a:rPr>
              <a:t>])</a:t>
            </a:r>
            <a:endParaRPr lang="en-IN" sz="24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  <a:cs typeface="CourierNewPS-BoldMT"/>
              </a:rPr>
              <a:t>     if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-ItalicMT"/>
              </a:rPr>
              <a:t>q =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MT"/>
              </a:rPr>
              <a:t>=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-ItalicMT"/>
              </a:rPr>
              <a:t>m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  <a:cs typeface="CourierNewPS-BoldMT"/>
              </a:rPr>
              <a:t>then</a:t>
            </a:r>
            <a:endParaRPr lang="en-IN" sz="24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MT"/>
              </a:rPr>
              <a:t>  print "Pattern occurs with shift"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  <a:cs typeface="CourierNewPS-ItalicMT"/>
              </a:rPr>
              <a:t>i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-ItalicMT"/>
              </a:rPr>
              <a:t>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MT"/>
              </a:rPr>
              <a:t>–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ourierNewPS-ItalicMT"/>
              </a:rPr>
              <a:t>m</a:t>
            </a:r>
            <a:endParaRPr lang="en-IN" sz="24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991904"/>
              </p:ext>
            </p:extLst>
          </p:nvPr>
        </p:nvGraphicFramePr>
        <p:xfrm>
          <a:off x="5904148" y="37580"/>
          <a:ext cx="2563356" cy="420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5893">
                  <a:extLst>
                    <a:ext uri="{9D8B030D-6E8A-4147-A177-3AD203B41FA5}">
                      <a16:colId xmlns="" xmlns:a16="http://schemas.microsoft.com/office/drawing/2014/main" val="14892859"/>
                    </a:ext>
                  </a:extLst>
                </a:gridCol>
                <a:gridCol w="575463">
                  <a:extLst>
                    <a:ext uri="{9D8B030D-6E8A-4147-A177-3AD203B41FA5}">
                      <a16:colId xmlns="" xmlns:a16="http://schemas.microsoft.com/office/drawing/2014/main" val="2768018132"/>
                    </a:ext>
                  </a:extLst>
                </a:gridCol>
                <a:gridCol w="576000">
                  <a:extLst>
                    <a:ext uri="{9D8B030D-6E8A-4147-A177-3AD203B41FA5}">
                      <a16:colId xmlns="" xmlns:a16="http://schemas.microsoft.com/office/drawing/2014/main" val="1748220190"/>
                    </a:ext>
                  </a:extLst>
                </a:gridCol>
                <a:gridCol w="576000">
                  <a:extLst>
                    <a:ext uri="{9D8B030D-6E8A-4147-A177-3AD203B41FA5}">
                      <a16:colId xmlns="" xmlns:a16="http://schemas.microsoft.com/office/drawing/2014/main" val="149765579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en-IN" sz="1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input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699019812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State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36735453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84391201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65998015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615382278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073876971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14943085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73693988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268540029"/>
                  </a:ext>
                </a:extLst>
              </a:tr>
              <a:tr h="30262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78877866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260191"/>
              </p:ext>
            </p:extLst>
          </p:nvPr>
        </p:nvGraphicFramePr>
        <p:xfrm>
          <a:off x="71500" y="5805264"/>
          <a:ext cx="6836771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0807">
                  <a:extLst>
                    <a:ext uri="{9D8B030D-6E8A-4147-A177-3AD203B41FA5}">
                      <a16:colId xmlns="" xmlns:a16="http://schemas.microsoft.com/office/drawing/2014/main" val="3805077920"/>
                    </a:ext>
                  </a:extLst>
                </a:gridCol>
                <a:gridCol w="541996">
                  <a:extLst>
                    <a:ext uri="{9D8B030D-6E8A-4147-A177-3AD203B41FA5}">
                      <a16:colId xmlns="" xmlns:a16="http://schemas.microsoft.com/office/drawing/2014/main" val="4208223411"/>
                    </a:ext>
                  </a:extLst>
                </a:gridCol>
                <a:gridCol w="541996">
                  <a:extLst>
                    <a:ext uri="{9D8B030D-6E8A-4147-A177-3AD203B41FA5}">
                      <a16:colId xmlns="" xmlns:a16="http://schemas.microsoft.com/office/drawing/2014/main" val="57169838"/>
                    </a:ext>
                  </a:extLst>
                </a:gridCol>
                <a:gridCol w="541996">
                  <a:extLst>
                    <a:ext uri="{9D8B030D-6E8A-4147-A177-3AD203B41FA5}">
                      <a16:colId xmlns="" xmlns:a16="http://schemas.microsoft.com/office/drawing/2014/main" val="101212751"/>
                    </a:ext>
                  </a:extLst>
                </a:gridCol>
                <a:gridCol w="541996">
                  <a:extLst>
                    <a:ext uri="{9D8B030D-6E8A-4147-A177-3AD203B41FA5}">
                      <a16:colId xmlns="" xmlns:a16="http://schemas.microsoft.com/office/drawing/2014/main" val="2299447371"/>
                    </a:ext>
                  </a:extLst>
                </a:gridCol>
                <a:gridCol w="541996">
                  <a:extLst>
                    <a:ext uri="{9D8B030D-6E8A-4147-A177-3AD203B41FA5}">
                      <a16:colId xmlns="" xmlns:a16="http://schemas.microsoft.com/office/drawing/2014/main" val="2901701410"/>
                    </a:ext>
                  </a:extLst>
                </a:gridCol>
                <a:gridCol w="541996">
                  <a:extLst>
                    <a:ext uri="{9D8B030D-6E8A-4147-A177-3AD203B41FA5}">
                      <a16:colId xmlns="" xmlns:a16="http://schemas.microsoft.com/office/drawing/2014/main" val="2175626083"/>
                    </a:ext>
                  </a:extLst>
                </a:gridCol>
                <a:gridCol w="541996">
                  <a:extLst>
                    <a:ext uri="{9D8B030D-6E8A-4147-A177-3AD203B41FA5}">
                      <a16:colId xmlns="" xmlns:a16="http://schemas.microsoft.com/office/drawing/2014/main" val="438334824"/>
                    </a:ext>
                  </a:extLst>
                </a:gridCol>
                <a:gridCol w="541996">
                  <a:extLst>
                    <a:ext uri="{9D8B030D-6E8A-4147-A177-3AD203B41FA5}">
                      <a16:colId xmlns="" xmlns:a16="http://schemas.microsoft.com/office/drawing/2014/main" val="1546133272"/>
                    </a:ext>
                  </a:extLst>
                </a:gridCol>
                <a:gridCol w="541996">
                  <a:extLst>
                    <a:ext uri="{9D8B030D-6E8A-4147-A177-3AD203B41FA5}">
                      <a16:colId xmlns="" xmlns:a16="http://schemas.microsoft.com/office/drawing/2014/main" val="1418123665"/>
                    </a:ext>
                  </a:extLst>
                </a:gridCol>
                <a:gridCol w="504000">
                  <a:extLst>
                    <a:ext uri="{9D8B030D-6E8A-4147-A177-3AD203B41FA5}">
                      <a16:colId xmlns="" xmlns:a16="http://schemas.microsoft.com/office/drawing/2014/main" val="3367909252"/>
                    </a:ext>
                  </a:extLst>
                </a:gridCol>
                <a:gridCol w="504000">
                  <a:extLst>
                    <a:ext uri="{9D8B030D-6E8A-4147-A177-3AD203B41FA5}">
                      <a16:colId xmlns="" xmlns:a16="http://schemas.microsoft.com/office/drawing/2014/main" val="1940067964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2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3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4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5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6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7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8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9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10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11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86882161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7200078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198537"/>
              </p:ext>
            </p:extLst>
          </p:nvPr>
        </p:nvGraphicFramePr>
        <p:xfrm>
          <a:off x="-72751" y="4761148"/>
          <a:ext cx="4464495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9280">
                  <a:extLst>
                    <a:ext uri="{9D8B030D-6E8A-4147-A177-3AD203B41FA5}">
                      <a16:colId xmlns="" xmlns:a16="http://schemas.microsoft.com/office/drawing/2014/main" val="2544549060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4208223411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57169838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101212751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2299447371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2901701410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2175626083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438334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2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3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4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5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6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7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868821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Pattern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7200078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020272" y="4556490"/>
            <a:ext cx="1393633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=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24328" y="5103186"/>
            <a:ext cx="1393633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=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68344" y="4610516"/>
            <a:ext cx="696817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endParaRPr lang="en-IN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68344" y="5157212"/>
            <a:ext cx="696817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en-IN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55492" y="872716"/>
            <a:ext cx="345574" cy="3240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673188" y="5158700"/>
            <a:ext cx="696817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endParaRPr lang="en-IN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68343" y="4617956"/>
            <a:ext cx="696817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endParaRPr lang="en-IN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430367" y="1297121"/>
            <a:ext cx="345574" cy="3240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668343" y="5161165"/>
            <a:ext cx="696817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endParaRPr lang="en-IN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668342" y="4610516"/>
            <a:ext cx="696817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endParaRPr lang="en-IN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855690" y="1721525"/>
            <a:ext cx="345574" cy="3240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7650893" y="5163630"/>
            <a:ext cx="696817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endParaRPr lang="en-IN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662532" y="4617956"/>
            <a:ext cx="696817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  <a:endParaRPr lang="en-IN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430367" y="2159859"/>
            <a:ext cx="345574" cy="3240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7659618" y="5146254"/>
            <a:ext cx="696817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  <a:endParaRPr lang="en-IN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659617" y="4614003"/>
            <a:ext cx="696817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  <a:endParaRPr lang="en-IN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855492" y="2585763"/>
            <a:ext cx="345574" cy="3240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/>
          <p:cNvSpPr/>
          <p:nvPr/>
        </p:nvSpPr>
        <p:spPr>
          <a:xfrm>
            <a:off x="7659616" y="5148746"/>
            <a:ext cx="696817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  <a:endParaRPr lang="en-IN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662551" y="4610345"/>
            <a:ext cx="696817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6</a:t>
            </a:r>
            <a:endParaRPr lang="en-IN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430367" y="3022597"/>
            <a:ext cx="345574" cy="3240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/>
          <p:cNvSpPr/>
          <p:nvPr/>
        </p:nvSpPr>
        <p:spPr>
          <a:xfrm>
            <a:off x="7677066" y="5152672"/>
            <a:ext cx="696817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  <a:endParaRPr lang="en-IN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677066" y="4630375"/>
            <a:ext cx="696817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7</a:t>
            </a:r>
            <a:endParaRPr lang="en-IN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678638" y="5162685"/>
            <a:ext cx="696817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  <a:endParaRPr lang="en-IN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666893" y="4613601"/>
            <a:ext cx="696817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8</a:t>
            </a:r>
            <a:endParaRPr lang="en-IN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009118" y="3022597"/>
            <a:ext cx="345574" cy="3240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/>
          <p:cNvSpPr/>
          <p:nvPr/>
        </p:nvSpPr>
        <p:spPr>
          <a:xfrm>
            <a:off x="7654166" y="5146254"/>
            <a:ext cx="696817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6</a:t>
            </a:r>
            <a:endParaRPr lang="en-IN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674384" y="4616708"/>
            <a:ext cx="696817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9</a:t>
            </a:r>
            <a:endParaRPr lang="en-IN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867131" y="3444987"/>
            <a:ext cx="345574" cy="3240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/>
          <p:cNvSpPr/>
          <p:nvPr/>
        </p:nvSpPr>
        <p:spPr>
          <a:xfrm>
            <a:off x="7668036" y="5182977"/>
            <a:ext cx="696817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7</a:t>
            </a:r>
            <a:endParaRPr lang="en-IN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108980" y="6257274"/>
            <a:ext cx="3794760" cy="4572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97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 &amp; Prefix of a String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5069338"/>
                  </p:ext>
                </p:extLst>
              </p:nvPr>
            </p:nvGraphicFramePr>
            <p:xfrm>
              <a:off x="190500" y="1604047"/>
              <a:ext cx="4237484" cy="327596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05236">
                      <a:extLst>
                        <a:ext uri="{9D8B030D-6E8A-4147-A177-3AD203B41FA5}">
                          <a16:colId xmlns="" xmlns:a16="http://schemas.microsoft.com/office/drawing/2014/main" val="3738005212"/>
                        </a:ext>
                      </a:extLst>
                    </a:gridCol>
                    <a:gridCol w="2232248">
                      <a:extLst>
                        <a:ext uri="{9D8B030D-6E8A-4147-A177-3AD203B41FA5}">
                          <a16:colId xmlns="" xmlns:a16="http://schemas.microsoft.com/office/drawing/2014/main" val="88814739"/>
                        </a:ext>
                      </a:extLst>
                    </a:gridCol>
                  </a:tblGrid>
                  <a:tr h="493204">
                    <a:tc gridSpan="2"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400" dirty="0">
                              <a:solidFill>
                                <a:srgbClr val="C00000"/>
                              </a:solidFill>
                            </a:rPr>
                            <a:t>Suffix of a string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897530118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 =</m:t>
                                </m:r>
                                <m:r>
                                  <a:rPr lang="en-US" sz="24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𝑠𝑡𝑟𝑖𝑛𝑔</m:t>
                                </m:r>
                              </m:oMath>
                            </m:oMathPara>
                          </a14:m>
                          <a:endParaRPr lang="en-IN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046651670"/>
                      </a:ext>
                    </a:extLst>
                  </a:tr>
                  <a:tr h="47850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⊐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3949625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𝑛𝑔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⊐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135243666"/>
                      </a:ext>
                    </a:extLst>
                  </a:tr>
                  <a:tr h="47545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𝑖𝑛𝑔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⊐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478004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𝑟𝑖𝑛𝑔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⊐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7900035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𝑡𝑟𝑖𝑛𝑔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⊐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1670182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5069338"/>
                  </p:ext>
                </p:extLst>
              </p:nvPr>
            </p:nvGraphicFramePr>
            <p:xfrm>
              <a:off x="190500" y="1604047"/>
              <a:ext cx="4237484" cy="327596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05236">
                      <a:extLst>
                        <a:ext uri="{9D8B030D-6E8A-4147-A177-3AD203B41FA5}">
                          <a16:colId xmlns:a16="http://schemas.microsoft.com/office/drawing/2014/main" val="3738005212"/>
                        </a:ext>
                      </a:extLst>
                    </a:gridCol>
                    <a:gridCol w="2232248">
                      <a:extLst>
                        <a:ext uri="{9D8B030D-6E8A-4147-A177-3AD203B41FA5}">
                          <a16:colId xmlns:a16="http://schemas.microsoft.com/office/drawing/2014/main" val="88814739"/>
                        </a:ext>
                      </a:extLst>
                    </a:gridCol>
                  </a:tblGrid>
                  <a:tr h="493204">
                    <a:tc gridSpan="2"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400" dirty="0" smtClean="0">
                              <a:solidFill>
                                <a:srgbClr val="C00000"/>
                              </a:solidFill>
                            </a:rPr>
                            <a:t>Suffix of a string</a:t>
                          </a:r>
                          <a:endParaRPr lang="en-IN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97530118"/>
                      </a:ext>
                    </a:extLst>
                  </a:tr>
                  <a:tr h="4572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44" t="-118667" r="-287" b="-52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6651670"/>
                      </a:ext>
                    </a:extLst>
                  </a:tr>
                  <a:tr h="4785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4" t="-207595" r="-112158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9918" t="-207595" r="-545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496256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4" t="-324000" r="-112158" b="-32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9918" t="-324000" r="-545" b="-32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243666"/>
                      </a:ext>
                    </a:extLst>
                  </a:tr>
                  <a:tr h="4754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4" t="-407692" r="-112158" b="-208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9918" t="-407692" r="-545" b="-2089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800403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4" t="-528000" r="-112158" b="-1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9918" t="-528000" r="-545" b="-1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000356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4" t="-628000" r="-112158" b="-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9918" t="-628000" r="-545" b="-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01824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8143105"/>
                  </p:ext>
                </p:extLst>
              </p:nvPr>
            </p:nvGraphicFramePr>
            <p:xfrm>
              <a:off x="4805715" y="1604047"/>
              <a:ext cx="4233672" cy="32735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05043">
                      <a:extLst>
                        <a:ext uri="{9D8B030D-6E8A-4147-A177-3AD203B41FA5}">
                          <a16:colId xmlns="" xmlns:a16="http://schemas.microsoft.com/office/drawing/2014/main" val="3738005212"/>
                        </a:ext>
                      </a:extLst>
                    </a:gridCol>
                    <a:gridCol w="1828629">
                      <a:extLst>
                        <a:ext uri="{9D8B030D-6E8A-4147-A177-3AD203B41FA5}">
                          <a16:colId xmlns="" xmlns:a16="http://schemas.microsoft.com/office/drawing/2014/main" val="88814739"/>
                        </a:ext>
                      </a:extLst>
                    </a:gridCol>
                  </a:tblGrid>
                  <a:tr h="464998">
                    <a:tc gridSpan="2"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400" dirty="0">
                              <a:solidFill>
                                <a:srgbClr val="C00000"/>
                              </a:solidFill>
                            </a:rPr>
                            <a:t>Prefix of a string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897530118"/>
                      </a:ext>
                    </a:extLst>
                  </a:tr>
                  <a:tr h="464998">
                    <a:tc gridSpan="2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240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  <m:r>
                                <a:rPr lang="en-US" sz="24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𝑠𝑡𝑟𝑖𝑛𝑔</m:t>
                              </m:r>
                            </m:oMath>
                          </a14:m>
                          <a:r>
                            <a:rPr lang="en-IN" sz="2400" dirty="0">
                              <a:solidFill>
                                <a:srgbClr val="C00000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046651670"/>
                      </a:ext>
                    </a:extLst>
                  </a:tr>
                  <a:tr h="46499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⊏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394962560"/>
                      </a:ext>
                    </a:extLst>
                  </a:tr>
                  <a:tr h="46499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𝑠𝑡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⊏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135243666"/>
                      </a:ext>
                    </a:extLst>
                  </a:tr>
                  <a:tr h="4835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𝑠𝑡𝑟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⊏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478004032"/>
                      </a:ext>
                    </a:extLst>
                  </a:tr>
                  <a:tr h="46499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𝑠𝑡𝑟𝑖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⊏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790003567"/>
                      </a:ext>
                    </a:extLst>
                  </a:tr>
                  <a:tr h="46499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𝑠𝑡𝑟𝑖𝑛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⊏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9562041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8143105"/>
                  </p:ext>
                </p:extLst>
              </p:nvPr>
            </p:nvGraphicFramePr>
            <p:xfrm>
              <a:off x="4805715" y="1604047"/>
              <a:ext cx="4233672" cy="32735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05043">
                      <a:extLst>
                        <a:ext uri="{9D8B030D-6E8A-4147-A177-3AD203B41FA5}">
                          <a16:colId xmlns:a16="http://schemas.microsoft.com/office/drawing/2014/main" val="3738005212"/>
                        </a:ext>
                      </a:extLst>
                    </a:gridCol>
                    <a:gridCol w="1828629">
                      <a:extLst>
                        <a:ext uri="{9D8B030D-6E8A-4147-A177-3AD203B41FA5}">
                          <a16:colId xmlns:a16="http://schemas.microsoft.com/office/drawing/2014/main" val="88814739"/>
                        </a:ext>
                      </a:extLst>
                    </a:gridCol>
                  </a:tblGrid>
                  <a:tr h="464998">
                    <a:tc gridSpan="2"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400" dirty="0" smtClean="0">
                              <a:solidFill>
                                <a:srgbClr val="C00000"/>
                              </a:solidFill>
                            </a:rPr>
                            <a:t>Prefix of a string</a:t>
                          </a:r>
                          <a:endParaRPr lang="en-IN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97530118"/>
                      </a:ext>
                    </a:extLst>
                  </a:tr>
                  <a:tr h="464998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44" t="-109091" r="-288" b="-50259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6651670"/>
                      </a:ext>
                    </a:extLst>
                  </a:tr>
                  <a:tr h="4649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53" t="-211842" r="-76456" b="-40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32000" t="-211842" r="-667" b="-409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4962560"/>
                      </a:ext>
                    </a:extLst>
                  </a:tr>
                  <a:tr h="4649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53" t="-307792" r="-76456" b="-30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32000" t="-307792" r="-667" b="-3038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243666"/>
                      </a:ext>
                    </a:extLst>
                  </a:tr>
                  <a:tr h="4835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53" t="-397468" r="-76456" b="-196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32000" t="-397468" r="-667" b="-1962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8004032"/>
                      </a:ext>
                    </a:extLst>
                  </a:tr>
                  <a:tr h="4649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53" t="-510390" r="-76456" b="-1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32000" t="-510390" r="-667" b="-10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0003567"/>
                      </a:ext>
                    </a:extLst>
                  </a:tr>
                  <a:tr h="4649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53" t="-618421" r="-76456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32000" t="-618421" r="-667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20415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" name="Straight Connector 6"/>
          <p:cNvCxnSpPr/>
          <p:nvPr/>
        </p:nvCxnSpPr>
        <p:spPr>
          <a:xfrm>
            <a:off x="4616244" y="1088740"/>
            <a:ext cx="0" cy="5076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54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Knuth-Morris-Pratt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KMP algorithm relies on </a:t>
            </a:r>
            <a:r>
              <a:rPr lang="en-IN" b="1" dirty="0">
                <a:solidFill>
                  <a:schemeClr val="tx2"/>
                </a:solidFill>
              </a:rPr>
              <a:t>prefix function (</a:t>
            </a:r>
            <a:r>
              <a:rPr lang="el-GR" b="1" dirty="0">
                <a:solidFill>
                  <a:schemeClr val="tx2"/>
                </a:solidFill>
              </a:rPr>
              <a:t>π</a:t>
            </a:r>
            <a:r>
              <a:rPr lang="en-IN" b="1" dirty="0">
                <a:solidFill>
                  <a:schemeClr val="tx2"/>
                </a:solidFill>
              </a:rPr>
              <a:t>)</a:t>
            </a:r>
          </a:p>
          <a:p>
            <a:pPr fontAlgn="base"/>
            <a:r>
              <a:rPr lang="en-IN" b="1" dirty="0"/>
              <a:t>Proper prefix</a:t>
            </a:r>
            <a:r>
              <a:rPr lang="en-IN" dirty="0"/>
              <a:t>: All the characters in a string, with one or more cut off the end. “S”, “Sn”, “</a:t>
            </a:r>
            <a:r>
              <a:rPr lang="en-IN" dirty="0" err="1"/>
              <a:t>Sna</a:t>
            </a:r>
            <a:r>
              <a:rPr lang="en-IN" dirty="0"/>
              <a:t>”, and “Snap” are all the proper prefixes of “Snape”.</a:t>
            </a:r>
          </a:p>
          <a:p>
            <a:pPr fontAlgn="base"/>
            <a:r>
              <a:rPr lang="en-IN" b="1" dirty="0"/>
              <a:t>Proper suffix</a:t>
            </a:r>
            <a:r>
              <a:rPr lang="en-IN" dirty="0"/>
              <a:t>: All the characters in a string, with one or more cut off the beginning. “</a:t>
            </a:r>
            <a:r>
              <a:rPr lang="en-IN" dirty="0" err="1"/>
              <a:t>agrid</a:t>
            </a:r>
            <a:r>
              <a:rPr lang="en-IN" dirty="0"/>
              <a:t>”, “grid”, “rid”, “id”, and “d” are all proper suffixes of “Hagrid”.</a:t>
            </a:r>
          </a:p>
          <a:p>
            <a:pPr fontAlgn="base"/>
            <a:r>
              <a:rPr lang="en-IN" dirty="0"/>
              <a:t>KMP algorithm works as follows:</a:t>
            </a:r>
          </a:p>
          <a:p>
            <a:pPr lvl="1" fontAlgn="base"/>
            <a:r>
              <a:rPr lang="en-IN" dirty="0"/>
              <a:t>Step-1: Calculate Prefix Function</a:t>
            </a:r>
          </a:p>
          <a:p>
            <a:pPr lvl="1" fontAlgn="base"/>
            <a:r>
              <a:rPr lang="en-IN" dirty="0"/>
              <a:t>Step-2: Match Pattern with Text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052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Longest Common Prefix and Suffix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944536"/>
              </p:ext>
            </p:extLst>
          </p:nvPr>
        </p:nvGraphicFramePr>
        <p:xfrm>
          <a:off x="186178" y="1412776"/>
          <a:ext cx="4661215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="" xmlns:a16="http://schemas.microsoft.com/office/drawing/2014/main" val="2544549060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4208223411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57169838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101212751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2299447371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2901701410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2175626083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438334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2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3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4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5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6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7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868821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Pattern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72000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Prefix(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752903741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1722995" y="980728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87186" y="4257092"/>
            <a:ext cx="4489611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  <a:latin typeface="+mj-lt"/>
              </a:rPr>
              <a:t>We have no possible prefixes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6178" y="4977172"/>
            <a:ext cx="4489611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  <a:latin typeface="+mj-lt"/>
              </a:rPr>
              <a:t>We have no possible suffixes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42995" y="2382344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2015716" y="2382344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2509579" y="2382344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2982300" y="2382344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3466447" y="2382344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3946210" y="2382344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4428716" y="2382344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ounded Rectangle 17"/>
          <p:cNvSpPr/>
          <p:nvPr/>
        </p:nvSpPr>
        <p:spPr>
          <a:xfrm>
            <a:off x="2660903" y="3107196"/>
            <a:ext cx="497389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</a:rPr>
              <a:t>a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2206751" y="980728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489917" y="3105872"/>
            <a:ext cx="852383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</a:rPr>
              <a:t>ab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186" y="4257092"/>
            <a:ext cx="4489611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  <a:latin typeface="+mj-lt"/>
              </a:rPr>
              <a:t>Possible prefix = 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6178" y="4977172"/>
            <a:ext cx="4489611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  <a:latin typeface="+mj-lt"/>
              </a:rPr>
              <a:t>Possible suffix = b 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2689814" y="980728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173570" y="980728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656196" y="980728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139952" y="980728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628304" y="980728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509579" y="3104548"/>
            <a:ext cx="852383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</a:rPr>
              <a:t>aba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4976" y="4267412"/>
            <a:ext cx="4489611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  <a:latin typeface="+mj-lt"/>
              </a:rPr>
              <a:t>Possible prefix = a, ab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3968" y="4987492"/>
            <a:ext cx="4489611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  <a:latin typeface="+mj-lt"/>
              </a:rPr>
              <a:t>Possible suffix = a, </a:t>
            </a:r>
            <a:r>
              <a:rPr lang="en-IN" sz="2400" dirty="0" err="1">
                <a:solidFill>
                  <a:schemeClr val="tx1"/>
                </a:solidFill>
                <a:latin typeface="+mj-lt"/>
              </a:rPr>
              <a:t>ba</a:t>
            </a:r>
            <a:r>
              <a:rPr lang="en-IN" sz="2400" dirty="0">
                <a:solidFill>
                  <a:schemeClr val="tx1"/>
                </a:solidFill>
                <a:latin typeface="+mj-lt"/>
              </a:rPr>
              <a:t>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33874" y="3094228"/>
            <a:ext cx="1164468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err="1">
                <a:solidFill>
                  <a:schemeClr val="tx1"/>
                </a:solidFill>
                <a:latin typeface="+mj-lt"/>
              </a:rPr>
              <a:t>abab</a:t>
            </a:r>
            <a:endParaRPr lang="en-IN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02766" y="4279547"/>
            <a:ext cx="4489611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  <a:latin typeface="+mj-lt"/>
              </a:rPr>
              <a:t>Possible prefix = a, ab, aba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1758" y="4999627"/>
            <a:ext cx="4489611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  <a:latin typeface="+mj-lt"/>
              </a:rPr>
              <a:t>Possible suffix = b, ab, </a:t>
            </a:r>
            <a:r>
              <a:rPr lang="en-IN" sz="2400" dirty="0" err="1">
                <a:solidFill>
                  <a:schemeClr val="tx1"/>
                </a:solidFill>
                <a:latin typeface="+mj-lt"/>
              </a:rPr>
              <a:t>bab</a:t>
            </a:r>
            <a:r>
              <a:rPr lang="en-IN" sz="2400" dirty="0">
                <a:solidFill>
                  <a:schemeClr val="tx1"/>
                </a:solidFill>
                <a:latin typeface="+mj-lt"/>
              </a:rPr>
              <a:t>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17286" y="3079004"/>
            <a:ext cx="1164468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err="1">
                <a:solidFill>
                  <a:schemeClr val="tx1"/>
                </a:solidFill>
                <a:latin typeface="+mj-lt"/>
              </a:rPr>
              <a:t>ababa</a:t>
            </a:r>
            <a:endParaRPr lang="en-IN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86178" y="4264323"/>
            <a:ext cx="4489611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  <a:latin typeface="+mj-lt"/>
              </a:rPr>
              <a:t>Possible prefix = a, ab, aba, </a:t>
            </a:r>
            <a:r>
              <a:rPr lang="en-IN" sz="2400" dirty="0" err="1">
                <a:solidFill>
                  <a:schemeClr val="tx1"/>
                </a:solidFill>
                <a:latin typeface="+mj-lt"/>
              </a:rPr>
              <a:t>abab</a:t>
            </a:r>
            <a:endParaRPr lang="en-IN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85170" y="4984403"/>
            <a:ext cx="4489611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  <a:latin typeface="+mj-lt"/>
              </a:rPr>
              <a:t>Possible suffix = a, </a:t>
            </a:r>
            <a:r>
              <a:rPr lang="en-IN" sz="2400" dirty="0" err="1">
                <a:solidFill>
                  <a:schemeClr val="tx1"/>
                </a:solidFill>
                <a:latin typeface="+mj-lt"/>
              </a:rPr>
              <a:t>ba</a:t>
            </a:r>
            <a:r>
              <a:rPr lang="en-IN" sz="2400" dirty="0">
                <a:solidFill>
                  <a:schemeClr val="tx1"/>
                </a:solidFill>
                <a:latin typeface="+mj-lt"/>
              </a:rPr>
              <a:t>, aba, baba </a:t>
            </a:r>
          </a:p>
        </p:txBody>
      </p:sp>
    </p:spTree>
    <p:extLst>
      <p:ext uri="{BB962C8B-B14F-4D97-AF65-F5344CB8AC3E}">
        <p14:creationId xmlns:p14="http://schemas.microsoft.com/office/powerpoint/2010/main" val="144394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8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5496" y="-51854"/>
            <a:ext cx="8763000" cy="808037"/>
          </a:xfrm>
        </p:spPr>
        <p:txBody>
          <a:bodyPr/>
          <a:lstStyle/>
          <a:p>
            <a:pPr algn="l"/>
            <a:r>
              <a:rPr lang="en-IN" dirty="0"/>
              <a:t>Calculate Prefix Function - Example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994899"/>
              </p:ext>
            </p:extLst>
          </p:nvPr>
        </p:nvGraphicFramePr>
        <p:xfrm>
          <a:off x="35496" y="1220164"/>
          <a:ext cx="8758772" cy="14761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0988">
                  <a:extLst>
                    <a:ext uri="{9D8B030D-6E8A-4147-A177-3AD203B41FA5}">
                      <a16:colId xmlns="" xmlns:a16="http://schemas.microsoft.com/office/drawing/2014/main" val="4157395379"/>
                    </a:ext>
                  </a:extLst>
                </a:gridCol>
                <a:gridCol w="460988">
                  <a:extLst>
                    <a:ext uri="{9D8B030D-6E8A-4147-A177-3AD203B41FA5}">
                      <a16:colId xmlns="" xmlns:a16="http://schemas.microsoft.com/office/drawing/2014/main" val="1676240761"/>
                    </a:ext>
                  </a:extLst>
                </a:gridCol>
                <a:gridCol w="460988">
                  <a:extLst>
                    <a:ext uri="{9D8B030D-6E8A-4147-A177-3AD203B41FA5}">
                      <a16:colId xmlns="" xmlns:a16="http://schemas.microsoft.com/office/drawing/2014/main" val="2733759007"/>
                    </a:ext>
                  </a:extLst>
                </a:gridCol>
                <a:gridCol w="460988">
                  <a:extLst>
                    <a:ext uri="{9D8B030D-6E8A-4147-A177-3AD203B41FA5}">
                      <a16:colId xmlns="" xmlns:a16="http://schemas.microsoft.com/office/drawing/2014/main" val="3272912894"/>
                    </a:ext>
                  </a:extLst>
                </a:gridCol>
                <a:gridCol w="460988">
                  <a:extLst>
                    <a:ext uri="{9D8B030D-6E8A-4147-A177-3AD203B41FA5}">
                      <a16:colId xmlns="" xmlns:a16="http://schemas.microsoft.com/office/drawing/2014/main" val="494371180"/>
                    </a:ext>
                  </a:extLst>
                </a:gridCol>
                <a:gridCol w="460988">
                  <a:extLst>
                    <a:ext uri="{9D8B030D-6E8A-4147-A177-3AD203B41FA5}">
                      <a16:colId xmlns="" xmlns:a16="http://schemas.microsoft.com/office/drawing/2014/main" val="1035108413"/>
                    </a:ext>
                  </a:extLst>
                </a:gridCol>
                <a:gridCol w="460988">
                  <a:extLst>
                    <a:ext uri="{9D8B030D-6E8A-4147-A177-3AD203B41FA5}">
                      <a16:colId xmlns="" xmlns:a16="http://schemas.microsoft.com/office/drawing/2014/main" val="2733593413"/>
                    </a:ext>
                  </a:extLst>
                </a:gridCol>
                <a:gridCol w="460988">
                  <a:extLst>
                    <a:ext uri="{9D8B030D-6E8A-4147-A177-3AD203B41FA5}">
                      <a16:colId xmlns="" xmlns:a16="http://schemas.microsoft.com/office/drawing/2014/main" val="2684976021"/>
                    </a:ext>
                  </a:extLst>
                </a:gridCol>
                <a:gridCol w="460988">
                  <a:extLst>
                    <a:ext uri="{9D8B030D-6E8A-4147-A177-3AD203B41FA5}">
                      <a16:colId xmlns="" xmlns:a16="http://schemas.microsoft.com/office/drawing/2014/main" val="939606842"/>
                    </a:ext>
                  </a:extLst>
                </a:gridCol>
                <a:gridCol w="460988">
                  <a:extLst>
                    <a:ext uri="{9D8B030D-6E8A-4147-A177-3AD203B41FA5}">
                      <a16:colId xmlns="" xmlns:a16="http://schemas.microsoft.com/office/drawing/2014/main" val="2386529520"/>
                    </a:ext>
                  </a:extLst>
                </a:gridCol>
                <a:gridCol w="460988">
                  <a:extLst>
                    <a:ext uri="{9D8B030D-6E8A-4147-A177-3AD203B41FA5}">
                      <a16:colId xmlns="" xmlns:a16="http://schemas.microsoft.com/office/drawing/2014/main" val="3436777331"/>
                    </a:ext>
                  </a:extLst>
                </a:gridCol>
                <a:gridCol w="460988">
                  <a:extLst>
                    <a:ext uri="{9D8B030D-6E8A-4147-A177-3AD203B41FA5}">
                      <a16:colId xmlns="" xmlns:a16="http://schemas.microsoft.com/office/drawing/2014/main" val="1864175994"/>
                    </a:ext>
                  </a:extLst>
                </a:gridCol>
                <a:gridCol w="460988">
                  <a:extLst>
                    <a:ext uri="{9D8B030D-6E8A-4147-A177-3AD203B41FA5}">
                      <a16:colId xmlns="" xmlns:a16="http://schemas.microsoft.com/office/drawing/2014/main" val="2631919667"/>
                    </a:ext>
                  </a:extLst>
                </a:gridCol>
                <a:gridCol w="460988">
                  <a:extLst>
                    <a:ext uri="{9D8B030D-6E8A-4147-A177-3AD203B41FA5}">
                      <a16:colId xmlns="" xmlns:a16="http://schemas.microsoft.com/office/drawing/2014/main" val="411860201"/>
                    </a:ext>
                  </a:extLst>
                </a:gridCol>
                <a:gridCol w="460988">
                  <a:extLst>
                    <a:ext uri="{9D8B030D-6E8A-4147-A177-3AD203B41FA5}">
                      <a16:colId xmlns="" xmlns:a16="http://schemas.microsoft.com/office/drawing/2014/main" val="677193822"/>
                    </a:ext>
                  </a:extLst>
                </a:gridCol>
                <a:gridCol w="460988">
                  <a:extLst>
                    <a:ext uri="{9D8B030D-6E8A-4147-A177-3AD203B41FA5}">
                      <a16:colId xmlns="" xmlns:a16="http://schemas.microsoft.com/office/drawing/2014/main" val="43381407"/>
                    </a:ext>
                  </a:extLst>
                </a:gridCol>
                <a:gridCol w="460988">
                  <a:extLst>
                    <a:ext uri="{9D8B030D-6E8A-4147-A177-3AD203B41FA5}">
                      <a16:colId xmlns="" xmlns:a16="http://schemas.microsoft.com/office/drawing/2014/main" val="3199433362"/>
                    </a:ext>
                  </a:extLst>
                </a:gridCol>
                <a:gridCol w="460988">
                  <a:extLst>
                    <a:ext uri="{9D8B030D-6E8A-4147-A177-3AD203B41FA5}">
                      <a16:colId xmlns="" xmlns:a16="http://schemas.microsoft.com/office/drawing/2014/main" val="3925850072"/>
                    </a:ext>
                  </a:extLst>
                </a:gridCol>
                <a:gridCol w="460988">
                  <a:extLst>
                    <a:ext uri="{9D8B030D-6E8A-4147-A177-3AD203B41FA5}">
                      <a16:colId xmlns="" xmlns:a16="http://schemas.microsoft.com/office/drawing/2014/main" val="2274458308"/>
                    </a:ext>
                  </a:extLst>
                </a:gridCol>
              </a:tblGrid>
              <a:tr h="492055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</a:t>
                      </a:r>
                    </a:p>
                  </a:txBody>
                  <a:tcPr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2</a:t>
                      </a:r>
                    </a:p>
                  </a:txBody>
                  <a:tcPr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3</a:t>
                      </a:r>
                    </a:p>
                  </a:txBody>
                  <a:tcPr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4</a:t>
                      </a:r>
                    </a:p>
                  </a:txBody>
                  <a:tcPr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5</a:t>
                      </a:r>
                    </a:p>
                  </a:txBody>
                  <a:tcPr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6</a:t>
                      </a:r>
                    </a:p>
                  </a:txBody>
                  <a:tcPr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7</a:t>
                      </a:r>
                    </a:p>
                  </a:txBody>
                  <a:tcPr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8</a:t>
                      </a:r>
                    </a:p>
                  </a:txBody>
                  <a:tcPr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9</a:t>
                      </a:r>
                    </a:p>
                  </a:txBody>
                  <a:tcPr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10</a:t>
                      </a:r>
                    </a:p>
                  </a:txBody>
                  <a:tcPr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11</a:t>
                      </a:r>
                    </a:p>
                  </a:txBody>
                  <a:tcPr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12</a:t>
                      </a:r>
                    </a:p>
                  </a:txBody>
                  <a:tcPr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13</a:t>
                      </a:r>
                    </a:p>
                  </a:txBody>
                  <a:tcPr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14</a:t>
                      </a:r>
                    </a:p>
                  </a:txBody>
                  <a:tcPr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15</a:t>
                      </a:r>
                    </a:p>
                  </a:txBody>
                  <a:tcPr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16</a:t>
                      </a:r>
                    </a:p>
                  </a:txBody>
                  <a:tcPr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17</a:t>
                      </a:r>
                    </a:p>
                  </a:txBody>
                  <a:tcPr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18</a:t>
                      </a:r>
                    </a:p>
                  </a:txBody>
                  <a:tcPr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2578455000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P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368141251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IN" sz="24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7408671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7517" y="2266820"/>
            <a:ext cx="36000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/>
          <p:cNvSpPr/>
          <p:nvPr/>
        </p:nvSpPr>
        <p:spPr>
          <a:xfrm>
            <a:off x="1005409" y="2266820"/>
            <a:ext cx="36000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/>
          <p:cNvSpPr/>
          <p:nvPr/>
        </p:nvSpPr>
        <p:spPr>
          <a:xfrm>
            <a:off x="1469490" y="2266820"/>
            <a:ext cx="36000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/>
          <p:cNvSpPr/>
          <p:nvPr/>
        </p:nvSpPr>
        <p:spPr>
          <a:xfrm>
            <a:off x="1927382" y="2266820"/>
            <a:ext cx="36000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/>
          <p:cNvSpPr/>
          <p:nvPr/>
        </p:nvSpPr>
        <p:spPr>
          <a:xfrm>
            <a:off x="2390002" y="2261111"/>
            <a:ext cx="36000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/>
          <p:cNvSpPr/>
          <p:nvPr/>
        </p:nvSpPr>
        <p:spPr>
          <a:xfrm>
            <a:off x="2847894" y="2261111"/>
            <a:ext cx="36000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/>
          <p:cNvSpPr/>
          <p:nvPr/>
        </p:nvSpPr>
        <p:spPr>
          <a:xfrm>
            <a:off x="3311975" y="2261111"/>
            <a:ext cx="36000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/>
          <p:cNvSpPr/>
          <p:nvPr/>
        </p:nvSpPr>
        <p:spPr>
          <a:xfrm>
            <a:off x="3769867" y="2261111"/>
            <a:ext cx="36000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/>
          <p:cNvSpPr/>
          <p:nvPr/>
        </p:nvSpPr>
        <p:spPr>
          <a:xfrm>
            <a:off x="4225095" y="2265303"/>
            <a:ext cx="36000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/>
          <p:cNvSpPr/>
          <p:nvPr/>
        </p:nvSpPr>
        <p:spPr>
          <a:xfrm>
            <a:off x="4682987" y="2265303"/>
            <a:ext cx="36000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/>
          <p:cNvSpPr/>
          <p:nvPr/>
        </p:nvSpPr>
        <p:spPr>
          <a:xfrm>
            <a:off x="5147068" y="2265303"/>
            <a:ext cx="36000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 47"/>
          <p:cNvSpPr/>
          <p:nvPr/>
        </p:nvSpPr>
        <p:spPr>
          <a:xfrm>
            <a:off x="5604960" y="2265303"/>
            <a:ext cx="36000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/>
          <p:cNvSpPr/>
          <p:nvPr/>
        </p:nvSpPr>
        <p:spPr>
          <a:xfrm>
            <a:off x="6067580" y="2259594"/>
            <a:ext cx="36000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6525472" y="2259594"/>
            <a:ext cx="36000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/>
          <p:cNvSpPr/>
          <p:nvPr/>
        </p:nvSpPr>
        <p:spPr>
          <a:xfrm>
            <a:off x="6989553" y="2259594"/>
            <a:ext cx="36000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/>
          <p:cNvSpPr/>
          <p:nvPr/>
        </p:nvSpPr>
        <p:spPr>
          <a:xfrm>
            <a:off x="7447445" y="2259594"/>
            <a:ext cx="36000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/>
          <p:cNvSpPr/>
          <p:nvPr/>
        </p:nvSpPr>
        <p:spPr>
          <a:xfrm>
            <a:off x="7902673" y="2259594"/>
            <a:ext cx="36000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/>
          <p:cNvSpPr/>
          <p:nvPr/>
        </p:nvSpPr>
        <p:spPr>
          <a:xfrm>
            <a:off x="8360565" y="2259594"/>
            <a:ext cx="36000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/>
          <p:cNvGrpSpPr/>
          <p:nvPr/>
        </p:nvGrpSpPr>
        <p:grpSpPr>
          <a:xfrm>
            <a:off x="1005409" y="595361"/>
            <a:ext cx="360000" cy="822341"/>
            <a:chOff x="1005409" y="586217"/>
            <a:chExt cx="360000" cy="822341"/>
          </a:xfrm>
        </p:grpSpPr>
        <p:cxnSp>
          <p:nvCxnSpPr>
            <p:cNvPr id="56" name="Straight Arrow Connector 55"/>
            <p:cNvCxnSpPr/>
            <p:nvPr/>
          </p:nvCxnSpPr>
          <p:spPr>
            <a:xfrm>
              <a:off x="1185409" y="1091723"/>
              <a:ext cx="0" cy="31683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1005409" y="586217"/>
              <a:ext cx="36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q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397058" y="674693"/>
            <a:ext cx="660917" cy="745213"/>
            <a:chOff x="5983749" y="3399774"/>
            <a:chExt cx="660917" cy="745213"/>
          </a:xfrm>
        </p:grpSpPr>
        <p:cxnSp>
          <p:nvCxnSpPr>
            <p:cNvPr id="62" name="Straight Arrow Connector 61"/>
            <p:cNvCxnSpPr/>
            <p:nvPr/>
          </p:nvCxnSpPr>
          <p:spPr>
            <a:xfrm>
              <a:off x="6323332" y="3828152"/>
              <a:ext cx="0" cy="31683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5983749" y="3399774"/>
              <a:ext cx="6609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k+1</a:t>
              </a:r>
            </a:p>
          </p:txBody>
        </p:sp>
      </p:grpSp>
      <p:sp>
        <p:nvSpPr>
          <p:cNvPr id="55" name="Rounded Rectangle 54"/>
          <p:cNvSpPr/>
          <p:nvPr/>
        </p:nvSpPr>
        <p:spPr>
          <a:xfrm>
            <a:off x="94901" y="4070926"/>
            <a:ext cx="4319972" cy="12601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  <a:latin typeface="+mj-lt"/>
              </a:rPr>
              <a:t>Initially set </a:t>
            </a:r>
            <a:r>
              <a:rPr lang="en-US" sz="2400" b="1" dirty="0">
                <a:solidFill>
                  <a:schemeClr val="tx1"/>
                </a:solidFill>
              </a:rPr>
              <a:t>π[1] = 0</a:t>
            </a:r>
          </a:p>
          <a:p>
            <a:r>
              <a:rPr lang="en-US" sz="2400" dirty="0">
                <a:solidFill>
                  <a:schemeClr val="tx1"/>
                </a:solidFill>
                <a:latin typeface="+mj-lt"/>
              </a:rPr>
              <a:t>k is the longest prefix found</a:t>
            </a:r>
          </a:p>
          <a:p>
            <a:r>
              <a:rPr lang="en-US" sz="2400" dirty="0">
                <a:solidFill>
                  <a:schemeClr val="tx1"/>
                </a:solidFill>
                <a:latin typeface="+mj-lt"/>
              </a:rPr>
              <a:t>q is the current index of pattern</a:t>
            </a:r>
            <a:endParaRPr lang="en-IN" sz="24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35496" y="674693"/>
            <a:ext cx="9001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475051" y="3360483"/>
            <a:ext cx="1393633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 </a:t>
            </a:r>
            <a:r>
              <a:rPr lang="en-IN" sz="24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endParaRPr lang="en-IN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88592" y="2818507"/>
            <a:ext cx="1393633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  =  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616" y="2854511"/>
            <a:ext cx="569858" cy="3960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15953" y="3360509"/>
            <a:ext cx="569858" cy="46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23783" y="3358225"/>
            <a:ext cx="569858" cy="46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59" name="Flowchart: Decision 58"/>
          <p:cNvSpPr/>
          <p:nvPr/>
        </p:nvSpPr>
        <p:spPr>
          <a:xfrm>
            <a:off x="3622400" y="2970212"/>
            <a:ext cx="4283968" cy="1044116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P[k+1]==P[q]</a:t>
            </a:r>
          </a:p>
        </p:txBody>
      </p:sp>
      <p:sp>
        <p:nvSpPr>
          <p:cNvPr id="60" name="Flowchart: Decision 59"/>
          <p:cNvSpPr/>
          <p:nvPr/>
        </p:nvSpPr>
        <p:spPr>
          <a:xfrm>
            <a:off x="2452016" y="4014551"/>
            <a:ext cx="1584176" cy="576064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k&gt;0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06368" y="4905165"/>
            <a:ext cx="1224136" cy="5400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k=k+1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28180" y="4915126"/>
            <a:ext cx="1224136" cy="5400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k=</a:t>
            </a:r>
            <a:r>
              <a:rPr lang="el-GR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π</a:t>
            </a:r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[k]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52316" y="6174568"/>
            <a:ext cx="1224136" cy="5400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π</a:t>
            </a:r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[q]=k</a:t>
            </a:r>
          </a:p>
        </p:txBody>
      </p:sp>
      <p:cxnSp>
        <p:nvCxnSpPr>
          <p:cNvPr id="68" name="Elbow Connector 67"/>
          <p:cNvCxnSpPr>
            <a:stCxn id="59" idx="1"/>
            <a:endCxn id="60" idx="0"/>
          </p:cNvCxnSpPr>
          <p:nvPr/>
        </p:nvCxnSpPr>
        <p:spPr>
          <a:xfrm rot="10800000" flipV="1">
            <a:off x="3244104" y="3492269"/>
            <a:ext cx="378296" cy="52228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>
            <a:stCxn id="59" idx="3"/>
            <a:endCxn id="61" idx="0"/>
          </p:cNvCxnSpPr>
          <p:nvPr/>
        </p:nvCxnSpPr>
        <p:spPr>
          <a:xfrm>
            <a:off x="7906368" y="3492270"/>
            <a:ext cx="612068" cy="14128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/>
          <p:cNvCxnSpPr>
            <a:stCxn id="60" idx="3"/>
            <a:endCxn id="66" idx="0"/>
          </p:cNvCxnSpPr>
          <p:nvPr/>
        </p:nvCxnSpPr>
        <p:spPr>
          <a:xfrm>
            <a:off x="4036192" y="4302583"/>
            <a:ext cx="504056" cy="6125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74"/>
          <p:cNvCxnSpPr>
            <a:stCxn id="60" idx="1"/>
            <a:endCxn id="67" idx="1"/>
          </p:cNvCxnSpPr>
          <p:nvPr/>
        </p:nvCxnSpPr>
        <p:spPr>
          <a:xfrm rot="10800000" flipH="1" flipV="1">
            <a:off x="2452016" y="4302582"/>
            <a:ext cx="2700300" cy="2142015"/>
          </a:xfrm>
          <a:prstGeom prst="bentConnector3">
            <a:avLst>
              <a:gd name="adj1" fmla="val -84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/>
          <p:cNvCxnSpPr>
            <a:stCxn id="61" idx="2"/>
            <a:endCxn id="67" idx="3"/>
          </p:cNvCxnSpPr>
          <p:nvPr/>
        </p:nvCxnSpPr>
        <p:spPr>
          <a:xfrm rot="5400000">
            <a:off x="6947758" y="4873919"/>
            <a:ext cx="999373" cy="21419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/>
          <p:cNvCxnSpPr>
            <a:stCxn id="66" idx="3"/>
            <a:endCxn id="59" idx="2"/>
          </p:cNvCxnSpPr>
          <p:nvPr/>
        </p:nvCxnSpPr>
        <p:spPr>
          <a:xfrm flipV="1">
            <a:off x="5152316" y="4014328"/>
            <a:ext cx="612068" cy="11708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7861236" y="3065327"/>
            <a:ext cx="7023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true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49382" y="3919600"/>
            <a:ext cx="7023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true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067725" y="3065327"/>
            <a:ext cx="7023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false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36494" y="3919600"/>
            <a:ext cx="7023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false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133233" y="2814562"/>
            <a:ext cx="569858" cy="46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37750" y="2810565"/>
            <a:ext cx="569858" cy="46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38108" y="3352489"/>
            <a:ext cx="569858" cy="46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23116" y="3355917"/>
            <a:ext cx="569858" cy="46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15616" y="2824295"/>
            <a:ext cx="569858" cy="46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08123" y="3345385"/>
            <a:ext cx="569858" cy="46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28872" y="2833327"/>
            <a:ext cx="569858" cy="46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115616" y="2799646"/>
            <a:ext cx="569858" cy="46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28872" y="3347643"/>
            <a:ext cx="569858" cy="46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29109" y="2808826"/>
            <a:ext cx="569858" cy="46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30696" y="3350824"/>
            <a:ext cx="569858" cy="46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154338" y="2837164"/>
            <a:ext cx="569858" cy="46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132578" y="3373126"/>
            <a:ext cx="569858" cy="46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18</a:t>
            </a:r>
          </a:p>
        </p:txBody>
      </p:sp>
      <p:grpSp>
        <p:nvGrpSpPr>
          <p:cNvPr id="92" name="Group 91"/>
          <p:cNvGrpSpPr/>
          <p:nvPr/>
        </p:nvGrpSpPr>
        <p:grpSpPr>
          <a:xfrm>
            <a:off x="5458350" y="706440"/>
            <a:ext cx="660917" cy="745213"/>
            <a:chOff x="5983749" y="3399774"/>
            <a:chExt cx="660917" cy="745213"/>
          </a:xfrm>
        </p:grpSpPr>
        <p:cxnSp>
          <p:nvCxnSpPr>
            <p:cNvPr id="93" name="Straight Arrow Connector 92"/>
            <p:cNvCxnSpPr/>
            <p:nvPr/>
          </p:nvCxnSpPr>
          <p:spPr>
            <a:xfrm>
              <a:off x="6323332" y="3828152"/>
              <a:ext cx="0" cy="31683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>
            <a:xfrm>
              <a:off x="5983749" y="3399774"/>
              <a:ext cx="6609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k+1</a:t>
              </a: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8401722" y="621797"/>
            <a:ext cx="360000" cy="822341"/>
            <a:chOff x="1005409" y="586217"/>
            <a:chExt cx="360000" cy="822341"/>
          </a:xfrm>
        </p:grpSpPr>
        <p:cxnSp>
          <p:nvCxnSpPr>
            <p:cNvPr id="96" name="Straight Arrow Connector 95"/>
            <p:cNvCxnSpPr/>
            <p:nvPr/>
          </p:nvCxnSpPr>
          <p:spPr>
            <a:xfrm>
              <a:off x="1185409" y="1091723"/>
              <a:ext cx="0" cy="31683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97" name="TextBox 96"/>
            <p:cNvSpPr txBox="1"/>
            <p:nvPr/>
          </p:nvSpPr>
          <p:spPr>
            <a:xfrm>
              <a:off x="1005409" y="586217"/>
              <a:ext cx="360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q</a:t>
              </a:r>
            </a:p>
          </p:txBody>
        </p:sp>
      </p:grpSp>
      <p:sp>
        <p:nvSpPr>
          <p:cNvPr id="98" name="Rectangle 97"/>
          <p:cNvSpPr/>
          <p:nvPr/>
        </p:nvSpPr>
        <p:spPr>
          <a:xfrm>
            <a:off x="1154338" y="2812484"/>
            <a:ext cx="569858" cy="46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55550" y="2826006"/>
            <a:ext cx="569858" cy="46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179567" y="2796852"/>
            <a:ext cx="569858" cy="46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4723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7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7.40741E-7 L 0.05278 0.00023 " pathEditMode="relative" rAng="0" ptsTypes="AA">
                                      <p:cBhvr>
                                        <p:cTn id="10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6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7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8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09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3.7037E-6 L 0.05 -0.00579 " pathEditMode="relative" rAng="0" ptsTypes="AA">
                                      <p:cBhvr>
                                        <p:cTn id="127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-301"/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278 0.00023 L 0.10278 0.00046 " pathEditMode="relative" rAng="0" ptsTypes="AA">
                                      <p:cBhvr>
                                        <p:cTn id="12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1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3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4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5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36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 -0.00578 L 0.10278 -0.00556 " pathEditMode="relative" rAng="0" ptsTypes="AA">
                                      <p:cBhvr>
                                        <p:cTn id="152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22" y="-208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278 0.00047 L 0.15 0.00555 " pathEditMode="relative" rAng="0" ptsTypes="AA">
                                      <p:cBhvr>
                                        <p:cTn id="15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1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1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5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6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6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278 -0.00556 L 0.15278 -0.00533 " pathEditMode="relative" rAng="0" ptsTypes="AA">
                                      <p:cBhvr>
                                        <p:cTn id="177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486"/>
                                    </p:animMotion>
                                  </p:childTnLst>
                                </p:cTn>
                              </p:par>
                              <p:par>
                                <p:cTn id="17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 0.00555 L 0.20122 0.00046 " pathEditMode="relative" rAng="0" ptsTypes="AA">
                                      <p:cBhvr>
                                        <p:cTn id="17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1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1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8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8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8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8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278 -0.00533 L 0.05 -0.00579 " pathEditMode="relative" rAng="0" ptsTypes="AA">
                                      <p:cBhvr>
                                        <p:cTn id="194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39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1" presetClass="emph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9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9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0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85185E-6 L -3.88889E-6 3.7037E-6 " pathEditMode="relative" rAng="0" ptsTypes="AA">
                                      <p:cBhvr>
                                        <p:cTn id="209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17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1" presetClass="emph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1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1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121 0.00046 L 0.25243 0.00417 " pathEditMode="relative" rAng="0" ptsTypes="AA">
                                      <p:cBhvr>
                                        <p:cTn id="228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-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1" presetClass="emph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3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3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3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3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243 0.00417 L 0.30243 -0.00301 " pathEditMode="relative" rAng="0" ptsTypes="AA">
                                      <p:cBhvr>
                                        <p:cTn id="25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2" y="-1019"/>
                                    </p:animMotion>
                                  </p:childTnLst>
                                </p:cTn>
                              </p:par>
                              <p:par>
                                <p:cTn id="25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3.7037E-6 L 0.05 -0.00579 " pathEditMode="relative" rAng="0" ptsTypes="AA">
                                      <p:cBhvr>
                                        <p:cTn id="253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08" y="-14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indefinite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07407E-6 L -0.30226 -0.00995 " pathEditMode="relative" rAng="0" ptsTypes="AA">
                                      <p:cBhvr>
                                        <p:cTn id="361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115" y="1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0226 -0.00996 L -0.4007 -0.00995 " pathEditMode="relative" rAng="0" ptsTypes="AA">
                                      <p:cBhvr>
                                        <p:cTn id="369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67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5" grpId="1" build="allAtOnce" animBg="1"/>
      <p:bldP spid="63" grpId="0" animBg="1"/>
      <p:bldP spid="63" grpId="1" animBg="1"/>
      <p:bldP spid="63" grpId="2" animBg="1"/>
      <p:bldP spid="70" grpId="0" animBg="1"/>
      <p:bldP spid="70" grpId="1" animBg="1"/>
      <p:bldP spid="70" grpId="2" animBg="1"/>
      <p:bldP spid="4" grpId="0" animBg="1"/>
      <p:bldP spid="4" grpId="1" animBg="1"/>
      <p:bldP spid="4" grpId="2" animBg="1"/>
      <p:bldP spid="37" grpId="0" animBg="1"/>
      <p:bldP spid="37" grpId="1" animBg="1"/>
      <p:bldP spid="37" grpId="2" animBg="1"/>
      <p:bldP spid="58" grpId="0" animBg="1"/>
      <p:bldP spid="58" grpId="1" animBg="1"/>
      <p:bldP spid="59" grpId="0" animBg="1"/>
      <p:bldP spid="59" grpId="1" animBg="1"/>
      <p:bldP spid="59" grpId="2" animBg="1"/>
      <p:bldP spid="59" grpId="3" animBg="1"/>
      <p:bldP spid="59" grpId="4" animBg="1"/>
      <p:bldP spid="59" grpId="5" animBg="1"/>
      <p:bldP spid="59" grpId="6" animBg="1"/>
      <p:bldP spid="59" grpId="7" animBg="1"/>
      <p:bldP spid="60" grpId="0" animBg="1"/>
      <p:bldP spid="61" grpId="0" animBg="1"/>
      <p:bldP spid="66" grpId="0" animBg="1"/>
      <p:bldP spid="67" grpId="0" animBg="1"/>
      <p:bldP spid="78" grpId="0"/>
      <p:bldP spid="79" grpId="0"/>
      <p:bldP spid="80" grpId="0"/>
      <p:bldP spid="81" grpId="0"/>
      <p:bldP spid="82" grpId="0" animBg="1"/>
      <p:bldP spid="82" grpId="1" animBg="1"/>
      <p:bldP spid="84" grpId="0" animBg="1"/>
      <p:bldP spid="84" grpId="1" animBg="1"/>
      <p:bldP spid="85" grpId="0" animBg="1"/>
      <p:bldP spid="85" grpId="1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83" grpId="0" animBg="1"/>
      <p:bldP spid="83" grpId="1" animBg="1"/>
      <p:bldP spid="90" grpId="0" animBg="1"/>
      <p:bldP spid="91" grpId="0" animBg="1"/>
      <p:bldP spid="98" grpId="0" animBg="1"/>
      <p:bldP spid="99" grpId="0" animBg="1"/>
      <p:bldP spid="10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KMP- Compute Prefix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COMPUTE-PREFIX-FUNCTION(P)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m ← length[P]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π[1] ← 0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k ← 0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for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q ← 2 to m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     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k &gt; 0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and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P[k + 1] ≠ P[q]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	     k ← π[k]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end while</a:t>
            </a:r>
            <a:endParaRPr lang="en-IN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P[k + 1] == P[q]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then</a:t>
            </a:r>
            <a:endParaRPr lang="en-IN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k ← k + 1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end if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π[q] ← k 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return π 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0972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Prefix Function – Example 2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9489754"/>
              </p:ext>
            </p:extLst>
          </p:nvPr>
        </p:nvGraphicFramePr>
        <p:xfrm>
          <a:off x="190500" y="1160748"/>
          <a:ext cx="87630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5375">
                  <a:extLst>
                    <a:ext uri="{9D8B030D-6E8A-4147-A177-3AD203B41FA5}">
                      <a16:colId xmlns="" xmlns:a16="http://schemas.microsoft.com/office/drawing/2014/main" val="2202277717"/>
                    </a:ext>
                  </a:extLst>
                </a:gridCol>
                <a:gridCol w="1095375">
                  <a:extLst>
                    <a:ext uri="{9D8B030D-6E8A-4147-A177-3AD203B41FA5}">
                      <a16:colId xmlns="" xmlns:a16="http://schemas.microsoft.com/office/drawing/2014/main" val="2951843952"/>
                    </a:ext>
                  </a:extLst>
                </a:gridCol>
                <a:gridCol w="1095375">
                  <a:extLst>
                    <a:ext uri="{9D8B030D-6E8A-4147-A177-3AD203B41FA5}">
                      <a16:colId xmlns="" xmlns:a16="http://schemas.microsoft.com/office/drawing/2014/main" val="1830369087"/>
                    </a:ext>
                  </a:extLst>
                </a:gridCol>
                <a:gridCol w="1095375">
                  <a:extLst>
                    <a:ext uri="{9D8B030D-6E8A-4147-A177-3AD203B41FA5}">
                      <a16:colId xmlns="" xmlns:a16="http://schemas.microsoft.com/office/drawing/2014/main" val="1960115119"/>
                    </a:ext>
                  </a:extLst>
                </a:gridCol>
                <a:gridCol w="1095375">
                  <a:extLst>
                    <a:ext uri="{9D8B030D-6E8A-4147-A177-3AD203B41FA5}">
                      <a16:colId xmlns="" xmlns:a16="http://schemas.microsoft.com/office/drawing/2014/main" val="1178936823"/>
                    </a:ext>
                  </a:extLst>
                </a:gridCol>
                <a:gridCol w="1095375">
                  <a:extLst>
                    <a:ext uri="{9D8B030D-6E8A-4147-A177-3AD203B41FA5}">
                      <a16:colId xmlns="" xmlns:a16="http://schemas.microsoft.com/office/drawing/2014/main" val="3886529607"/>
                    </a:ext>
                  </a:extLst>
                </a:gridCol>
                <a:gridCol w="1095375">
                  <a:extLst>
                    <a:ext uri="{9D8B030D-6E8A-4147-A177-3AD203B41FA5}">
                      <a16:colId xmlns="" xmlns:a16="http://schemas.microsoft.com/office/drawing/2014/main" val="3794757969"/>
                    </a:ext>
                  </a:extLst>
                </a:gridCol>
                <a:gridCol w="1095375">
                  <a:extLst>
                    <a:ext uri="{9D8B030D-6E8A-4147-A177-3AD203B41FA5}">
                      <a16:colId xmlns="" xmlns:a16="http://schemas.microsoft.com/office/drawing/2014/main" val="4039343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816471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04793158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619672" y="1664804"/>
            <a:ext cx="432048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2704481" y="1660398"/>
            <a:ext cx="432048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3847231" y="1654344"/>
            <a:ext cx="432048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4932040" y="1649938"/>
            <a:ext cx="432048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016849" y="1649938"/>
            <a:ext cx="432048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7101658" y="1645532"/>
            <a:ext cx="432048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8186467" y="1658750"/>
            <a:ext cx="432048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69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-16480" y="-135396"/>
            <a:ext cx="8763000" cy="808037"/>
          </a:xfrm>
        </p:spPr>
        <p:txBody>
          <a:bodyPr/>
          <a:lstStyle/>
          <a:p>
            <a:pPr algn="l"/>
            <a:r>
              <a:rPr lang="en-IN" dirty="0"/>
              <a:t>KMP String Matching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819390"/>
              </p:ext>
            </p:extLst>
          </p:nvPr>
        </p:nvGraphicFramePr>
        <p:xfrm>
          <a:off x="4414205" y="101600"/>
          <a:ext cx="4661215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="" xmlns:a16="http://schemas.microsoft.com/office/drawing/2014/main" val="2544549060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4208223411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57169838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101212751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2299447371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2901701410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2175626083"/>
                    </a:ext>
                  </a:extLst>
                </a:gridCol>
                <a:gridCol w="480745">
                  <a:extLst>
                    <a:ext uri="{9D8B030D-6E8A-4147-A177-3AD203B41FA5}">
                      <a16:colId xmlns="" xmlns:a16="http://schemas.microsoft.com/office/drawing/2014/main" val="438334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2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3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4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5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6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7</a:t>
                      </a: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868821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Pattern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72000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Prefix(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75290374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42007"/>
              </p:ext>
            </p:extLst>
          </p:nvPr>
        </p:nvGraphicFramePr>
        <p:xfrm>
          <a:off x="-16480" y="1664804"/>
          <a:ext cx="5715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>
                  <a:extLst>
                    <a:ext uri="{9D8B030D-6E8A-4147-A177-3AD203B41FA5}">
                      <a16:colId xmlns="" xmlns:a16="http://schemas.microsoft.com/office/drawing/2014/main" val="4093726156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1516442761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977571078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33050554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915060225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4221423625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382548069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497794280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045077772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280013042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170524262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1794445029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250762123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2260537953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3261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4819173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3250" y="2384492"/>
            <a:ext cx="3816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744850" y="2384492"/>
            <a:ext cx="3816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c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1126450" y="2384492"/>
            <a:ext cx="3816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1508050" y="2384492"/>
            <a:ext cx="3816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c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1890464" y="2384492"/>
            <a:ext cx="3816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2271250" y="2384492"/>
            <a:ext cx="3816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g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2652036" y="2384492"/>
            <a:ext cx="3816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t</a:t>
            </a:r>
            <a:endParaRPr lang="en-IN" dirty="0"/>
          </a:p>
        </p:txBody>
      </p:sp>
      <p:sp>
        <p:nvSpPr>
          <p:cNvPr id="25" name="Rounded Rectangular Callout 24"/>
          <p:cNvSpPr/>
          <p:nvPr/>
        </p:nvSpPr>
        <p:spPr>
          <a:xfrm>
            <a:off x="3923928" y="2245540"/>
            <a:ext cx="5004556" cy="596152"/>
          </a:xfrm>
          <a:prstGeom prst="wedgeRoundRectCallout">
            <a:avLst>
              <a:gd name="adj1" fmla="val -67307"/>
              <a:gd name="adj2" fmla="val 914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tx1"/>
                </a:solidFill>
              </a:rPr>
              <a:t>Mismatch ?</a:t>
            </a:r>
          </a:p>
          <a:p>
            <a:r>
              <a:rPr lang="en-IN" sz="2000" dirty="0">
                <a:solidFill>
                  <a:schemeClr val="tx1"/>
                </a:solidFill>
              </a:rPr>
              <a:t>Check value in prefix table</a:t>
            </a:r>
          </a:p>
        </p:txBody>
      </p:sp>
      <p:sp>
        <p:nvSpPr>
          <p:cNvPr id="35" name="Rounded Rectangular Callout 34"/>
          <p:cNvSpPr/>
          <p:nvPr/>
        </p:nvSpPr>
        <p:spPr>
          <a:xfrm>
            <a:off x="4644008" y="2894344"/>
            <a:ext cx="4284476" cy="606664"/>
          </a:xfrm>
          <a:prstGeom prst="wedgeRoundRectCallout">
            <a:avLst>
              <a:gd name="adj1" fmla="val -76313"/>
              <a:gd name="adj2" fmla="val -201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tx1"/>
                </a:solidFill>
              </a:rPr>
              <a:t>We can skip 2 shifts</a:t>
            </a:r>
          </a:p>
          <a:p>
            <a:r>
              <a:rPr lang="en-IN" sz="2000" dirty="0">
                <a:solidFill>
                  <a:schemeClr val="tx1"/>
                </a:solidFill>
              </a:rPr>
              <a:t>(Skip unnecessary shifts) </a:t>
            </a:r>
          </a:p>
        </p:txBody>
      </p:sp>
      <p:cxnSp>
        <p:nvCxnSpPr>
          <p:cNvPr id="40" name="Straight Connector 39"/>
          <p:cNvCxnSpPr>
            <a:stCxn id="6" idx="0"/>
          </p:cNvCxnSpPr>
          <p:nvPr/>
        </p:nvCxnSpPr>
        <p:spPr>
          <a:xfrm flipV="1">
            <a:off x="554050" y="2122004"/>
            <a:ext cx="0" cy="2624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932778" y="2117192"/>
            <a:ext cx="0" cy="2624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1314378" y="2117192"/>
            <a:ext cx="0" cy="2624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1588214" y="2122436"/>
            <a:ext cx="173736" cy="262448"/>
          </a:xfrm>
          <a:custGeom>
            <a:avLst/>
            <a:gdLst>
              <a:gd name="connsiteX0" fmla="*/ 109728 w 173736"/>
              <a:gd name="connsiteY0" fmla="*/ 0 h 399288"/>
              <a:gd name="connsiteX1" fmla="*/ 0 w 173736"/>
              <a:gd name="connsiteY1" fmla="*/ 198120 h 399288"/>
              <a:gd name="connsiteX2" fmla="*/ 173736 w 173736"/>
              <a:gd name="connsiteY2" fmla="*/ 198120 h 399288"/>
              <a:gd name="connsiteX3" fmla="*/ 109728 w 173736"/>
              <a:gd name="connsiteY3" fmla="*/ 399288 h 39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736" h="399288">
                <a:moveTo>
                  <a:pt x="109728" y="0"/>
                </a:moveTo>
                <a:lnTo>
                  <a:pt x="0" y="198120"/>
                </a:lnTo>
                <a:lnTo>
                  <a:pt x="173736" y="198120"/>
                </a:lnTo>
                <a:lnTo>
                  <a:pt x="109728" y="399288"/>
                </a:lnTo>
              </a:path>
            </a:pathLst>
          </a:custGeom>
          <a:noFill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/>
          <p:cNvSpPr/>
          <p:nvPr/>
        </p:nvSpPr>
        <p:spPr>
          <a:xfrm>
            <a:off x="7164288" y="1016732"/>
            <a:ext cx="468052" cy="4564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3" name="Group 52"/>
          <p:cNvGrpSpPr/>
          <p:nvPr/>
        </p:nvGrpSpPr>
        <p:grpSpPr>
          <a:xfrm>
            <a:off x="741499" y="2926676"/>
            <a:ext cx="2670386" cy="457200"/>
            <a:chOff x="519018" y="2999262"/>
            <a:chExt cx="2670386" cy="457200"/>
          </a:xfrm>
        </p:grpSpPr>
        <p:sp>
          <p:nvSpPr>
            <p:cNvPr id="46" name="TextBox 45"/>
            <p:cNvSpPr txBox="1"/>
            <p:nvPr/>
          </p:nvSpPr>
          <p:spPr>
            <a:xfrm>
              <a:off x="519018" y="2999262"/>
              <a:ext cx="381600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N" sz="2400" dirty="0"/>
                <a:t>a</a:t>
              </a:r>
              <a:endParaRPr lang="en-IN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00618" y="2999262"/>
              <a:ext cx="381600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N" sz="2400" dirty="0"/>
                <a:t>c</a:t>
              </a:r>
              <a:endParaRPr lang="en-IN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282218" y="2999262"/>
              <a:ext cx="381600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N" sz="2400" dirty="0"/>
                <a:t>a</a:t>
              </a:r>
              <a:endParaRPr lang="en-IN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663818" y="2999262"/>
              <a:ext cx="381600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N" sz="2400" dirty="0"/>
                <a:t>c</a:t>
              </a:r>
              <a:endParaRPr lang="en-IN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046232" y="2999262"/>
              <a:ext cx="381600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N" sz="2400" dirty="0"/>
                <a:t>a</a:t>
              </a:r>
              <a:endParaRPr lang="en-IN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427018" y="2999262"/>
              <a:ext cx="381600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N" sz="2400" dirty="0"/>
                <a:t>g</a:t>
              </a:r>
              <a:endParaRPr lang="en-IN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807804" y="2999262"/>
              <a:ext cx="381600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N" sz="2400" dirty="0"/>
                <a:t>t</a:t>
              </a:r>
              <a:endParaRPr lang="en-IN" dirty="0"/>
            </a:p>
          </p:txBody>
        </p:sp>
      </p:grpSp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913757"/>
              </p:ext>
            </p:extLst>
          </p:nvPr>
        </p:nvGraphicFramePr>
        <p:xfrm>
          <a:off x="-22200" y="3753036"/>
          <a:ext cx="5715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>
                  <a:extLst>
                    <a:ext uri="{9D8B030D-6E8A-4147-A177-3AD203B41FA5}">
                      <a16:colId xmlns="" xmlns:a16="http://schemas.microsoft.com/office/drawing/2014/main" val="4093726156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1516442761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977571078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33050554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915060225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4221423625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382548069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497794280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045077772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280013042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170524262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1794445029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250762123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2260537953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3261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48191738"/>
                  </a:ext>
                </a:extLst>
              </a:tr>
            </a:tbl>
          </a:graphicData>
        </a:graphic>
      </p:graphicFrame>
      <p:grpSp>
        <p:nvGrpSpPr>
          <p:cNvPr id="85" name="Group 84"/>
          <p:cNvGrpSpPr/>
          <p:nvPr/>
        </p:nvGrpSpPr>
        <p:grpSpPr>
          <a:xfrm>
            <a:off x="1492909" y="4472724"/>
            <a:ext cx="2670386" cy="457200"/>
            <a:chOff x="1492909" y="4472724"/>
            <a:chExt cx="2670386" cy="457200"/>
          </a:xfrm>
        </p:grpSpPr>
        <p:sp>
          <p:nvSpPr>
            <p:cNvPr id="77" name="TextBox 76"/>
            <p:cNvSpPr txBox="1"/>
            <p:nvPr/>
          </p:nvSpPr>
          <p:spPr>
            <a:xfrm>
              <a:off x="1492909" y="4472724"/>
              <a:ext cx="381600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N" sz="2400" dirty="0"/>
                <a:t>a</a:t>
              </a:r>
              <a:endParaRPr lang="en-IN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874509" y="4472724"/>
              <a:ext cx="381600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N" sz="2400" dirty="0"/>
                <a:t>c</a:t>
              </a:r>
              <a:endParaRPr lang="en-IN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2256109" y="4472724"/>
              <a:ext cx="381600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N" sz="2400" dirty="0"/>
                <a:t>a</a:t>
              </a:r>
              <a:endParaRPr lang="en-IN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2637709" y="4472724"/>
              <a:ext cx="381600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N" sz="2400" dirty="0"/>
                <a:t>c</a:t>
              </a:r>
              <a:endParaRPr lang="en-IN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3020123" y="4472724"/>
              <a:ext cx="381600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N" sz="2400" dirty="0"/>
                <a:t>a</a:t>
              </a:r>
              <a:endParaRPr lang="en-IN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400909" y="4472724"/>
              <a:ext cx="381600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N" sz="2400" dirty="0"/>
                <a:t>g</a:t>
              </a:r>
              <a:endParaRPr lang="en-IN" dirty="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3781695" y="4472724"/>
              <a:ext cx="381600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N" sz="2400" dirty="0"/>
                <a:t>t</a:t>
              </a:r>
              <a:endParaRPr lang="en-IN" dirty="0"/>
            </a:p>
          </p:txBody>
        </p:sp>
      </p:grpSp>
      <p:sp>
        <p:nvSpPr>
          <p:cNvPr id="84" name="Freeform 83"/>
          <p:cNvSpPr/>
          <p:nvPr/>
        </p:nvSpPr>
        <p:spPr>
          <a:xfrm>
            <a:off x="1586295" y="4210276"/>
            <a:ext cx="173736" cy="262448"/>
          </a:xfrm>
          <a:custGeom>
            <a:avLst/>
            <a:gdLst>
              <a:gd name="connsiteX0" fmla="*/ 109728 w 173736"/>
              <a:gd name="connsiteY0" fmla="*/ 0 h 399288"/>
              <a:gd name="connsiteX1" fmla="*/ 0 w 173736"/>
              <a:gd name="connsiteY1" fmla="*/ 198120 h 399288"/>
              <a:gd name="connsiteX2" fmla="*/ 173736 w 173736"/>
              <a:gd name="connsiteY2" fmla="*/ 198120 h 399288"/>
              <a:gd name="connsiteX3" fmla="*/ 109728 w 173736"/>
              <a:gd name="connsiteY3" fmla="*/ 399288 h 39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736" h="399288">
                <a:moveTo>
                  <a:pt x="109728" y="0"/>
                </a:moveTo>
                <a:lnTo>
                  <a:pt x="0" y="198120"/>
                </a:lnTo>
                <a:lnTo>
                  <a:pt x="173736" y="198120"/>
                </a:lnTo>
                <a:lnTo>
                  <a:pt x="109728" y="399288"/>
                </a:lnTo>
              </a:path>
            </a:pathLst>
          </a:custGeom>
          <a:noFill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Rounded Rectangular Callout 85"/>
          <p:cNvSpPr/>
          <p:nvPr/>
        </p:nvSpPr>
        <p:spPr>
          <a:xfrm>
            <a:off x="5076056" y="4341500"/>
            <a:ext cx="3852428" cy="596152"/>
          </a:xfrm>
          <a:prstGeom prst="wedgeRoundRectCallout">
            <a:avLst>
              <a:gd name="adj1" fmla="val -72865"/>
              <a:gd name="adj2" fmla="val 914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tx1"/>
                </a:solidFill>
              </a:rPr>
              <a:t>Mismatch ?</a:t>
            </a:r>
          </a:p>
          <a:p>
            <a:r>
              <a:rPr lang="en-IN" sz="2000" dirty="0">
                <a:solidFill>
                  <a:schemeClr val="tx1"/>
                </a:solidFill>
              </a:rPr>
              <a:t>Check value in prefix table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721208" y="1016732"/>
            <a:ext cx="468052" cy="4564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6" name="Table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308503"/>
              </p:ext>
            </p:extLst>
          </p:nvPr>
        </p:nvGraphicFramePr>
        <p:xfrm>
          <a:off x="-18119" y="5231475"/>
          <a:ext cx="5715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>
                  <a:extLst>
                    <a:ext uri="{9D8B030D-6E8A-4147-A177-3AD203B41FA5}">
                      <a16:colId xmlns="" xmlns:a16="http://schemas.microsoft.com/office/drawing/2014/main" val="4093726156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1516442761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977571078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33050554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915060225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4221423625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382548069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497794280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045077772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280013042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170524262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1794445029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250762123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2260537953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33261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48191738"/>
                  </a:ext>
                </a:extLst>
              </a:tr>
            </a:tbl>
          </a:graphicData>
        </a:graphic>
      </p:graphicFrame>
      <p:sp>
        <p:nvSpPr>
          <p:cNvPr id="98" name="TextBox 97"/>
          <p:cNvSpPr txBox="1"/>
          <p:nvPr/>
        </p:nvSpPr>
        <p:spPr>
          <a:xfrm>
            <a:off x="1887185" y="5946200"/>
            <a:ext cx="3816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99" name="TextBox 98"/>
          <p:cNvSpPr txBox="1"/>
          <p:nvPr/>
        </p:nvSpPr>
        <p:spPr>
          <a:xfrm>
            <a:off x="2268785" y="5946200"/>
            <a:ext cx="3816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c</a:t>
            </a:r>
            <a:endParaRPr lang="en-IN" dirty="0"/>
          </a:p>
        </p:txBody>
      </p:sp>
      <p:sp>
        <p:nvSpPr>
          <p:cNvPr id="100" name="TextBox 99"/>
          <p:cNvSpPr txBox="1"/>
          <p:nvPr/>
        </p:nvSpPr>
        <p:spPr>
          <a:xfrm>
            <a:off x="2650385" y="5946200"/>
            <a:ext cx="3816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101" name="TextBox 100"/>
          <p:cNvSpPr txBox="1"/>
          <p:nvPr/>
        </p:nvSpPr>
        <p:spPr>
          <a:xfrm>
            <a:off x="3031985" y="5946200"/>
            <a:ext cx="3816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c</a:t>
            </a:r>
            <a:endParaRPr lang="en-IN" dirty="0"/>
          </a:p>
        </p:txBody>
      </p:sp>
      <p:sp>
        <p:nvSpPr>
          <p:cNvPr id="102" name="TextBox 101"/>
          <p:cNvSpPr txBox="1"/>
          <p:nvPr/>
        </p:nvSpPr>
        <p:spPr>
          <a:xfrm>
            <a:off x="3414399" y="5946200"/>
            <a:ext cx="3816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a</a:t>
            </a:r>
            <a:endParaRPr lang="en-IN" dirty="0"/>
          </a:p>
        </p:txBody>
      </p:sp>
      <p:sp>
        <p:nvSpPr>
          <p:cNvPr id="103" name="TextBox 102"/>
          <p:cNvSpPr txBox="1"/>
          <p:nvPr/>
        </p:nvSpPr>
        <p:spPr>
          <a:xfrm>
            <a:off x="3795185" y="5946200"/>
            <a:ext cx="3816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g</a:t>
            </a:r>
            <a:endParaRPr lang="en-IN" dirty="0"/>
          </a:p>
        </p:txBody>
      </p:sp>
      <p:sp>
        <p:nvSpPr>
          <p:cNvPr id="104" name="TextBox 103"/>
          <p:cNvSpPr txBox="1"/>
          <p:nvPr/>
        </p:nvSpPr>
        <p:spPr>
          <a:xfrm>
            <a:off x="4175971" y="5946200"/>
            <a:ext cx="3816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/>
              <a:t>t</a:t>
            </a:r>
            <a:endParaRPr lang="en-IN" dirty="0"/>
          </a:p>
        </p:txBody>
      </p:sp>
      <p:sp>
        <p:nvSpPr>
          <p:cNvPr id="105" name="Multiply 104"/>
          <p:cNvSpPr/>
          <p:nvPr/>
        </p:nvSpPr>
        <p:spPr>
          <a:xfrm>
            <a:off x="107871" y="2926676"/>
            <a:ext cx="504056" cy="510599"/>
          </a:xfrm>
          <a:prstGeom prst="mathMultiply">
            <a:avLst>
              <a:gd name="adj1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4" name="Straight Connector 53"/>
          <p:cNvCxnSpPr/>
          <p:nvPr/>
        </p:nvCxnSpPr>
        <p:spPr>
          <a:xfrm flipV="1">
            <a:off x="2090573" y="5687739"/>
            <a:ext cx="0" cy="2624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2462178" y="5677301"/>
            <a:ext cx="0" cy="2624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2767746" y="5694434"/>
            <a:ext cx="173736" cy="262448"/>
          </a:xfrm>
          <a:custGeom>
            <a:avLst/>
            <a:gdLst>
              <a:gd name="connsiteX0" fmla="*/ 109728 w 173736"/>
              <a:gd name="connsiteY0" fmla="*/ 0 h 399288"/>
              <a:gd name="connsiteX1" fmla="*/ 0 w 173736"/>
              <a:gd name="connsiteY1" fmla="*/ 198120 h 399288"/>
              <a:gd name="connsiteX2" fmla="*/ 173736 w 173736"/>
              <a:gd name="connsiteY2" fmla="*/ 198120 h 399288"/>
              <a:gd name="connsiteX3" fmla="*/ 109728 w 173736"/>
              <a:gd name="connsiteY3" fmla="*/ 399288 h 39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736" h="399288">
                <a:moveTo>
                  <a:pt x="109728" y="0"/>
                </a:moveTo>
                <a:lnTo>
                  <a:pt x="0" y="198120"/>
                </a:lnTo>
                <a:lnTo>
                  <a:pt x="173736" y="198120"/>
                </a:lnTo>
                <a:lnTo>
                  <a:pt x="109728" y="399288"/>
                </a:lnTo>
              </a:path>
            </a:pathLst>
          </a:custGeom>
          <a:noFill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ounded Rectangular Callout 56"/>
          <p:cNvSpPr/>
          <p:nvPr/>
        </p:nvSpPr>
        <p:spPr>
          <a:xfrm>
            <a:off x="5472100" y="5876724"/>
            <a:ext cx="3456384" cy="596152"/>
          </a:xfrm>
          <a:prstGeom prst="wedgeRoundRectCallout">
            <a:avLst>
              <a:gd name="adj1" fmla="val -72865"/>
              <a:gd name="adj2" fmla="val 914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tx1"/>
                </a:solidFill>
              </a:rPr>
              <a:t>Mismatch ?</a:t>
            </a:r>
          </a:p>
          <a:p>
            <a:r>
              <a:rPr lang="en-IN" sz="2000" dirty="0">
                <a:solidFill>
                  <a:schemeClr val="tx1"/>
                </a:solidFill>
              </a:rPr>
              <a:t>Check value in prefix table</a:t>
            </a:r>
          </a:p>
        </p:txBody>
      </p:sp>
    </p:spTree>
    <p:extLst>
      <p:ext uri="{BB962C8B-B14F-4D97-AF65-F5344CB8AC3E}">
        <p14:creationId xmlns:p14="http://schemas.microsoft.com/office/powerpoint/2010/main" val="2643027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12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129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35" grpId="0" animBg="1"/>
      <p:bldP spid="44" grpId="0" animBg="1"/>
      <p:bldP spid="45" grpId="0" animBg="1"/>
      <p:bldP spid="84" grpId="0" animBg="1"/>
      <p:bldP spid="86" grpId="0" animBg="1"/>
      <p:bldP spid="8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56" grpId="0" animBg="1"/>
      <p:bldP spid="5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KMP-MATCHER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KMP-MATCHER(T, P)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n ← length[T]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m ← length[P]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π ← COMPUTE-PREFIX-FUNCTION(P)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q ← 0                          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  <a:ea typeface="Cambria Math" panose="02040503050406030204" pitchFamily="18" charset="0"/>
              </a:rPr>
              <a:t>//Number of characters matched.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for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← 1 to n                 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  <a:ea typeface="Cambria Math" panose="02040503050406030204" pitchFamily="18" charset="0"/>
              </a:rPr>
              <a:t>//Scan the text from left to right.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    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q &gt; 0 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and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P[q + 1] ≠ T[</a:t>
            </a:r>
            <a:r>
              <a:rPr lang="en-IN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q ← π[q]    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  <a:ea typeface="Cambria Math" panose="02040503050406030204" pitchFamily="18" charset="0"/>
              </a:rPr>
              <a:t>//Next character does not match. </a:t>
            </a:r>
            <a:endParaRPr lang="en-IN" dirty="0">
              <a:solidFill>
                <a:schemeClr val="accent2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    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P[q + 1] == T[</a:t>
            </a:r>
            <a:r>
              <a:rPr lang="en-IN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] 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then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then q ← q + 1      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  <a:ea typeface="Cambria Math" panose="02040503050406030204" pitchFamily="18" charset="0"/>
              </a:rPr>
              <a:t>//Next character matches.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    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q == m 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then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  <a:ea typeface="Cambria Math" panose="02040503050406030204" pitchFamily="18" charset="0"/>
              </a:rPr>
              <a:t>//Is all of P matched?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print "Pattern occurs with shift" </a:t>
            </a:r>
            <a:r>
              <a:rPr lang="en-IN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- 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q ← π[q]    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  <a:ea typeface="Cambria Math" panose="02040503050406030204" pitchFamily="18" charset="0"/>
              </a:rPr>
              <a:t>//Look for the next match. </a:t>
            </a:r>
          </a:p>
        </p:txBody>
      </p:sp>
    </p:spTree>
    <p:extLst>
      <p:ext uri="{BB962C8B-B14F-4D97-AF65-F5344CB8AC3E}">
        <p14:creationId xmlns:p14="http://schemas.microsoft.com/office/powerpoint/2010/main" val="443339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17691</TotalTime>
  <Words>2497</Words>
  <Application>Microsoft Office PowerPoint</Application>
  <PresentationFormat>On-screen Show (4:3)</PresentationFormat>
  <Paragraphs>1013</Paragraphs>
  <Slides>25</Slides>
  <Notes>9</Notes>
  <HiddenSlides>2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Office Theme</vt:lpstr>
      <vt:lpstr>Custom Design</vt:lpstr>
      <vt:lpstr>PowerPoint Presentation</vt:lpstr>
      <vt:lpstr>Introduction</vt:lpstr>
      <vt:lpstr>Introduction – Cont…</vt:lpstr>
      <vt:lpstr>Naive String Matching - Example</vt:lpstr>
      <vt:lpstr>Naive String Matching - Algorithm</vt:lpstr>
      <vt:lpstr>Rabin-Karp Algorithm</vt:lpstr>
      <vt:lpstr>Rabin-Karp Example</vt:lpstr>
      <vt:lpstr>Rabin-Karp Example – Cont…</vt:lpstr>
      <vt:lpstr>Rabin-Karp Algorithm</vt:lpstr>
      <vt:lpstr>Rabin-Karp-Matcher </vt:lpstr>
      <vt:lpstr>String Matching Using Finite Automata</vt:lpstr>
      <vt:lpstr>Suffix of String</vt:lpstr>
      <vt:lpstr>Compute Transition Function</vt:lpstr>
      <vt:lpstr>PowerPoint Presentation</vt:lpstr>
      <vt:lpstr>PowerPoint Presentation</vt:lpstr>
      <vt:lpstr>PowerPoint Presentation</vt:lpstr>
      <vt:lpstr>Finite Automata Matcher</vt:lpstr>
      <vt:lpstr>Suffix &amp; Prefix of a String </vt:lpstr>
      <vt:lpstr>Knuth-Morris-Pratt Algorithm</vt:lpstr>
      <vt:lpstr>Longest Common Prefix and Suffix</vt:lpstr>
      <vt:lpstr>Calculate Prefix Function - Example 1</vt:lpstr>
      <vt:lpstr>KMP- Compute Prefix Function</vt:lpstr>
      <vt:lpstr>Calculate Prefix Function – Example 2</vt:lpstr>
      <vt:lpstr>KMP String Matching</vt:lpstr>
      <vt:lpstr>KMP-MATCHER</vt:lpstr>
    </vt:vector>
  </TitlesOfParts>
  <Company>Darshan Institute of Engg. &amp; Tech.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OOPC++ UNIT-1</dc:title>
  <dc:creator>Darshan Institute of Engg. &amp; Tech.</dc:creator>
  <cp:lastModifiedBy>Meet</cp:lastModifiedBy>
  <cp:revision>3636</cp:revision>
  <dcterms:created xsi:type="dcterms:W3CDTF">2013-05-17T03:00:03Z</dcterms:created>
  <dcterms:modified xsi:type="dcterms:W3CDTF">2020-10-19T06:47:30Z</dcterms:modified>
</cp:coreProperties>
</file>