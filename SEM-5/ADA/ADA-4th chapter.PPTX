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2"/>
  </p:notesMasterIdLst>
  <p:handoutMasterIdLst>
    <p:handoutMasterId r:id="rId73"/>
  </p:handoutMasterIdLst>
  <p:sldIdLst>
    <p:sldId id="343" r:id="rId2"/>
    <p:sldId id="344" r:id="rId3"/>
    <p:sldId id="258" r:id="rId4"/>
    <p:sldId id="259" r:id="rId5"/>
    <p:sldId id="260" r:id="rId6"/>
    <p:sldId id="261" r:id="rId7"/>
    <p:sldId id="273" r:id="rId8"/>
    <p:sldId id="274" r:id="rId9"/>
    <p:sldId id="275" r:id="rId10"/>
    <p:sldId id="359" r:id="rId11"/>
    <p:sldId id="272" r:id="rId12"/>
    <p:sldId id="262" r:id="rId13"/>
    <p:sldId id="276" r:id="rId14"/>
    <p:sldId id="264" r:id="rId15"/>
    <p:sldId id="360" r:id="rId16"/>
    <p:sldId id="265" r:id="rId17"/>
    <p:sldId id="282" r:id="rId18"/>
    <p:sldId id="283" r:id="rId19"/>
    <p:sldId id="284" r:id="rId20"/>
    <p:sldId id="352" r:id="rId21"/>
    <p:sldId id="285" r:id="rId22"/>
    <p:sldId id="280" r:id="rId23"/>
    <p:sldId id="286" r:id="rId24"/>
    <p:sldId id="361" r:id="rId25"/>
    <p:sldId id="345" r:id="rId26"/>
    <p:sldId id="346" r:id="rId27"/>
    <p:sldId id="347" r:id="rId28"/>
    <p:sldId id="348" r:id="rId29"/>
    <p:sldId id="349" r:id="rId30"/>
    <p:sldId id="350" r:id="rId31"/>
    <p:sldId id="354" r:id="rId32"/>
    <p:sldId id="355" r:id="rId33"/>
    <p:sldId id="356" r:id="rId34"/>
    <p:sldId id="357" r:id="rId35"/>
    <p:sldId id="351" r:id="rId36"/>
    <p:sldId id="362" r:id="rId37"/>
    <p:sldId id="287" r:id="rId38"/>
    <p:sldId id="296" r:id="rId39"/>
    <p:sldId id="288" r:id="rId40"/>
    <p:sldId id="290" r:id="rId41"/>
    <p:sldId id="291" r:id="rId42"/>
    <p:sldId id="292" r:id="rId43"/>
    <p:sldId id="297" r:id="rId44"/>
    <p:sldId id="298" r:id="rId45"/>
    <p:sldId id="299" r:id="rId46"/>
    <p:sldId id="300" r:id="rId47"/>
    <p:sldId id="301" r:id="rId48"/>
    <p:sldId id="363" r:id="rId49"/>
    <p:sldId id="302" r:id="rId50"/>
    <p:sldId id="315" r:id="rId51"/>
    <p:sldId id="304" r:id="rId52"/>
    <p:sldId id="305" r:id="rId53"/>
    <p:sldId id="316" r:id="rId54"/>
    <p:sldId id="317" r:id="rId55"/>
    <p:sldId id="318" r:id="rId56"/>
    <p:sldId id="319" r:id="rId57"/>
    <p:sldId id="321" r:id="rId58"/>
    <p:sldId id="322" r:id="rId59"/>
    <p:sldId id="312" r:id="rId60"/>
    <p:sldId id="313" r:id="rId61"/>
    <p:sldId id="314" r:id="rId62"/>
    <p:sldId id="364" r:id="rId63"/>
    <p:sldId id="328" r:id="rId64"/>
    <p:sldId id="329" r:id="rId65"/>
    <p:sldId id="334" r:id="rId66"/>
    <p:sldId id="335" r:id="rId67"/>
    <p:sldId id="336" r:id="rId68"/>
    <p:sldId id="339" r:id="rId69"/>
    <p:sldId id="333" r:id="rId70"/>
    <p:sldId id="341" r:id="rId7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E40524"/>
    <a:srgbClr val="7BA1CE"/>
    <a:srgbClr val="A7C0DE"/>
    <a:srgbClr val="34495E"/>
    <a:srgbClr val="FF6702"/>
    <a:srgbClr val="D6B580"/>
    <a:srgbClr val="F8ED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>
      <p:cViewPr varScale="1">
        <p:scale>
          <a:sx n="69" d="100"/>
          <a:sy n="69" d="100"/>
        </p:scale>
        <p:origin x="-144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85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DD572-8F0C-476B-BFF5-F00018AEE252}" type="datetimeFigureOut">
              <a:rPr lang="en-US" smtClean="0"/>
              <a:t>13-Aug-20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593545-8D9D-4ED1-86F6-499A7FEA4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695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EC9C6-1CE4-4880-838A-FB85AC35DCB4}" type="datetimeFigureOut">
              <a:rPr lang="en-US" smtClean="0"/>
              <a:pPr/>
              <a:t>13-Aug-20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A3D7D-4DD0-4519-9573-665089B6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89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06363"/>
            <a:ext cx="8763000" cy="808037"/>
          </a:xfrm>
        </p:spPr>
        <p:txBody>
          <a:bodyPr/>
          <a:lstStyle>
            <a:lvl1pPr algn="l">
              <a:defRPr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8763000" cy="5334000"/>
          </a:xfrm>
        </p:spPr>
        <p:txBody>
          <a:bodyPr>
            <a:normAutofit/>
          </a:bodyPr>
          <a:lstStyle>
            <a:lvl1pPr marL="342900" indent="-34290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2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200150" indent="-285750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Char char="q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0066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Dynamic Programming                           </a:t>
            </a:r>
            <a:fld id="{0DFAFC65-7612-4714-8C31-D331BBD2B88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              Darshan Institute of Engineering &amp; Technology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90500" y="914400"/>
            <a:ext cx="8763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11"/>
          <p:cNvSpPr/>
          <p:nvPr userDrawn="1"/>
        </p:nvSpPr>
        <p:spPr>
          <a:xfrm>
            <a:off x="0" y="6477000"/>
            <a:ext cx="9144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Greedy Algorithm                                    </a:t>
            </a:r>
            <a:fld id="{0DFAFC65-7612-4714-8C31-D331BBD2B88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               Darshan Institute of Engineering &amp; Technology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8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5" Type="http://schemas.openxmlformats.org/officeDocument/2006/relationships/image" Target="../media/image390.png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7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44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1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1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1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1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62000" y="2286000"/>
            <a:ext cx="762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Swis721 Cn BT" panose="020B050602020203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Unit-4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  <a:ea typeface="Open Sans Semibold" panose="020B0706030804020204" pitchFamily="34" charset="0"/>
                <a:cs typeface="Open Sans Semibold" panose="020B0706030804020204" pitchFamily="34" charset="0"/>
              </a:rPr>
              <a:t>Dynamic Programming</a:t>
            </a:r>
            <a:endParaRPr lang="en-US" sz="3600" b="1" dirty="0">
              <a:solidFill>
                <a:srgbClr val="FF0000"/>
              </a:solidFill>
              <a:latin typeface="Swis721 Cn BT" panose="020B050602020203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904943" y="4487341"/>
            <a:ext cx="405675" cy="294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04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5448300" cy="5334000"/>
          </a:xfrm>
        </p:spPr>
        <p:txBody>
          <a:bodyPr>
            <a:normAutofit/>
          </a:bodyPr>
          <a:lstStyle/>
          <a:p>
            <a:r>
              <a:rPr lang="en-US" dirty="0"/>
              <a:t>A box contains 4 stones worth </a:t>
            </a:r>
            <a:r>
              <a:rPr lang="en-US" dirty="0">
                <a:solidFill>
                  <a:srgbClr val="FF0000"/>
                </a:solidFill>
              </a:rPr>
              <a:t>$1400</a:t>
            </a:r>
            <a:r>
              <a:rPr lang="en-US" dirty="0"/>
              <a:t>, </a:t>
            </a:r>
            <a:r>
              <a:rPr lang="en-US" dirty="0">
                <a:solidFill>
                  <a:srgbClr val="0066FF"/>
                </a:solidFill>
              </a:rPr>
              <a:t>$3000</a:t>
            </a:r>
            <a:r>
              <a:rPr lang="en-US" dirty="0"/>
              <a:t>,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$4200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$7100</a:t>
            </a:r>
            <a:r>
              <a:rPr lang="en-US" dirty="0"/>
              <a:t>. They weigh </a:t>
            </a:r>
            <a:r>
              <a:rPr lang="en-US" dirty="0">
                <a:solidFill>
                  <a:srgbClr val="FF0000"/>
                </a:solidFill>
              </a:rPr>
              <a:t>20</a:t>
            </a:r>
            <a:r>
              <a:rPr lang="en-US" dirty="0"/>
              <a:t>, </a:t>
            </a:r>
            <a:r>
              <a:rPr lang="en-US" dirty="0">
                <a:solidFill>
                  <a:srgbClr val="0066FF"/>
                </a:solidFill>
              </a:rPr>
              <a:t>50</a:t>
            </a:r>
            <a:r>
              <a:rPr lang="en-US" dirty="0"/>
              <a:t>,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60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100</a:t>
            </a:r>
            <a:r>
              <a:rPr lang="en-US" dirty="0"/>
              <a:t> grams respectively. </a:t>
            </a:r>
          </a:p>
          <a:p>
            <a:r>
              <a:rPr lang="en-US" dirty="0"/>
              <a:t>Your bag can only hold </a:t>
            </a:r>
            <a:r>
              <a:rPr lang="en-US" b="1" dirty="0"/>
              <a:t>110 grams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greedy algorithm selects the best candidate with the highest profit, i.e., </a:t>
            </a:r>
            <a:r>
              <a:rPr lang="en-US" b="1" dirty="0"/>
              <a:t>stone worth $7100</a:t>
            </a:r>
            <a:r>
              <a:rPr lang="en-US" dirty="0"/>
              <a:t>.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05000"/>
            <a:ext cx="2785909" cy="38925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504043"/>
                  </p:ext>
                </p:extLst>
              </p:nvPr>
            </p:nvGraphicFramePr>
            <p:xfrm>
              <a:off x="500061" y="3063240"/>
              <a:ext cx="4829177" cy="118872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841745">
                      <a:extLst>
                        <a:ext uri="{9D8B030D-6E8A-4147-A177-3AD203B41FA5}">
                          <a16:colId xmlns="" xmlns:a16="http://schemas.microsoft.com/office/drawing/2014/main" val="1847888081"/>
                        </a:ext>
                      </a:extLst>
                    </a:gridCol>
                    <a:gridCol w="996858">
                      <a:extLst>
                        <a:ext uri="{9D8B030D-6E8A-4147-A177-3AD203B41FA5}">
                          <a16:colId xmlns="" xmlns:a16="http://schemas.microsoft.com/office/drawing/2014/main" val="43753489"/>
                        </a:ext>
                      </a:extLst>
                    </a:gridCol>
                    <a:gridCol w="996858">
                      <a:extLst>
                        <a:ext uri="{9D8B030D-6E8A-4147-A177-3AD203B41FA5}">
                          <a16:colId xmlns="" xmlns:a16="http://schemas.microsoft.com/office/drawing/2014/main" val="4128004866"/>
                        </a:ext>
                      </a:extLst>
                    </a:gridCol>
                    <a:gridCol w="996858">
                      <a:extLst>
                        <a:ext uri="{9D8B030D-6E8A-4147-A177-3AD203B41FA5}">
                          <a16:colId xmlns="" xmlns:a16="http://schemas.microsoft.com/office/drawing/2014/main" val="484575491"/>
                        </a:ext>
                      </a:extLst>
                    </a:gridCol>
                    <a:gridCol w="996858">
                      <a:extLst>
                        <a:ext uri="{9D8B030D-6E8A-4147-A177-3AD203B41FA5}">
                          <a16:colId xmlns="" xmlns:a16="http://schemas.microsoft.com/office/drawing/2014/main" val="1261465989"/>
                        </a:ext>
                      </a:extLst>
                    </a:gridCol>
                  </a:tblGrid>
                  <a:tr h="13777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1400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3000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4200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/>
                            <a:t>7100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32900116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9035367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2000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2000" b="0" i="1" smtClean="0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70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FF0000"/>
                              </a:solidFill>
                            </a:rPr>
                            <a:t>71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1012636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504043"/>
                  </p:ext>
                </p:extLst>
              </p:nvPr>
            </p:nvGraphicFramePr>
            <p:xfrm>
              <a:off x="500061" y="3063240"/>
              <a:ext cx="4829177" cy="1188720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841745">
                      <a:extLst>
                        <a:ext uri="{9D8B030D-6E8A-4147-A177-3AD203B41FA5}">
                          <a16:colId xmlns:a16="http://schemas.microsoft.com/office/drawing/2014/main" val="1847888081"/>
                        </a:ext>
                      </a:extLst>
                    </a:gridCol>
                    <a:gridCol w="996858">
                      <a:extLst>
                        <a:ext uri="{9D8B030D-6E8A-4147-A177-3AD203B41FA5}">
                          <a16:colId xmlns:a16="http://schemas.microsoft.com/office/drawing/2014/main" val="43753489"/>
                        </a:ext>
                      </a:extLst>
                    </a:gridCol>
                    <a:gridCol w="996858">
                      <a:extLst>
                        <a:ext uri="{9D8B030D-6E8A-4147-A177-3AD203B41FA5}">
                          <a16:colId xmlns:a16="http://schemas.microsoft.com/office/drawing/2014/main" val="4128004866"/>
                        </a:ext>
                      </a:extLst>
                    </a:gridCol>
                    <a:gridCol w="996858">
                      <a:extLst>
                        <a:ext uri="{9D8B030D-6E8A-4147-A177-3AD203B41FA5}">
                          <a16:colId xmlns:a16="http://schemas.microsoft.com/office/drawing/2014/main" val="484575491"/>
                        </a:ext>
                      </a:extLst>
                    </a:gridCol>
                    <a:gridCol w="996858">
                      <a:extLst>
                        <a:ext uri="{9D8B030D-6E8A-4147-A177-3AD203B41FA5}">
                          <a16:colId xmlns:a16="http://schemas.microsoft.com/office/drawing/2014/main" val="126146598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49" t="-7692" r="-476812" b="-38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 smtClean="0"/>
                            <a:t>1400</a:t>
                          </a:r>
                          <a:endParaRPr lang="en-US" sz="2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 smtClean="0"/>
                            <a:t>3000</a:t>
                          </a:r>
                          <a:endParaRPr lang="en-US" sz="2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 smtClean="0"/>
                            <a:t>4200</a:t>
                          </a:r>
                          <a:endParaRPr lang="en-US" sz="20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0" dirty="0" smtClean="0"/>
                            <a:t>7100</a:t>
                          </a:r>
                          <a:endParaRPr lang="en-US" sz="20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9001168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49" t="-106061" r="-476812" b="-275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20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50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60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100</a:t>
                          </a:r>
                          <a:endParaRPr lang="en-US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0353678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49" t="-209231" r="-476812" b="-1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70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60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70</a:t>
                          </a:r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solidFill>
                                <a:srgbClr val="FF0000"/>
                              </a:solidFill>
                            </a:rPr>
                            <a:t>71</a:t>
                          </a:r>
                          <a:endParaRPr lang="en-US" sz="20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126363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4218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5448300" cy="5334000"/>
          </a:xfrm>
        </p:spPr>
        <p:txBody>
          <a:bodyPr>
            <a:normAutofit/>
          </a:bodyPr>
          <a:lstStyle/>
          <a:p>
            <a:r>
              <a:rPr lang="en-US" dirty="0"/>
              <a:t>A box contains 4 stones worth </a:t>
            </a:r>
            <a:r>
              <a:rPr lang="en-US" dirty="0">
                <a:solidFill>
                  <a:srgbClr val="FF0000"/>
                </a:solidFill>
              </a:rPr>
              <a:t>$1400</a:t>
            </a:r>
            <a:r>
              <a:rPr lang="en-US" dirty="0"/>
              <a:t>, </a:t>
            </a:r>
            <a:r>
              <a:rPr lang="en-US" dirty="0">
                <a:solidFill>
                  <a:srgbClr val="0066FF"/>
                </a:solidFill>
              </a:rPr>
              <a:t>$3000</a:t>
            </a:r>
            <a:r>
              <a:rPr lang="en-US" dirty="0"/>
              <a:t>,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$4200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$7100</a:t>
            </a:r>
            <a:r>
              <a:rPr lang="en-US" dirty="0"/>
              <a:t>. They weigh </a:t>
            </a:r>
            <a:r>
              <a:rPr lang="en-US" dirty="0">
                <a:solidFill>
                  <a:srgbClr val="FF0000"/>
                </a:solidFill>
              </a:rPr>
              <a:t>20</a:t>
            </a:r>
            <a:r>
              <a:rPr lang="en-US" dirty="0"/>
              <a:t>, </a:t>
            </a:r>
            <a:r>
              <a:rPr lang="en-US" dirty="0">
                <a:solidFill>
                  <a:srgbClr val="0066FF"/>
                </a:solidFill>
              </a:rPr>
              <a:t>50</a:t>
            </a:r>
            <a:r>
              <a:rPr lang="en-US" dirty="0"/>
              <a:t>,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60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100</a:t>
            </a:r>
            <a:r>
              <a:rPr lang="en-US" dirty="0"/>
              <a:t> grams respectively. </a:t>
            </a:r>
          </a:p>
          <a:p>
            <a:r>
              <a:rPr lang="en-US" dirty="0"/>
              <a:t>Your bag can only hold </a:t>
            </a:r>
            <a:r>
              <a:rPr lang="en-US" b="1" dirty="0"/>
              <a:t>110 grams</a:t>
            </a:r>
            <a:r>
              <a:rPr lang="en-US" dirty="0"/>
              <a:t>. </a:t>
            </a:r>
          </a:p>
          <a:p>
            <a:r>
              <a:rPr lang="en-US" dirty="0"/>
              <a:t>But, the optimal choice would be to select </a:t>
            </a:r>
            <a:r>
              <a:rPr lang="en-US" b="1" dirty="0"/>
              <a:t>the two stones </a:t>
            </a:r>
            <a:r>
              <a:rPr lang="en-US" dirty="0"/>
              <a:t>worth $3000 and $4200. </a:t>
            </a:r>
          </a:p>
          <a:p>
            <a:r>
              <a:rPr lang="en-US" dirty="0"/>
              <a:t>Their combined weight is 110 grams, which means they will fit into your bag and you will get a </a:t>
            </a:r>
            <a:r>
              <a:rPr lang="en-US" b="1" dirty="0"/>
              <a:t>profit of $7200</a:t>
            </a:r>
            <a:r>
              <a:rPr lang="en-US" dirty="0"/>
              <a:t>. </a:t>
            </a:r>
          </a:p>
          <a:p>
            <a:r>
              <a:rPr lang="en-US" dirty="0"/>
              <a:t>If there are </a:t>
            </a:r>
            <a:r>
              <a:rPr lang="en-US" b="1" dirty="0"/>
              <a:t>100 stones</a:t>
            </a:r>
            <a:r>
              <a:rPr lang="en-US" dirty="0"/>
              <a:t>, how to efficiently find the optimal answer?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05000"/>
            <a:ext cx="2785909" cy="389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4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Principle of Optimality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dynamic-programming algorithm solves every sub-problem just once and then </a:t>
            </a:r>
            <a:r>
              <a:rPr lang="en-US" b="1" dirty="0"/>
              <a:t>saves its answer in a table</a:t>
            </a:r>
            <a:r>
              <a:rPr lang="en-US" dirty="0"/>
              <a:t>.</a:t>
            </a:r>
          </a:p>
          <a:p>
            <a:r>
              <a:rPr lang="en-US" dirty="0"/>
              <a:t>It avoids the work of </a:t>
            </a:r>
            <a:r>
              <a:rPr lang="en-US" b="1" dirty="0"/>
              <a:t>re-computing the answer </a:t>
            </a:r>
            <a:r>
              <a:rPr lang="en-US" dirty="0"/>
              <a:t>every time the sub problem is encountered.</a:t>
            </a:r>
          </a:p>
          <a:p>
            <a:r>
              <a:rPr lang="en-US" dirty="0"/>
              <a:t>The dynamic programming algorithm obtains the solution using </a:t>
            </a:r>
            <a:r>
              <a:rPr lang="en-US" b="1" dirty="0"/>
              <a:t>principle of optimality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The principle of optimality states that </a:t>
            </a:r>
            <a:r>
              <a:rPr lang="en-US" i="1" dirty="0">
                <a:solidFill>
                  <a:srgbClr val="FF0000"/>
                </a:solidFill>
              </a:rPr>
              <a:t>“in an optimal sequence of decisions or choices, each subsequence must also be optimal.</a:t>
            </a:r>
          </a:p>
          <a:p>
            <a:r>
              <a:rPr lang="en-US" dirty="0"/>
              <a:t>If it is </a:t>
            </a:r>
            <a:r>
              <a:rPr lang="en-US" b="1" dirty="0"/>
              <a:t>not possible to apply the </a:t>
            </a:r>
            <a:r>
              <a:rPr lang="en-US" b="1" i="1" dirty="0"/>
              <a:t>principle of optimality  </a:t>
            </a:r>
            <a:r>
              <a:rPr lang="en-US" dirty="0"/>
              <a:t>then</a:t>
            </a:r>
            <a:r>
              <a:rPr lang="en-US" b="1" i="1" dirty="0"/>
              <a:t> </a:t>
            </a:r>
            <a:r>
              <a:rPr lang="en-US" dirty="0"/>
              <a:t>it is almost </a:t>
            </a:r>
            <a:r>
              <a:rPr lang="en-US" b="1" dirty="0"/>
              <a:t>impossible to obtain the solution </a:t>
            </a:r>
            <a:r>
              <a:rPr lang="en-US" dirty="0"/>
              <a:t>using the dynamic programming approach.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87" y="4593609"/>
            <a:ext cx="6424613" cy="16002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703696" y="4822208"/>
            <a:ext cx="0" cy="14478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150056" y="4974608"/>
            <a:ext cx="0" cy="14478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088040" y="4822208"/>
            <a:ext cx="0" cy="14478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405048" y="4495800"/>
            <a:ext cx="0" cy="14478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9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Coefficient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If you want to make a 2-person committee from a group of four people. How many </a:t>
                </a:r>
                <a:r>
                  <a:rPr lang="en-US" b="1" dirty="0"/>
                  <a:t>different combinations </a:t>
                </a:r>
                <a:r>
                  <a:rPr lang="en-US" dirty="0"/>
                  <a:t>are possible? </a:t>
                </a:r>
              </a:p>
              <a:p>
                <a:r>
                  <a:rPr lang="en-US" dirty="0"/>
                  <a:t>The number of ways to do this is given by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solidFill>
                      <a:srgbClr val="FF0000"/>
                    </a:solidFill>
                  </a:rPr>
                  <a:t>.</a:t>
                </a:r>
                <a:endParaRPr lang="en-US" i="1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Specifically, the </a:t>
                </a:r>
                <a:r>
                  <a:rPr lang="en-US" b="1" dirty="0"/>
                  <a:t>binomial coefficient</a:t>
                </a:r>
                <a:r>
                  <a:rPr lang="en-US" dirty="0"/>
                  <a:t>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counts the number of ways to form </a:t>
                </a:r>
                <a:r>
                  <a:rPr lang="en-US" dirty="0">
                    <a:solidFill>
                      <a:srgbClr val="FF0000"/>
                    </a:solidFill>
                  </a:rPr>
                  <a:t>an unordered collection of 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 items </a:t>
                </a:r>
                <a:r>
                  <a:rPr lang="en-US" dirty="0"/>
                  <a:t>chosen from a collection of 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i="1" dirty="0"/>
                  <a:t> </a:t>
                </a:r>
                <a:r>
                  <a:rPr lang="en-US" dirty="0"/>
                  <a:t>distinct items.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914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615440" y="2499360"/>
                <a:ext cx="4114800" cy="82296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800" b="0" i="1" smtClean="0">
                                <a:solidFill>
                                  <a:srgbClr val="0066FF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800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US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0066FF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440" y="2499360"/>
                <a:ext cx="4114800" cy="822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615440" y="3657600"/>
                <a:ext cx="4480560" cy="822960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4, 2</m:t>
                        </m:r>
                      </m:e>
                    </m:d>
                    <m:r>
                      <a:rPr lang="en-US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800" b="0" i="1" smtClean="0">
                                <a:solidFill>
                                  <a:srgbClr val="0066FF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sz="2800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4!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2!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0066FF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4−2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440" y="3657600"/>
                <a:ext cx="4480560" cy="8229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ular Callout 5"/>
          <p:cNvSpPr/>
          <p:nvPr/>
        </p:nvSpPr>
        <p:spPr>
          <a:xfrm>
            <a:off x="6858000" y="2499360"/>
            <a:ext cx="1737360" cy="822960"/>
          </a:xfrm>
          <a:prstGeom prst="wedgeRectCallout">
            <a:avLst>
              <a:gd name="adj1" fmla="val -114942"/>
              <a:gd name="adj2" fmla="val 12003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Binomial Coefficient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15440" y="2514600"/>
            <a:ext cx="4114800" cy="2514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200" dirty="0">
              <a:solidFill>
                <a:srgbClr val="0066FF"/>
              </a:solidFill>
            </a:endParaRPr>
          </a:p>
          <a:p>
            <a:pPr algn="just"/>
            <a:endParaRPr lang="en-US" sz="2200" dirty="0">
              <a:solidFill>
                <a:srgbClr val="0066FF"/>
              </a:solidFill>
            </a:endParaRPr>
          </a:p>
          <a:p>
            <a:pPr algn="just"/>
            <a:r>
              <a:rPr lang="en-US" sz="2200" dirty="0">
                <a:solidFill>
                  <a:srgbClr val="0066FF"/>
                </a:solidFill>
              </a:rPr>
              <a:t>Consider 4 people A, B, C, D. Now the different combinations for making a committee of 2 persons from these 4 are;</a:t>
            </a:r>
          </a:p>
          <a:p>
            <a:pPr algn="just"/>
            <a:endParaRPr lang="en-US" sz="2200" dirty="0">
              <a:solidFill>
                <a:srgbClr val="0066FF"/>
              </a:solidFill>
            </a:endParaRPr>
          </a:p>
          <a:p>
            <a:pPr algn="just"/>
            <a:endParaRPr lang="en-US" sz="2200" dirty="0">
              <a:solidFill>
                <a:srgbClr val="0066FF"/>
              </a:solidFill>
            </a:endParaRPr>
          </a:p>
          <a:p>
            <a:pPr algn="just"/>
            <a:endParaRPr lang="en-US" sz="2200" dirty="0">
              <a:solidFill>
                <a:srgbClr val="0066FF"/>
              </a:solidFill>
            </a:endParaRPr>
          </a:p>
          <a:p>
            <a:pPr algn="just"/>
            <a:endParaRPr lang="en-US" sz="2200" dirty="0">
              <a:solidFill>
                <a:srgbClr val="0066FF"/>
              </a:solidFill>
            </a:endParaRPr>
          </a:p>
          <a:p>
            <a:pPr algn="just"/>
            <a:endParaRPr lang="en-US" sz="2200" dirty="0">
              <a:solidFill>
                <a:srgbClr val="0066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14600" y="4038600"/>
            <a:ext cx="73152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A, B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984" y="4038600"/>
            <a:ext cx="73152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A, 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1000" y="4038600"/>
            <a:ext cx="73152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A, 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4495800"/>
            <a:ext cx="73152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B, 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984" y="4495800"/>
            <a:ext cx="73152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B, 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1000" y="4495800"/>
            <a:ext cx="731520" cy="381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C, D</a:t>
            </a:r>
          </a:p>
        </p:txBody>
      </p:sp>
    </p:spTree>
    <p:extLst>
      <p:ext uri="{BB962C8B-B14F-4D97-AF65-F5344CB8AC3E}">
        <p14:creationId xmlns:p14="http://schemas.microsoft.com/office/powerpoint/2010/main" val="8008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Coefficient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definition of binomial coefficient is given as: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143000" y="1676400"/>
                <a:ext cx="6934200" cy="18288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&amp;1                      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US" sz="2400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400" i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400" i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noBar"/>
                                      <m:ctrlPr>
                                        <a:rPr lang="en-US" sz="2400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400" i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num>
                                    <m:den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 0&lt;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&amp;0                                  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𝑂𝑡h𝑒𝑟𝑤𝑖𝑠𝑒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676400"/>
                <a:ext cx="6934200" cy="18288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/>
          <p:cNvSpPr txBox="1">
            <a:spLocks/>
          </p:cNvSpPr>
          <p:nvPr/>
        </p:nvSpPr>
        <p:spPr>
          <a:xfrm>
            <a:off x="1143000" y="4127522"/>
            <a:ext cx="6934200" cy="1997983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rtlCol="0">
            <a:spAutoFit/>
          </a:bodyPr>
          <a:lstStyle>
            <a:lvl1pPr marL="342900" indent="-3429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pt-BR" b="1" dirty="0">
                <a:latin typeface="Consolas" pitchFamily="49" charset="0"/>
                <a:cs typeface="Consolas" pitchFamily="49" charset="0"/>
              </a:rPr>
              <a:t>function C(n, k)</a:t>
            </a:r>
          </a:p>
          <a:p>
            <a:pPr marL="0" indent="0">
              <a:buNone/>
            </a:pPr>
            <a:r>
              <a:rPr lang="pt-BR" b="1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b="1" dirty="0">
                <a:latin typeface="Consolas" pitchFamily="49" charset="0"/>
                <a:cs typeface="Consolas" pitchFamily="49" charset="0"/>
              </a:rPr>
              <a:t>if k=0 or k=n </a:t>
            </a:r>
          </a:p>
          <a:p>
            <a:pPr marL="0" indent="0">
              <a:buNone/>
            </a:pPr>
            <a:r>
              <a:rPr lang="en-US" b="1" dirty="0">
                <a:latin typeface="Consolas" pitchFamily="49" charset="0"/>
                <a:cs typeface="Consolas" pitchFamily="49" charset="0"/>
              </a:rPr>
              <a:t>		then return 1</a:t>
            </a:r>
          </a:p>
          <a:p>
            <a:pPr marL="0" indent="0">
              <a:buNone/>
            </a:pPr>
            <a:r>
              <a:rPr lang="en-US" b="1" dirty="0">
                <a:latin typeface="Consolas" pitchFamily="49" charset="0"/>
                <a:cs typeface="Consolas" pitchFamily="49" charset="0"/>
              </a:rPr>
              <a:t>	else return C(n-1, k-1)+ C(n-1, k)</a:t>
            </a:r>
            <a:endParaRPr lang="pt-BR" b="1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11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Coefficient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4463319"/>
              </p:ext>
            </p:extLst>
          </p:nvPr>
        </p:nvGraphicFramePr>
        <p:xfrm>
          <a:off x="762002" y="1143000"/>
          <a:ext cx="746759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733">
                  <a:extLst>
                    <a:ext uri="{9D8B030D-6E8A-4147-A177-3AD203B41FA5}">
                      <a16:colId xmlns="" xmlns:a16="http://schemas.microsoft.com/office/drawing/2014/main" val="1881567836"/>
                    </a:ext>
                  </a:extLst>
                </a:gridCol>
                <a:gridCol w="829733">
                  <a:extLst>
                    <a:ext uri="{9D8B030D-6E8A-4147-A177-3AD203B41FA5}">
                      <a16:colId xmlns="" xmlns:a16="http://schemas.microsoft.com/office/drawing/2014/main" val="728414176"/>
                    </a:ext>
                  </a:extLst>
                </a:gridCol>
                <a:gridCol w="829733">
                  <a:extLst>
                    <a:ext uri="{9D8B030D-6E8A-4147-A177-3AD203B41FA5}">
                      <a16:colId xmlns="" xmlns:a16="http://schemas.microsoft.com/office/drawing/2014/main" val="1893645811"/>
                    </a:ext>
                  </a:extLst>
                </a:gridCol>
                <a:gridCol w="829733">
                  <a:extLst>
                    <a:ext uri="{9D8B030D-6E8A-4147-A177-3AD203B41FA5}">
                      <a16:colId xmlns="" xmlns:a16="http://schemas.microsoft.com/office/drawing/2014/main" val="329207486"/>
                    </a:ext>
                  </a:extLst>
                </a:gridCol>
                <a:gridCol w="829733">
                  <a:extLst>
                    <a:ext uri="{9D8B030D-6E8A-4147-A177-3AD203B41FA5}">
                      <a16:colId xmlns="" xmlns:a16="http://schemas.microsoft.com/office/drawing/2014/main" val="47506232"/>
                    </a:ext>
                  </a:extLst>
                </a:gridCol>
                <a:gridCol w="829733">
                  <a:extLst>
                    <a:ext uri="{9D8B030D-6E8A-4147-A177-3AD203B41FA5}">
                      <a16:colId xmlns="" xmlns:a16="http://schemas.microsoft.com/office/drawing/2014/main" val="1649283705"/>
                    </a:ext>
                  </a:extLst>
                </a:gridCol>
                <a:gridCol w="829733">
                  <a:extLst>
                    <a:ext uri="{9D8B030D-6E8A-4147-A177-3AD203B41FA5}">
                      <a16:colId xmlns="" xmlns:a16="http://schemas.microsoft.com/office/drawing/2014/main" val="718640958"/>
                    </a:ext>
                  </a:extLst>
                </a:gridCol>
                <a:gridCol w="829733">
                  <a:extLst>
                    <a:ext uri="{9D8B030D-6E8A-4147-A177-3AD203B41FA5}">
                      <a16:colId xmlns="" xmlns:a16="http://schemas.microsoft.com/office/drawing/2014/main" val="205601540"/>
                    </a:ext>
                  </a:extLst>
                </a:gridCol>
                <a:gridCol w="829733">
                  <a:extLst>
                    <a:ext uri="{9D8B030D-6E8A-4147-A177-3AD203B41FA5}">
                      <a16:colId xmlns="" xmlns:a16="http://schemas.microsoft.com/office/drawing/2014/main" val="3562826060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..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k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7363522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2418655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5139497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20652379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3469862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8378905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..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07594224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n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8413936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737852" y="1781476"/>
            <a:ext cx="533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737852" y="2313296"/>
            <a:ext cx="533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737852" y="2907268"/>
            <a:ext cx="533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737852" y="3427214"/>
            <a:ext cx="533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737852" y="3962400"/>
            <a:ext cx="533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590800" y="2362200"/>
            <a:ext cx="533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443748" y="2890982"/>
            <a:ext cx="533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429000" y="3424678"/>
            <a:ext cx="533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138151" y="3424678"/>
            <a:ext cx="533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029200" y="3982262"/>
            <a:ext cx="533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89008" y="5132696"/>
            <a:ext cx="335280" cy="304267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633648" y="1268104"/>
            <a:ext cx="335280" cy="304267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ontent Placeholder 4"/>
          <p:cNvSpPr txBox="1">
            <a:spLocks/>
          </p:cNvSpPr>
          <p:nvPr/>
        </p:nvSpPr>
        <p:spPr>
          <a:xfrm>
            <a:off x="2088676" y="5576248"/>
            <a:ext cx="4814248" cy="855619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rtlCol="0">
            <a:spAutoFit/>
          </a:bodyPr>
          <a:lstStyle>
            <a:lvl1pPr marL="342900" indent="-3429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nsolas" pitchFamily="49" charset="0"/>
                <a:cs typeface="Consolas" pitchFamily="49" charset="0"/>
              </a:rPr>
              <a:t>if k=0 or k=n then return 1 </a:t>
            </a:r>
          </a:p>
          <a:p>
            <a:pPr marL="0" indent="0">
              <a:buNone/>
            </a:pPr>
            <a:r>
              <a:rPr lang="en-US" sz="2000" b="1" dirty="0">
                <a:latin typeface="Consolas" pitchFamily="49" charset="0"/>
                <a:cs typeface="Consolas" pitchFamily="49" charset="0"/>
              </a:rPr>
              <a:t>else return C(n-1, k-1)+C(n-1, k)</a:t>
            </a:r>
            <a:endParaRPr lang="pt-BR" sz="2000" b="1" dirty="0"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2088676" y="2412764"/>
            <a:ext cx="654524" cy="254236"/>
            <a:chOff x="5029200" y="2934564"/>
            <a:chExt cx="899160" cy="365760"/>
          </a:xfrm>
        </p:grpSpPr>
        <p:cxnSp>
          <p:nvCxnSpPr>
            <p:cNvPr id="8" name="Straight Arrow Connector 7"/>
            <p:cNvCxnSpPr>
              <a:endCxn id="11" idx="2"/>
            </p:cNvCxnSpPr>
            <p:nvPr/>
          </p:nvCxnSpPr>
          <p:spPr>
            <a:xfrm>
              <a:off x="5029200" y="3117444"/>
              <a:ext cx="2667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5295900" y="2934564"/>
              <a:ext cx="365760" cy="3657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+</a:t>
              </a:r>
            </a:p>
          </p:txBody>
        </p:sp>
        <p:cxnSp>
          <p:nvCxnSpPr>
            <p:cNvPr id="13" name="Straight Arrow Connector 12"/>
            <p:cNvCxnSpPr>
              <a:endCxn id="11" idx="6"/>
            </p:cNvCxnSpPr>
            <p:nvPr/>
          </p:nvCxnSpPr>
          <p:spPr>
            <a:xfrm flipH="1">
              <a:off x="5661660" y="3117444"/>
              <a:ext cx="2667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Arrow Connector 33"/>
          <p:cNvCxnSpPr>
            <a:stCxn id="11" idx="4"/>
          </p:cNvCxnSpPr>
          <p:nvPr/>
        </p:nvCxnSpPr>
        <p:spPr>
          <a:xfrm>
            <a:off x="2415938" y="2667000"/>
            <a:ext cx="327262" cy="38100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508686" y="2890982"/>
            <a:ext cx="533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36" name="Group 35"/>
          <p:cNvGrpSpPr/>
          <p:nvPr/>
        </p:nvGrpSpPr>
        <p:grpSpPr>
          <a:xfrm>
            <a:off x="2094590" y="2962450"/>
            <a:ext cx="654524" cy="254236"/>
            <a:chOff x="5029200" y="2934564"/>
            <a:chExt cx="899160" cy="365760"/>
          </a:xfrm>
        </p:grpSpPr>
        <p:cxnSp>
          <p:nvCxnSpPr>
            <p:cNvPr id="37" name="Straight Arrow Connector 36"/>
            <p:cNvCxnSpPr>
              <a:endCxn id="38" idx="2"/>
            </p:cNvCxnSpPr>
            <p:nvPr/>
          </p:nvCxnSpPr>
          <p:spPr>
            <a:xfrm>
              <a:off x="5029200" y="3117444"/>
              <a:ext cx="2667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/>
            <p:cNvSpPr/>
            <p:nvPr/>
          </p:nvSpPr>
          <p:spPr>
            <a:xfrm>
              <a:off x="5295900" y="2934564"/>
              <a:ext cx="365760" cy="3657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+</a:t>
              </a:r>
            </a:p>
          </p:txBody>
        </p:sp>
        <p:cxnSp>
          <p:nvCxnSpPr>
            <p:cNvPr id="39" name="Straight Arrow Connector 38"/>
            <p:cNvCxnSpPr>
              <a:endCxn id="38" idx="6"/>
            </p:cNvCxnSpPr>
            <p:nvPr/>
          </p:nvCxnSpPr>
          <p:spPr>
            <a:xfrm flipH="1">
              <a:off x="5661660" y="3117444"/>
              <a:ext cx="2667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Arrow Connector 39"/>
          <p:cNvCxnSpPr>
            <a:stCxn id="38" idx="4"/>
          </p:cNvCxnSpPr>
          <p:nvPr/>
        </p:nvCxnSpPr>
        <p:spPr>
          <a:xfrm>
            <a:off x="2421852" y="3216686"/>
            <a:ext cx="327262" cy="38100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514600" y="3440668"/>
            <a:ext cx="533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48" name="Group 47"/>
          <p:cNvGrpSpPr/>
          <p:nvPr/>
        </p:nvGrpSpPr>
        <p:grpSpPr>
          <a:xfrm>
            <a:off x="2084696" y="3483592"/>
            <a:ext cx="654524" cy="254236"/>
            <a:chOff x="5029200" y="2934564"/>
            <a:chExt cx="899160" cy="365760"/>
          </a:xfrm>
        </p:grpSpPr>
        <p:cxnSp>
          <p:nvCxnSpPr>
            <p:cNvPr id="49" name="Straight Arrow Connector 48"/>
            <p:cNvCxnSpPr>
              <a:endCxn id="50" idx="2"/>
            </p:cNvCxnSpPr>
            <p:nvPr/>
          </p:nvCxnSpPr>
          <p:spPr>
            <a:xfrm>
              <a:off x="5029200" y="3117444"/>
              <a:ext cx="2667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/>
            <p:cNvSpPr/>
            <p:nvPr/>
          </p:nvSpPr>
          <p:spPr>
            <a:xfrm>
              <a:off x="5295900" y="2934564"/>
              <a:ext cx="365760" cy="3657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+</a:t>
              </a:r>
            </a:p>
          </p:txBody>
        </p:sp>
        <p:cxnSp>
          <p:nvCxnSpPr>
            <p:cNvPr id="51" name="Straight Arrow Connector 50"/>
            <p:cNvCxnSpPr>
              <a:endCxn id="50" idx="6"/>
            </p:cNvCxnSpPr>
            <p:nvPr/>
          </p:nvCxnSpPr>
          <p:spPr>
            <a:xfrm flipH="1">
              <a:off x="5661660" y="3117444"/>
              <a:ext cx="2667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Straight Arrow Connector 51"/>
          <p:cNvCxnSpPr>
            <a:stCxn id="50" idx="4"/>
          </p:cNvCxnSpPr>
          <p:nvPr/>
        </p:nvCxnSpPr>
        <p:spPr>
          <a:xfrm>
            <a:off x="2411958" y="3737828"/>
            <a:ext cx="327262" cy="38100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504706" y="3961810"/>
            <a:ext cx="533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54" name="Group 53"/>
          <p:cNvGrpSpPr/>
          <p:nvPr/>
        </p:nvGrpSpPr>
        <p:grpSpPr>
          <a:xfrm>
            <a:off x="2932790" y="2936544"/>
            <a:ext cx="654524" cy="254236"/>
            <a:chOff x="5029200" y="2934564"/>
            <a:chExt cx="899160" cy="365760"/>
          </a:xfrm>
        </p:grpSpPr>
        <p:cxnSp>
          <p:nvCxnSpPr>
            <p:cNvPr id="55" name="Straight Arrow Connector 54"/>
            <p:cNvCxnSpPr>
              <a:endCxn id="56" idx="2"/>
            </p:cNvCxnSpPr>
            <p:nvPr/>
          </p:nvCxnSpPr>
          <p:spPr>
            <a:xfrm>
              <a:off x="5029200" y="3117444"/>
              <a:ext cx="2667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/>
            <p:cNvSpPr/>
            <p:nvPr/>
          </p:nvSpPr>
          <p:spPr>
            <a:xfrm>
              <a:off x="5295900" y="2934564"/>
              <a:ext cx="365760" cy="3657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+</a:t>
              </a:r>
            </a:p>
          </p:txBody>
        </p:sp>
        <p:cxnSp>
          <p:nvCxnSpPr>
            <p:cNvPr id="57" name="Straight Arrow Connector 56"/>
            <p:cNvCxnSpPr>
              <a:endCxn id="56" idx="6"/>
            </p:cNvCxnSpPr>
            <p:nvPr/>
          </p:nvCxnSpPr>
          <p:spPr>
            <a:xfrm flipH="1">
              <a:off x="5661660" y="3117444"/>
              <a:ext cx="2667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Arrow Connector 57"/>
          <p:cNvCxnSpPr>
            <a:stCxn id="56" idx="4"/>
          </p:cNvCxnSpPr>
          <p:nvPr/>
        </p:nvCxnSpPr>
        <p:spPr>
          <a:xfrm>
            <a:off x="3260052" y="3190780"/>
            <a:ext cx="327262" cy="38100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/>
          <p:cNvGrpSpPr/>
          <p:nvPr/>
        </p:nvGrpSpPr>
        <p:grpSpPr>
          <a:xfrm>
            <a:off x="2932790" y="3491552"/>
            <a:ext cx="654524" cy="254236"/>
            <a:chOff x="5029200" y="2934564"/>
            <a:chExt cx="899160" cy="365760"/>
          </a:xfrm>
        </p:grpSpPr>
        <p:cxnSp>
          <p:nvCxnSpPr>
            <p:cNvPr id="61" name="Straight Arrow Connector 60"/>
            <p:cNvCxnSpPr>
              <a:endCxn id="62" idx="2"/>
            </p:cNvCxnSpPr>
            <p:nvPr/>
          </p:nvCxnSpPr>
          <p:spPr>
            <a:xfrm>
              <a:off x="5029200" y="3117444"/>
              <a:ext cx="2667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Oval 61"/>
            <p:cNvSpPr/>
            <p:nvPr/>
          </p:nvSpPr>
          <p:spPr>
            <a:xfrm>
              <a:off x="5295900" y="2934564"/>
              <a:ext cx="365760" cy="3657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+</a:t>
              </a:r>
            </a:p>
          </p:txBody>
        </p:sp>
        <p:cxnSp>
          <p:nvCxnSpPr>
            <p:cNvPr id="63" name="Straight Arrow Connector 62"/>
            <p:cNvCxnSpPr>
              <a:endCxn id="62" idx="6"/>
            </p:cNvCxnSpPr>
            <p:nvPr/>
          </p:nvCxnSpPr>
          <p:spPr>
            <a:xfrm flipH="1">
              <a:off x="5661660" y="3117444"/>
              <a:ext cx="2667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Straight Arrow Connector 63"/>
          <p:cNvCxnSpPr>
            <a:stCxn id="62" idx="4"/>
          </p:cNvCxnSpPr>
          <p:nvPr/>
        </p:nvCxnSpPr>
        <p:spPr>
          <a:xfrm>
            <a:off x="3260052" y="3745788"/>
            <a:ext cx="327262" cy="38100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352800" y="3969770"/>
            <a:ext cx="533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72" name="Group 71"/>
          <p:cNvGrpSpPr/>
          <p:nvPr/>
        </p:nvGrpSpPr>
        <p:grpSpPr>
          <a:xfrm>
            <a:off x="3757342" y="3513160"/>
            <a:ext cx="654524" cy="254236"/>
            <a:chOff x="5029200" y="2934564"/>
            <a:chExt cx="899160" cy="365760"/>
          </a:xfrm>
        </p:grpSpPr>
        <p:cxnSp>
          <p:nvCxnSpPr>
            <p:cNvPr id="73" name="Straight Arrow Connector 72"/>
            <p:cNvCxnSpPr>
              <a:endCxn id="74" idx="2"/>
            </p:cNvCxnSpPr>
            <p:nvPr/>
          </p:nvCxnSpPr>
          <p:spPr>
            <a:xfrm>
              <a:off x="5029200" y="3117444"/>
              <a:ext cx="2667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Oval 73"/>
            <p:cNvSpPr/>
            <p:nvPr/>
          </p:nvSpPr>
          <p:spPr>
            <a:xfrm>
              <a:off x="5295900" y="2934564"/>
              <a:ext cx="365760" cy="36576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+</a:t>
              </a:r>
            </a:p>
          </p:txBody>
        </p:sp>
        <p:cxnSp>
          <p:nvCxnSpPr>
            <p:cNvPr id="75" name="Straight Arrow Connector 74"/>
            <p:cNvCxnSpPr>
              <a:endCxn id="74" idx="6"/>
            </p:cNvCxnSpPr>
            <p:nvPr/>
          </p:nvCxnSpPr>
          <p:spPr>
            <a:xfrm flipH="1">
              <a:off x="5661660" y="3117444"/>
              <a:ext cx="26670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6" name="Straight Arrow Connector 75"/>
          <p:cNvCxnSpPr>
            <a:stCxn id="74" idx="4"/>
          </p:cNvCxnSpPr>
          <p:nvPr/>
        </p:nvCxnSpPr>
        <p:spPr>
          <a:xfrm>
            <a:off x="4084604" y="3767396"/>
            <a:ext cx="327262" cy="38100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177352" y="3991378"/>
            <a:ext cx="533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33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  <p:bldP spid="14" grpId="0" animBg="1"/>
      <p:bldP spid="15" grpId="0" animBg="1"/>
      <p:bldP spid="16" grpId="0" animBg="1"/>
      <p:bldP spid="20" grpId="0" animBg="1"/>
      <p:bldP spid="21" grpId="0" animBg="1"/>
      <p:bldP spid="23" grpId="0" animBg="1"/>
      <p:bldP spid="25" grpId="0" animBg="1"/>
      <p:bldP spid="5" grpId="0" animBg="1"/>
      <p:bldP spid="26" grpId="0" animBg="1"/>
      <p:bldP spid="27" grpId="0" animBg="1"/>
      <p:bldP spid="35" grpId="0" animBg="1"/>
      <p:bldP spid="41" grpId="0" animBg="1"/>
      <p:bldP spid="53" grpId="0" animBg="1"/>
      <p:bldP spid="65" grpId="0" animBg="1"/>
      <p:bldP spid="7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Coefficient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62002" y="1143000"/>
          <a:ext cx="7467597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733">
                  <a:extLst>
                    <a:ext uri="{9D8B030D-6E8A-4147-A177-3AD203B41FA5}">
                      <a16:colId xmlns="" xmlns:a16="http://schemas.microsoft.com/office/drawing/2014/main" val="1881567836"/>
                    </a:ext>
                  </a:extLst>
                </a:gridCol>
                <a:gridCol w="829733">
                  <a:extLst>
                    <a:ext uri="{9D8B030D-6E8A-4147-A177-3AD203B41FA5}">
                      <a16:colId xmlns="" xmlns:a16="http://schemas.microsoft.com/office/drawing/2014/main" val="728414176"/>
                    </a:ext>
                  </a:extLst>
                </a:gridCol>
                <a:gridCol w="829733">
                  <a:extLst>
                    <a:ext uri="{9D8B030D-6E8A-4147-A177-3AD203B41FA5}">
                      <a16:colId xmlns="" xmlns:a16="http://schemas.microsoft.com/office/drawing/2014/main" val="1893645811"/>
                    </a:ext>
                  </a:extLst>
                </a:gridCol>
                <a:gridCol w="829733">
                  <a:extLst>
                    <a:ext uri="{9D8B030D-6E8A-4147-A177-3AD203B41FA5}">
                      <a16:colId xmlns="" xmlns:a16="http://schemas.microsoft.com/office/drawing/2014/main" val="329207486"/>
                    </a:ext>
                  </a:extLst>
                </a:gridCol>
                <a:gridCol w="829733">
                  <a:extLst>
                    <a:ext uri="{9D8B030D-6E8A-4147-A177-3AD203B41FA5}">
                      <a16:colId xmlns="" xmlns:a16="http://schemas.microsoft.com/office/drawing/2014/main" val="47506232"/>
                    </a:ext>
                  </a:extLst>
                </a:gridCol>
                <a:gridCol w="829733">
                  <a:extLst>
                    <a:ext uri="{9D8B030D-6E8A-4147-A177-3AD203B41FA5}">
                      <a16:colId xmlns="" xmlns:a16="http://schemas.microsoft.com/office/drawing/2014/main" val="1649283705"/>
                    </a:ext>
                  </a:extLst>
                </a:gridCol>
                <a:gridCol w="829733">
                  <a:extLst>
                    <a:ext uri="{9D8B030D-6E8A-4147-A177-3AD203B41FA5}">
                      <a16:colId xmlns="" xmlns:a16="http://schemas.microsoft.com/office/drawing/2014/main" val="718640958"/>
                    </a:ext>
                  </a:extLst>
                </a:gridCol>
                <a:gridCol w="829733">
                  <a:extLst>
                    <a:ext uri="{9D8B030D-6E8A-4147-A177-3AD203B41FA5}">
                      <a16:colId xmlns="" xmlns:a16="http://schemas.microsoft.com/office/drawing/2014/main" val="205601540"/>
                    </a:ext>
                  </a:extLst>
                </a:gridCol>
                <a:gridCol w="829733">
                  <a:extLst>
                    <a:ext uri="{9D8B030D-6E8A-4147-A177-3AD203B41FA5}">
                      <a16:colId xmlns="" xmlns:a16="http://schemas.microsoft.com/office/drawing/2014/main" val="3562826060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..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k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7363522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0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2418655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5139497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2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20652379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3469862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6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8378905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..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07594224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n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 anchorCtr="1">
                    <a:lnL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8413936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89008" y="5132696"/>
            <a:ext cx="335280" cy="304267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633648" y="1268104"/>
            <a:ext cx="335280" cy="304267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ontent Placeholder 4"/>
          <p:cNvSpPr txBox="1">
            <a:spLocks/>
          </p:cNvSpPr>
          <p:nvPr/>
        </p:nvSpPr>
        <p:spPr>
          <a:xfrm>
            <a:off x="2088676" y="5576248"/>
            <a:ext cx="4814248" cy="855619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vert="horz" wrap="square" lIns="91440" tIns="45720" rIns="91440" bIns="45720" rtlCol="0">
            <a:spAutoFit/>
          </a:bodyPr>
          <a:lstStyle>
            <a:lvl1pPr marL="342900" indent="-3429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nsolas" pitchFamily="49" charset="0"/>
                <a:cs typeface="Consolas" pitchFamily="49" charset="0"/>
              </a:rPr>
              <a:t>if k=0 or k=n then return 1 </a:t>
            </a:r>
          </a:p>
          <a:p>
            <a:pPr marL="0" indent="0">
              <a:buNone/>
            </a:pPr>
            <a:r>
              <a:rPr lang="en-US" sz="2000" b="1" dirty="0">
                <a:latin typeface="Consolas" pitchFamily="49" charset="0"/>
                <a:cs typeface="Consolas" pitchFamily="49" charset="0"/>
              </a:rPr>
              <a:t>else return C(n-1, k-1)+C(n-1, k)</a:t>
            </a:r>
            <a:endParaRPr lang="pt-BR" sz="2000" b="1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19713139">
            <a:off x="5658630" y="3700832"/>
            <a:ext cx="2488589" cy="13234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 BLANCA" panose="02000000000000000000" pitchFamily="2" charset="0"/>
              </a:rPr>
              <a:t>PASCAL’s TRIANGLE</a:t>
            </a:r>
          </a:p>
        </p:txBody>
      </p:sp>
    </p:spTree>
    <p:extLst>
      <p:ext uri="{BB962C8B-B14F-4D97-AF65-F5344CB8AC3E}">
        <p14:creationId xmlns:p14="http://schemas.microsoft.com/office/powerpoint/2010/main" val="261935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600" dirty="0"/>
              <a:t>Generalized Solution using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Characterize the </a:t>
            </a:r>
            <a:r>
              <a:rPr lang="en-US" b="1" dirty="0"/>
              <a:t>structure</a:t>
            </a:r>
            <a:r>
              <a:rPr lang="en-US" dirty="0"/>
              <a:t> of an optimal solution.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Recursively </a:t>
            </a:r>
            <a:r>
              <a:rPr lang="en-US" b="1" dirty="0"/>
              <a:t>define the value </a:t>
            </a:r>
            <a:r>
              <a:rPr lang="en-US" dirty="0"/>
              <a:t>of an optimal solution.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Compute the value of an optimal solution in a </a:t>
            </a:r>
            <a:r>
              <a:rPr lang="en-US" b="1" dirty="0"/>
              <a:t>bottom-up fashion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Construct </a:t>
            </a:r>
            <a:r>
              <a:rPr lang="en-US" b="1" dirty="0"/>
              <a:t>an optimal solution </a:t>
            </a:r>
            <a:r>
              <a:rPr lang="en-US" dirty="0"/>
              <a:t>from the computed information.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96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8457" y="2747963"/>
            <a:ext cx="5907087" cy="1362075"/>
          </a:xfrm>
          <a:noFill/>
        </p:spPr>
        <p:txBody>
          <a:bodyPr/>
          <a:lstStyle/>
          <a:p>
            <a:r>
              <a:rPr lang="en-US" cap="none" dirty="0">
                <a:solidFill>
                  <a:srgbClr val="C00000"/>
                </a:solidFill>
              </a:rPr>
              <a:t>Make a Change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986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Make Change Problem - Definition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need to generate a </a:t>
                </a:r>
                <a:r>
                  <a:rPr lang="en-US" dirty="0">
                    <a:solidFill>
                      <a:srgbClr val="FF0000"/>
                    </a:solidFill>
                  </a:rPr>
                  <a:t>table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], </m:t>
                    </m:r>
                  </m:oMath>
                </a14:m>
                <a:r>
                  <a:rPr lang="en-US" dirty="0"/>
                  <a:t>where</a:t>
                </a:r>
              </a:p>
              <a:p>
                <a:pPr marL="85725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= number of denominations </a:t>
                </a:r>
              </a:p>
              <a:p>
                <a:pPr marL="85725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= amount for which you need to make a change. </a:t>
                </a:r>
              </a:p>
              <a:p>
                <a:r>
                  <a:rPr lang="en-US" dirty="0"/>
                  <a:t>To generate </a:t>
                </a:r>
                <a:r>
                  <a:rPr lang="en-US" b="1" dirty="0"/>
                  <a:t>table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dirty="0"/>
                  <a:t>use following steps:</a:t>
                </a:r>
              </a:p>
              <a:p>
                <a:pPr marL="400050" lvl="1" indent="0">
                  <a:buNone/>
                </a:pPr>
                <a:r>
                  <a:rPr lang="en-US" dirty="0"/>
                  <a:t>Step-1:  Make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0&lt;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400050" lvl="1" indent="0">
                  <a:buNone/>
                </a:pPr>
                <a:r>
                  <a:rPr lang="en-US" b="1" dirty="0"/>
                  <a:t>Repeat step-2 to step-4 for the remaining matrix values </a:t>
                </a:r>
              </a:p>
              <a:p>
                <a:pPr marL="400050" lvl="1" indent="0">
                  <a:buNone/>
                </a:pPr>
                <a:r>
                  <a:rPr lang="en-US" dirty="0"/>
                  <a:t>Step-2:  If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1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 dirty="0">
                        <a:latin typeface="Cambria Math" panose="02040503050406030204" pitchFamily="18" charset="0"/>
                      </a:rPr>
                      <m:t>], </m:t>
                    </m:r>
                  </m:oMath>
                </a14:m>
                <a:r>
                  <a:rPr lang="en-US" dirty="0"/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marL="400050" lvl="1" indent="0">
                  <a:buNone/>
                </a:pPr>
                <a:r>
                  <a:rPr lang="en-US" dirty="0"/>
                  <a:t>Step-3:  If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b="1" dirty="0"/>
              </a:p>
              <a:p>
                <a:pPr marL="400050" lvl="1" indent="0">
                  <a:buNone/>
                </a:pPr>
                <a:r>
                  <a:rPr lang="en-US" dirty="0"/>
                  <a:t>Step-4:  Otherwise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𝒄</m:t>
                    </m:r>
                    <m:d>
                      <m:dPr>
                        <m:begChr m:val="["/>
                        <m:endChr m:val="]"/>
                        <m:ctrlPr>
                          <a:rPr lang="en-US" b="1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1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d>
                    <m:r>
                      <a:rPr lang="en-US" b="1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𝒄</m:t>
                    </m:r>
                    <m:d>
                      <m:dPr>
                        <m:begChr m:val="["/>
                        <m:endChr m:val="]"/>
                        <m:ctrlPr>
                          <a:rPr lang="en-US" b="1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 err="1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b="1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1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609600" y="3769056"/>
            <a:ext cx="7715534" cy="13716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4267200" y="5140656"/>
            <a:ext cx="1343736" cy="764844"/>
            <a:chOff x="4267200" y="5140656"/>
            <a:chExt cx="1343736" cy="764844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4267200" y="5140656"/>
              <a:ext cx="0" cy="76484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endCxn id="15" idx="1"/>
            </p:cNvCxnSpPr>
            <p:nvPr/>
          </p:nvCxnSpPr>
          <p:spPr>
            <a:xfrm>
              <a:off x="4267200" y="5905500"/>
              <a:ext cx="1343736" cy="0"/>
            </a:xfrm>
            <a:prstGeom prst="straightConnector1">
              <a:avLst/>
            </a:prstGeom>
            <a:ln w="38100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" name="Rectangle 14"/>
          <p:cNvSpPr/>
          <p:nvPr/>
        </p:nvSpPr>
        <p:spPr>
          <a:xfrm>
            <a:off x="5610936" y="5562600"/>
            <a:ext cx="2390064" cy="6858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Optimal Sub-structure</a:t>
            </a:r>
          </a:p>
        </p:txBody>
      </p:sp>
    </p:spTree>
    <p:extLst>
      <p:ext uri="{BB962C8B-B14F-4D97-AF65-F5344CB8AC3E}">
        <p14:creationId xmlns:p14="http://schemas.microsoft.com/office/powerpoint/2010/main" val="245520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Change - 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Denominations: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=4, </m:t>
                    </m:r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dirty="0"/>
                  <a:t>. Make a change of </a:t>
                </a:r>
                <a:r>
                  <a:rPr lang="en-US" dirty="0">
                    <a:solidFill>
                      <a:srgbClr val="FF0000"/>
                    </a:solidFill>
                  </a:rPr>
                  <a:t>Rs.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990597" y="1565241"/>
                <a:ext cx="6961499" cy="1579927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indent="-57150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Step-1:  Make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0&lt;</m:t>
                    </m:r>
                    <m:r>
                      <a:rPr lang="en-US" sz="20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indent="-57150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Step-2: 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],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indent="-57150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Step-3: 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b="1" dirty="0">
                  <a:solidFill>
                    <a:schemeClr val="tx1"/>
                  </a:solidFill>
                </a:endParaRPr>
              </a:p>
              <a:p>
                <a:pPr indent="-57150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Step-4:  Otherwise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],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7" y="1565241"/>
                <a:ext cx="6961499" cy="1579927"/>
              </a:xfrm>
              <a:prstGeom prst="rect">
                <a:avLst/>
              </a:prstGeom>
              <a:blipFill>
                <a:blip r:embed="rId3"/>
                <a:stretch>
                  <a:fillRect l="-786" t="-382" b="-4962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78924521"/>
                  </p:ext>
                </p:extLst>
              </p:nvPr>
            </p:nvGraphicFramePr>
            <p:xfrm>
              <a:off x="990597" y="3581400"/>
              <a:ext cx="7848600" cy="2133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6803">
                      <a:extLst>
                        <a:ext uri="{9D8B030D-6E8A-4147-A177-3AD203B41FA5}">
                          <a16:colId xmlns="" xmlns:a16="http://schemas.microsoft.com/office/drawing/2014/main" val="1881567836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728414176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1893645811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329207486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47506232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1649283705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718640958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205601540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3562826060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2419456868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4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6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7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8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47363522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0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3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4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5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6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7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8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2418655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0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3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3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4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251394972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0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3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42065237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78924521"/>
                  </p:ext>
                </p:extLst>
              </p:nvPr>
            </p:nvGraphicFramePr>
            <p:xfrm>
              <a:off x="990597" y="3581400"/>
              <a:ext cx="7848600" cy="2133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6803">
                      <a:extLst>
                        <a:ext uri="{9D8B030D-6E8A-4147-A177-3AD203B41FA5}">
                          <a16:colId xmlns:a16="http://schemas.microsoft.com/office/drawing/2014/main" val="1881567836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728414176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1893645811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329207486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47506232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1649283705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718640958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205601540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3562826060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2419456868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2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4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6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7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8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363522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71" t="-100000" r="-637714" b="-208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0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2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3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4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5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6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7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8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18655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71" t="-202222" r="-637714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0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2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3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2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3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4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2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51394972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71" t="-340000" r="-637714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0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2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3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2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2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2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065237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6480" y="4217457"/>
                <a:ext cx="82411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80" y="4217457"/>
                <a:ext cx="824117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66480" y="4754194"/>
                <a:ext cx="82411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80" y="4754194"/>
                <a:ext cx="82411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66480" y="5257800"/>
                <a:ext cx="82411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80" y="5257800"/>
                <a:ext cx="824117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886200" y="3024335"/>
                <a:ext cx="304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3024335"/>
                <a:ext cx="30480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>
            <a:off x="4214693" y="3363284"/>
            <a:ext cx="87047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60818" y="3132452"/>
            <a:ext cx="1316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Amount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18096" y="1054744"/>
            <a:ext cx="2926080" cy="365760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045189" y="4190161"/>
            <a:ext cx="91440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066800" y="4732586"/>
            <a:ext cx="91440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066800" y="5273946"/>
            <a:ext cx="91440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2223448" y="3671248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007056" y="3657600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3672840" y="3657600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472937" y="3610910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257800" y="3672634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019800" y="3686282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6754504" y="3686282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543800" y="3661043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8241146" y="3672634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7889544" y="1054744"/>
            <a:ext cx="697346" cy="365760"/>
          </a:xfrm>
          <a:prstGeom prst="rect">
            <a:avLst/>
          </a:prstGeom>
          <a:solidFill>
            <a:srgbClr val="0066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>
            <a:off x="2514600" y="1981200"/>
            <a:ext cx="126810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226860" y="4190161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223448" y="4754194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2223448" y="5273107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971800" y="4250186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3637584" y="4250186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437681" y="4203496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5222544" y="4265220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5984544" y="4278868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6719248" y="4278868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7508544" y="4253629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8205890" y="4265220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2993408" y="4769938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659192" y="4769938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4459289" y="4723248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244152" y="4784972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6006152" y="4798620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6740856" y="4798620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7530152" y="4773381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8227498" y="4784972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2968214" y="5281730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3633998" y="5281730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4434095" y="5235040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5218958" y="5296764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5980958" y="5310412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6715662" y="5310412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504958" y="5285173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8202304" y="5296764"/>
            <a:ext cx="4082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976949" y="4661848"/>
            <a:ext cx="78486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968992" y="5230504"/>
            <a:ext cx="7848600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5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3" grpId="0"/>
      <p:bldP spid="15" grpId="0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6" grpId="0" animBg="1"/>
      <p:bldP spid="37" grpId="0" animBg="1"/>
      <p:bldP spid="38" grpId="0" animBg="1"/>
      <p:bldP spid="31" grpId="0" animBg="1"/>
      <p:bldP spid="33" grpId="0" animBg="1"/>
      <p:bldP spid="35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Change - 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Denominations: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=4, </m:t>
                    </m:r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dirty="0"/>
                  <a:t>. Make a change of </a:t>
                </a:r>
                <a:r>
                  <a:rPr lang="en-US" dirty="0">
                    <a:solidFill>
                      <a:srgbClr val="FF0000"/>
                    </a:solidFill>
                  </a:rPr>
                  <a:t>Rs.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990597" y="1565241"/>
                <a:ext cx="6961499" cy="1579927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lvl="1" indent="-57150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Step-1:  Make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0&lt;</m:t>
                    </m:r>
                    <m:r>
                      <a:rPr lang="en-US" sz="20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indent="-57150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Step-2: 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],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indent="-57150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Step-3: 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b="1" dirty="0">
                  <a:solidFill>
                    <a:schemeClr val="tx1"/>
                  </a:solidFill>
                </a:endParaRPr>
              </a:p>
              <a:p>
                <a:pPr indent="-57150"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tx1"/>
                    </a:solidFill>
                  </a:rPr>
                  <a:t>Step-4:  Otherwise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 = 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],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b="1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7" y="1565241"/>
                <a:ext cx="6961499" cy="1579927"/>
              </a:xfrm>
              <a:prstGeom prst="rect">
                <a:avLst/>
              </a:prstGeom>
              <a:blipFill>
                <a:blip r:embed="rId3"/>
                <a:stretch>
                  <a:fillRect l="-786" t="-382" b="-4962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3"/>
              <p:cNvGraphicFramePr>
                <a:graphicFrameLocks/>
              </p:cNvGraphicFramePr>
              <p:nvPr/>
            </p:nvGraphicFramePr>
            <p:xfrm>
              <a:off x="990597" y="3581400"/>
              <a:ext cx="7848600" cy="2133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6803">
                      <a:extLst>
                        <a:ext uri="{9D8B030D-6E8A-4147-A177-3AD203B41FA5}">
                          <a16:colId xmlns="" xmlns:a16="http://schemas.microsoft.com/office/drawing/2014/main" val="1881567836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728414176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1893645811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329207486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47506232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1649283705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718640958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205601540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3562826060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="" xmlns:a16="http://schemas.microsoft.com/office/drawing/2014/main" val="2419456868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4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6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7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rgbClr val="C00000"/>
                              </a:solidFill>
                            </a:rPr>
                            <a:t>8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47363522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0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3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4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5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6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7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8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2418655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0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3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3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4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251394972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0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3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1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/>
                            <a:t>2</a:t>
                          </a: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42065237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78924521"/>
                  </p:ext>
                </p:extLst>
              </p:nvPr>
            </p:nvGraphicFramePr>
            <p:xfrm>
              <a:off x="990597" y="3581400"/>
              <a:ext cx="7848600" cy="2133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6803">
                      <a:extLst>
                        <a:ext uri="{9D8B030D-6E8A-4147-A177-3AD203B41FA5}">
                          <a16:colId xmlns:a16="http://schemas.microsoft.com/office/drawing/2014/main" val="1881567836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728414176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1893645811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329207486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47506232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1649283705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718640958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205601540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3562826060"/>
                        </a:ext>
                      </a:extLst>
                    </a:gridCol>
                    <a:gridCol w="753533">
                      <a:extLst>
                        <a:ext uri="{9D8B030D-6E8A-4147-A177-3AD203B41FA5}">
                          <a16:colId xmlns:a16="http://schemas.microsoft.com/office/drawing/2014/main" val="2419456868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2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4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6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7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>
                              <a:solidFill>
                                <a:srgbClr val="C00000"/>
                              </a:solidFill>
                            </a:rPr>
                            <a:t>8</a:t>
                          </a:r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7363522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71" t="-100000" r="-637714" b="-208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0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2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3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4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5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6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7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8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186556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71" t="-202222" r="-637714" b="-1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0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2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3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2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3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4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2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51394972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71" t="-340000" r="-637714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0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2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3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2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1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2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dirty="0" smtClean="0"/>
                            <a:t>2</a:t>
                          </a:r>
                          <a:endParaRPr lang="en-US" sz="2400" b="1" dirty="0"/>
                        </a:p>
                      </a:txBody>
                      <a:tcPr anchor="ctr" anchorCtr="1">
                        <a:lnL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065237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66480" y="4217457"/>
                <a:ext cx="82411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80" y="4217457"/>
                <a:ext cx="824117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66480" y="4754194"/>
                <a:ext cx="82411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80" y="4754194"/>
                <a:ext cx="82411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66480" y="5257800"/>
                <a:ext cx="82411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80" y="5257800"/>
                <a:ext cx="824117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>
            <a:off x="4214693" y="3363284"/>
            <a:ext cx="87047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618096" y="1054744"/>
            <a:ext cx="2926080" cy="365760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889544" y="1054744"/>
            <a:ext cx="697346" cy="365760"/>
          </a:xfrm>
          <a:prstGeom prst="rect">
            <a:avLst/>
          </a:prstGeom>
          <a:solidFill>
            <a:srgbClr val="0066F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886200" y="3024335"/>
                <a:ext cx="304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3024335"/>
                <a:ext cx="30480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/>
          <p:cNvSpPr txBox="1"/>
          <p:nvPr/>
        </p:nvSpPr>
        <p:spPr>
          <a:xfrm>
            <a:off x="5160818" y="3132452"/>
            <a:ext cx="1316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Amount </a:t>
            </a:r>
          </a:p>
        </p:txBody>
      </p:sp>
      <p:sp>
        <p:nvSpPr>
          <p:cNvPr id="8" name="Oval 7"/>
          <p:cNvSpPr/>
          <p:nvPr/>
        </p:nvSpPr>
        <p:spPr>
          <a:xfrm>
            <a:off x="5272544" y="4788544"/>
            <a:ext cx="365760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ounded Rectangle 64"/>
              <p:cNvSpPr/>
              <p:nvPr/>
            </p:nvSpPr>
            <p:spPr>
              <a:xfrm>
                <a:off x="990597" y="5851626"/>
                <a:ext cx="7848600" cy="457200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[1][4],1+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[2][0])=</m:t>
                      </m:r>
                      <m:r>
                        <m:rPr>
                          <m:sty m:val="p"/>
                        </m:rP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⁡(4,1+0)=</m:t>
                      </m:r>
                      <m:r>
                        <m:rPr>
                          <m:sty m:val="p"/>
                        </m:rP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⁡(4,1)=1 </m:t>
                      </m:r>
                    </m:oMath>
                  </m:oMathPara>
                </a14:m>
                <a:endParaRPr lang="en-US" sz="24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65" name="Rounded 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597" y="5851626"/>
                <a:ext cx="7848600" cy="457200"/>
              </a:xfrm>
              <a:prstGeom prst="roundRect">
                <a:avLst/>
              </a:prstGeom>
              <a:blipFill>
                <a:blip r:embed="rId9"/>
                <a:stretch>
                  <a:fillRect b="-1688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Connector 66"/>
          <p:cNvCxnSpPr/>
          <p:nvPr/>
        </p:nvCxnSpPr>
        <p:spPr>
          <a:xfrm>
            <a:off x="2971800" y="3079956"/>
            <a:ext cx="4724400" cy="0"/>
          </a:xfrm>
          <a:prstGeom prst="line">
            <a:avLst/>
          </a:prstGeom>
          <a:ln w="28575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5313488" y="3706504"/>
            <a:ext cx="274320" cy="30480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ounded Rectangle 69"/>
          <p:cNvSpPr/>
          <p:nvPr/>
        </p:nvSpPr>
        <p:spPr>
          <a:xfrm>
            <a:off x="1066797" y="4751696"/>
            <a:ext cx="914400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/>
          <p:cNvCxnSpPr/>
          <p:nvPr/>
        </p:nvCxnSpPr>
        <p:spPr>
          <a:xfrm flipH="1" flipV="1">
            <a:off x="5544176" y="4953000"/>
            <a:ext cx="2837824" cy="1066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ounded Rectangle 74"/>
              <p:cNvSpPr/>
              <p:nvPr/>
            </p:nvSpPr>
            <p:spPr>
              <a:xfrm>
                <a:off x="990600" y="5867400"/>
                <a:ext cx="7848600" cy="457200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sv-SE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sv-SE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sv-SE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[1][5],1+</m:t>
                      </m:r>
                      <m:r>
                        <a:rPr lang="sv-SE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sv-SE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[2][1])=</m:t>
                      </m:r>
                      <m:r>
                        <a:rPr lang="sv-SE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sv-SE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(5,1+1)=</m:t>
                      </m:r>
                      <m:r>
                        <a:rPr lang="sv-SE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sv-SE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(5,2)=2</m:t>
                      </m:r>
                    </m:oMath>
                  </m:oMathPara>
                </a14:m>
                <a:endParaRPr lang="en-US" sz="24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75" name="Rounded Rectangle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867400"/>
                <a:ext cx="7848600" cy="457200"/>
              </a:xfrm>
              <a:prstGeom prst="roundRect">
                <a:avLst/>
              </a:prstGeom>
              <a:blipFill>
                <a:blip r:embed="rId10"/>
                <a:stretch>
                  <a:fillRect b="-15584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/>
          <p:cNvSpPr txBox="1"/>
          <p:nvPr/>
        </p:nvSpPr>
        <p:spPr>
          <a:xfrm>
            <a:off x="8077200" y="5230504"/>
            <a:ext cx="761997" cy="484632"/>
          </a:xfrm>
          <a:prstGeom prst="rect">
            <a:avLst/>
          </a:prstGeom>
          <a:solidFill>
            <a:srgbClr val="0066FF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76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1.48148E-6 L 0.07847 -0.0007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24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65" grpId="0" animBg="1"/>
      <p:bldP spid="65" grpId="1" animBg="1"/>
      <p:bldP spid="69" grpId="0" animBg="1"/>
      <p:bldP spid="70" grpId="0" animBg="1"/>
      <p:bldP spid="75" grpId="0" animBg="1"/>
      <p:bldP spid="7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Change -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Solve make a change problem using dynamic programming:</a:t>
            </a:r>
          </a:p>
          <a:p>
            <a:pPr lvl="1" indent="-342900"/>
            <a:r>
              <a:rPr lang="en-US" sz="2400" dirty="0"/>
              <a:t>Coin denominations: </a:t>
            </a:r>
            <a:r>
              <a:rPr lang="en-US" sz="2400" dirty="0">
                <a:solidFill>
                  <a:srgbClr val="FF0000"/>
                </a:solidFill>
              </a:rPr>
              <a:t>1, 4, 7</a:t>
            </a:r>
            <a:r>
              <a:rPr lang="en-US" sz="2400" dirty="0"/>
              <a:t>. Amount to pay: </a:t>
            </a:r>
            <a:r>
              <a:rPr lang="en-US" sz="2400" dirty="0">
                <a:solidFill>
                  <a:srgbClr val="FF0000"/>
                </a:solidFill>
              </a:rPr>
              <a:t>9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Solve make a change problem using dynamic programming:</a:t>
            </a:r>
          </a:p>
          <a:p>
            <a:pPr lvl="1" indent="-342900"/>
            <a:r>
              <a:rPr lang="en-US" sz="2400" dirty="0"/>
              <a:t>Coin denominations: </a:t>
            </a:r>
            <a:r>
              <a:rPr lang="en-US" sz="2400" dirty="0">
                <a:solidFill>
                  <a:srgbClr val="FF0000"/>
                </a:solidFill>
              </a:rPr>
              <a:t>1, 3, 5, 6</a:t>
            </a:r>
            <a:r>
              <a:rPr lang="en-US" sz="2400" dirty="0"/>
              <a:t>. Amount to pay: </a:t>
            </a:r>
            <a:r>
              <a:rPr lang="en-US" sz="2400" dirty="0">
                <a:solidFill>
                  <a:srgbClr val="FF0000"/>
                </a:solidFill>
              </a:rPr>
              <a:t>8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Solve make a change problem using dynamic programming:</a:t>
            </a:r>
          </a:p>
          <a:p>
            <a:pPr lvl="1" indent="-342900"/>
            <a:r>
              <a:rPr lang="en-US" sz="2400" dirty="0"/>
              <a:t>Coin denominations: </a:t>
            </a:r>
            <a:r>
              <a:rPr lang="en-US" sz="2400" dirty="0">
                <a:solidFill>
                  <a:srgbClr val="FF0000"/>
                </a:solidFill>
              </a:rPr>
              <a:t>1, 2, 4, 6</a:t>
            </a:r>
            <a:r>
              <a:rPr lang="en-US" sz="2400" dirty="0"/>
              <a:t>. Amount to pay: </a:t>
            </a:r>
            <a:r>
              <a:rPr lang="en-US" sz="2400" dirty="0">
                <a:solidFill>
                  <a:srgbClr val="FF0000"/>
                </a:solidFill>
              </a:rPr>
              <a:t>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66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66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4629" y="3088482"/>
            <a:ext cx="4934743" cy="681037"/>
          </a:xfrm>
          <a:noFill/>
        </p:spPr>
        <p:txBody>
          <a:bodyPr>
            <a:noAutofit/>
          </a:bodyPr>
          <a:lstStyle/>
          <a:p>
            <a:r>
              <a:rPr lang="en-US" cap="none" dirty="0">
                <a:solidFill>
                  <a:srgbClr val="C00000"/>
                </a:solidFill>
              </a:rPr>
              <a:t>0/1 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512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0/1 Knapsack Problem - Definition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need to generate table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,0…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  <a:p>
                <a:pPr marL="857250" lvl="1" indent="-457200">
                  <a:buFont typeface="+mj-lt"/>
                  <a:buAutoNum type="arabicPeriod"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number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objects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Here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marL="85725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capacity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knapsack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Here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To generate table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dirty="0"/>
                  <a:t>use following steps:</a:t>
                </a:r>
              </a:p>
              <a:p>
                <a:pPr marL="400050" lvl="1" indent="0">
                  <a:buNone/>
                </a:pPr>
                <a:r>
                  <a:rPr lang="en-US" sz="2400" dirty="0"/>
                  <a:t>Step-1: Make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][0]=0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0&lt;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400" dirty="0"/>
              </a:p>
              <a:p>
                <a:pPr marL="400050" lvl="1" indent="0">
                  <a:buNone/>
                </a:pPr>
                <a:r>
                  <a:rPr lang="en-US" sz="2400" dirty="0"/>
                  <a:t>Step-2: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&lt; </m:t>
                    </m:r>
                    <m:sSub>
                      <m:sSubPr>
                        <m:ctrlPr>
                          <a:rPr lang="en-US" sz="24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2400" dirty="0"/>
                  <a:t>then </a:t>
                </a:r>
              </a:p>
              <a:p>
                <a:pPr marL="0" indent="0">
                  <a:buNone/>
                </a:pPr>
                <a:r>
                  <a:rPr lang="en-US" sz="2600" dirty="0"/>
                  <a:t>		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begChr m:val="["/>
                        <m:endChr m:val="]"/>
                        <m:ctrlPr>
                          <a:rPr lang="en-US" sz="26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600" i="1" dirty="0" err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6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−1][</m:t>
                    </m:r>
                    <m:r>
                      <a:rPr lang="en-US" sz="2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600" dirty="0">
                  <a:solidFill>
                    <a:srgbClr val="FF0000"/>
                  </a:solidFill>
                </a:endParaRPr>
              </a:p>
              <a:p>
                <a:pPr marL="400050" lvl="1" indent="0">
                  <a:buNone/>
                </a:pPr>
                <a:r>
                  <a:rPr lang="en-US" sz="2400" dirty="0"/>
                  <a:t>Step-3: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≥ </m:t>
                    </m:r>
                    <m:sSub>
                      <m:sSubPr>
                        <m:ctrlPr>
                          <a:rPr lang="en-US" sz="24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sz="2400" dirty="0"/>
                  <a:t>then </a:t>
                </a:r>
              </a:p>
              <a:p>
                <a:pPr marL="400050" lvl="1" indent="0">
                  <a:buNone/>
                </a:pPr>
                <a:r>
                  <a:rPr lang="en-US" sz="2400" i="0" dirty="0">
                    <a:latin typeface="+mj-lt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]=</m:t>
                    </m:r>
                    <m:r>
                      <m:rPr>
                        <m:sty m:val="p"/>
                      </m:rP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−1][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], 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−1][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]+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marL="400050" lvl="1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691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0/1 Knapsack Problem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Solve the following knapsack problem using dynamic programming technique.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5585128"/>
                  </p:ext>
                </p:extLst>
              </p:nvPr>
            </p:nvGraphicFramePr>
            <p:xfrm>
              <a:off x="1219201" y="2438400"/>
              <a:ext cx="6553200" cy="1523836"/>
            </p:xfrm>
            <a:graphic>
              <a:graphicData uri="http://schemas.openxmlformats.org/drawingml/2006/table">
                <a:tbl>
                  <a:tblPr firstRow="1" firstCol="1" bandRow="1">
                    <a:tableStyleId>{EB9631B5-78F2-41C9-869B-9F39066F8104}</a:tableStyleId>
                  </a:tblPr>
                  <a:tblGrid>
                    <a:gridCol w="1167425">
                      <a:extLst>
                        <a:ext uri="{9D8B030D-6E8A-4147-A177-3AD203B41FA5}">
                          <a16:colId xmlns="" xmlns:a16="http://schemas.microsoft.com/office/drawing/2014/main" val="1723877004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="" xmlns:a16="http://schemas.microsoft.com/office/drawing/2014/main" val="845621035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="" xmlns:a16="http://schemas.microsoft.com/office/drawing/2014/main" val="3159257064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="" xmlns:a16="http://schemas.microsoft.com/office/drawing/2014/main" val="1307698233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="" xmlns:a16="http://schemas.microsoft.com/office/drawing/2014/main" val="3571796038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="" xmlns:a16="http://schemas.microsoft.com/office/drawing/2014/main" val="3138893208"/>
                        </a:ext>
                      </a:extLst>
                    </a:gridCol>
                  </a:tblGrid>
                  <a:tr h="436418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Object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1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2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3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4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5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376335145"/>
                      </a:ext>
                    </a:extLst>
                  </a:tr>
                  <a:tr h="54370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1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6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18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22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28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458203117"/>
                      </a:ext>
                    </a:extLst>
                  </a:tr>
                  <a:tr h="54370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1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2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5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6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7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4779019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5585128"/>
                  </p:ext>
                </p:extLst>
              </p:nvPr>
            </p:nvGraphicFramePr>
            <p:xfrm>
              <a:off x="1219201" y="2438400"/>
              <a:ext cx="6553200" cy="1523836"/>
            </p:xfrm>
            <a:graphic>
              <a:graphicData uri="http://schemas.openxmlformats.org/drawingml/2006/table">
                <a:tbl>
                  <a:tblPr firstRow="1" firstCol="1" bandRow="1">
                    <a:tableStyleId>{EB9631B5-78F2-41C9-869B-9F39066F8104}</a:tableStyleId>
                  </a:tblPr>
                  <a:tblGrid>
                    <a:gridCol w="1167425">
                      <a:extLst>
                        <a:ext uri="{9D8B030D-6E8A-4147-A177-3AD203B41FA5}">
                          <a16:colId xmlns:a16="http://schemas.microsoft.com/office/drawing/2014/main" val="1723877004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:a16="http://schemas.microsoft.com/office/drawing/2014/main" val="845621035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:a16="http://schemas.microsoft.com/office/drawing/2014/main" val="3159257064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:a16="http://schemas.microsoft.com/office/drawing/2014/main" val="1307698233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:a16="http://schemas.microsoft.com/office/drawing/2014/main" val="3571796038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:a16="http://schemas.microsoft.com/office/drawing/2014/main" val="3138893208"/>
                        </a:ext>
                      </a:extLst>
                    </a:gridCol>
                  </a:tblGrid>
                  <a:tr h="4364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42" t="-13889" r="-461458" b="-25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1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2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3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4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5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76335145"/>
                      </a:ext>
                    </a:extLst>
                  </a:tr>
                  <a:tr h="5437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42" t="-92135" r="-461458" b="-106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1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6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18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22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28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58203117"/>
                      </a:ext>
                    </a:extLst>
                  </a:tr>
                  <a:tr h="5437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42" t="-192135" r="-461458" b="-6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1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2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5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6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7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79019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2328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0/1 Knapsack Problem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80960734"/>
                  </p:ext>
                </p:extLst>
              </p:nvPr>
            </p:nvGraphicFramePr>
            <p:xfrm>
              <a:off x="190500" y="3505200"/>
              <a:ext cx="8763000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55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6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7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8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9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10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11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>
                              <a:solidFill>
                                <a:srgbClr val="C00000"/>
                              </a:solidFill>
                            </a:rPr>
                            <a:t>weight &amp; value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11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𝟏𝟖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𝟐𝟐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𝟐𝟖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80960734"/>
                  </p:ext>
                </p:extLst>
              </p:nvPr>
            </p:nvGraphicFramePr>
            <p:xfrm>
              <a:off x="190500" y="3505200"/>
              <a:ext cx="8763000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5500"/>
                    <a:gridCol w="555625"/>
                    <a:gridCol w="555625"/>
                    <a:gridCol w="555625"/>
                    <a:gridCol w="555625"/>
                    <a:gridCol w="555625"/>
                    <a:gridCol w="555625"/>
                    <a:gridCol w="555625"/>
                    <a:gridCol w="555625"/>
                    <a:gridCol w="555625"/>
                    <a:gridCol w="555625"/>
                    <a:gridCol w="555625"/>
                    <a:gridCol w="555625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200" dirty="0" smtClean="0">
                              <a:solidFill>
                                <a:srgbClr val="C00000"/>
                              </a:solidFill>
                            </a:rPr>
                            <a:t>weight &amp; value</a:t>
                          </a:r>
                          <a:endParaRPr lang="en-US" sz="22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4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6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8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9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10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11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291" t="-110667" r="-318605" b="-4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291" t="-210667" r="-318605" b="-3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291" t="-310667" r="-318605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291" t="-410667" r="-318605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291" t="-510667" r="-318605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/>
          <p:cNvCxnSpPr/>
          <p:nvPr/>
        </p:nvCxnSpPr>
        <p:spPr>
          <a:xfrm>
            <a:off x="3833693" y="3234549"/>
            <a:ext cx="87047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2895600"/>
                <a:ext cx="533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2895600"/>
                <a:ext cx="5334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779818" y="3003717"/>
            <a:ext cx="2687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Knapsack Capacity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2127336"/>
                  </p:ext>
                </p:extLst>
              </p:nvPr>
            </p:nvGraphicFramePr>
            <p:xfrm>
              <a:off x="190500" y="1066799"/>
              <a:ext cx="8763000" cy="1803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529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46101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51056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2000" i="1" dirty="0" err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][0]=0 </m:t>
                                </m:r>
                                <m:r>
                                  <a:rPr lang="en-US" sz="2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US" sz="2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0&lt;</m:t>
                                </m:r>
                                <m:r>
                                  <a:rPr lang="en-US" sz="2000" i="1" dirty="0" err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lvl="0"/>
                          <a:endParaRPr 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510559">
                    <a:tc>
                      <a:txBody>
                        <a:bodyPr/>
                        <a:lstStyle/>
                        <a:p>
                          <a:pPr marL="0" lvl="0" indent="-57150">
                            <a:buNone/>
                          </a:pPr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if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sz="2000" i="1" dirty="0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then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dirty="0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 err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dirty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sz="20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−1][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782857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else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000" i="1" dirty="0" err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][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]=</m:t>
                              </m:r>
                              <m:r>
                                <m:rPr>
                                  <m:sty m:val="p"/>
                                </m:rP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−1][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], 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−1][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2000" i="1" dirty="0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]+</m:t>
                              </m:r>
                              <m:sSub>
                                <m:sSubPr>
                                  <m:ctrlPr>
                                    <a:rPr lang="en-US" sz="2000" i="1" dirty="0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86318214"/>
                  </p:ext>
                </p:extLst>
              </p:nvPr>
            </p:nvGraphicFramePr>
            <p:xfrm>
              <a:off x="190500" y="1066799"/>
              <a:ext cx="8763000" cy="1803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52900"/>
                    <a:gridCol w="4610100"/>
                  </a:tblGrid>
                  <a:tr h="5105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147" t="-1190" r="-111454" b="-257143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pPr lvl="0"/>
                          <a:endParaRPr lang="en-US" sz="2000" dirty="0" smtClean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5105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147" t="-101190" r="-111454" b="-15714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7828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147" t="-131008" r="-111454" b="-232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TextBox 9"/>
          <p:cNvSpPr txBox="1"/>
          <p:nvPr/>
        </p:nvSpPr>
        <p:spPr>
          <a:xfrm>
            <a:off x="217394" y="3554506"/>
            <a:ext cx="19431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42047" y="4002741"/>
            <a:ext cx="19431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42047" y="4436082"/>
            <a:ext cx="19431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42047" y="4908900"/>
            <a:ext cx="19431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19635" y="5381718"/>
            <a:ext cx="19431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68941" y="5819037"/>
            <a:ext cx="19431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362200" y="3566160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73593" y="3566160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505200" y="3563727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038600" y="3581400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636770" y="3546502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135992" y="3554506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715000" y="3583193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248400" y="3581400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819788" y="3583193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7391400" y="3583193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7989570" y="3565520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8484870" y="3554506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365001" y="4052033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362200" y="4485374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362200" y="4937760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362200" y="540458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2362200" y="5851257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38" name="Straight Connector 37"/>
          <p:cNvCxnSpPr/>
          <p:nvPr/>
        </p:nvCxnSpPr>
        <p:spPr>
          <a:xfrm>
            <a:off x="289560" y="1447800"/>
            <a:ext cx="283464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3388659" y="3427207"/>
            <a:ext cx="0" cy="292608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41320" y="4023424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2908263" y="4508691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2937511" y="4907280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2898290" y="538033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2937511" y="5814369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3464075" y="4023424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3474048" y="446072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3500719" y="4958192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3513269" y="540458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3506993" y="5852160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190500" y="3934204"/>
            <a:ext cx="2099086" cy="5018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190500" y="3962400"/>
            <a:ext cx="2099086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4045662" y="4008716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4038600" y="452451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4045662" y="4906083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4045662" y="536480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4069529" y="5866221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4627249" y="4023424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4572000" y="4480560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4590605" y="495582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4587240" y="5410200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4614584" y="5835506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370696" y="972927"/>
            <a:ext cx="4708711" cy="21035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42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2.96296E-6 L 0.0625 0.00255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5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7" grpId="1" animBg="1"/>
      <p:bldP spid="68" grpId="0" animBg="1"/>
      <p:bldP spid="68" grpId="1" animBg="1"/>
      <p:bldP spid="69" grpId="0" animBg="1"/>
      <p:bldP spid="70" grpId="0" animBg="1"/>
      <p:bldP spid="71" grpId="0" animBg="1"/>
      <p:bldP spid="72" grpId="0" animBg="1"/>
      <p:bldP spid="73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0/1 Knapsack Problem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90500" y="3505200"/>
              <a:ext cx="8763000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55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6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7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8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9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10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11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1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>
                              <a:solidFill>
                                <a:srgbClr val="C00000"/>
                              </a:solidFill>
                            </a:rPr>
                            <a:t>weight &amp; value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11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𝟏𝟖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𝟐𝟐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𝟕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𝟐𝟖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13092458"/>
                  </p:ext>
                </p:extLst>
              </p:nvPr>
            </p:nvGraphicFramePr>
            <p:xfrm>
              <a:off x="190500" y="3505200"/>
              <a:ext cx="8763000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5500"/>
                    <a:gridCol w="555625"/>
                    <a:gridCol w="555625"/>
                    <a:gridCol w="555625"/>
                    <a:gridCol w="555625"/>
                    <a:gridCol w="555625"/>
                    <a:gridCol w="555625"/>
                    <a:gridCol w="555625"/>
                    <a:gridCol w="555625"/>
                    <a:gridCol w="555625"/>
                    <a:gridCol w="555625"/>
                    <a:gridCol w="555625"/>
                    <a:gridCol w="555625"/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200" dirty="0" smtClean="0">
                              <a:solidFill>
                                <a:srgbClr val="C00000"/>
                              </a:solidFill>
                            </a:rPr>
                            <a:t>weight &amp; value</a:t>
                          </a:r>
                          <a:endParaRPr lang="en-US" sz="22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4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6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8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9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10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11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291" t="-110667" r="-318605" b="-4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291" t="-210667" r="-318605" b="-3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291" t="-310667" r="-318605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19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291" t="-410667" r="-318605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28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29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29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2"/>
                          <a:stretch>
                            <a:fillRect l="-291" t="-510667" r="-318605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28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29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35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/>
          <p:cNvCxnSpPr/>
          <p:nvPr/>
        </p:nvCxnSpPr>
        <p:spPr>
          <a:xfrm>
            <a:off x="3833693" y="3234549"/>
            <a:ext cx="87047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2895600"/>
                <a:ext cx="533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2895600"/>
                <a:ext cx="533400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779818" y="3003717"/>
            <a:ext cx="2687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Knapsack Capacity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8022630"/>
                  </p:ext>
                </p:extLst>
              </p:nvPr>
            </p:nvGraphicFramePr>
            <p:xfrm>
              <a:off x="190500" y="1066799"/>
              <a:ext cx="8763000" cy="1803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529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46101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510560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2000" i="1" dirty="0" err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][0]=0 </m:t>
                                </m:r>
                                <m:r>
                                  <a:rPr lang="en-US" sz="2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US" sz="2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0&lt;</m:t>
                                </m:r>
                                <m:r>
                                  <a:rPr lang="en-US" sz="2000" i="1" dirty="0" err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rowSpan="3">
                      <a:txBody>
                        <a:bodyPr/>
                        <a:lstStyle/>
                        <a:p>
                          <a:pPr lvl="0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d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h𝑒𝑟𝑒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=3,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=5, </m:t>
                                </m:r>
                                <m:sSub>
                                  <m:sSubPr>
                                    <m:ctrlPr>
                                      <a:rPr lang="en-US" sz="20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=5, </m:t>
                                </m:r>
                                <m:sSub>
                                  <m:sSubPr>
                                    <m:ctrlPr>
                                      <a:rPr lang="en-US" sz="20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000" b="1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000" b="1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US" sz="2000" b="0" i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  <a:p>
                          <a:pPr lvl="0"/>
                          <a:r>
                            <a:rPr lang="en-US" sz="2000" i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So,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&gt;=</m:t>
                              </m:r>
                              <m:sSub>
                                <m:sSubPr>
                                  <m:ctrlPr>
                                    <a:rPr lang="en-US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sz="20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</m:oMath>
                          </a14:m>
                          <a:endParaRPr lang="en-US" sz="2000" i="0" dirty="0">
                            <a:solidFill>
                              <a:schemeClr val="tx1"/>
                            </a:solidFill>
                            <a:latin typeface="+mj-lt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[3][5] =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[2][5],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[2][0]+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000" i="1" baseline="-2500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US" sz="2000" i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a:t> 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⁡(7,0+18) = 18</m:t>
                              </m:r>
                            </m:oMath>
                          </a14:m>
                          <a:endParaRPr 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510559">
                    <a:tc>
                      <a:txBody>
                        <a:bodyPr/>
                        <a:lstStyle/>
                        <a:p>
                          <a:pPr marL="0" lvl="0" indent="-57150">
                            <a:buNone/>
                          </a:pPr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if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sz="2000" i="1" dirty="0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then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dirty="0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 err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dirty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sz="20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−1][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782857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else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000" i="1" dirty="0" err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][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]=</m:t>
                              </m:r>
                              <m:r>
                                <m:rPr>
                                  <m:sty m:val="p"/>
                                </m:rP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−1][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], 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−1][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2000" i="1" dirty="0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]+</m:t>
                              </m:r>
                              <m:sSub>
                                <m:sSubPr>
                                  <m:ctrlPr>
                                    <a:rPr lang="en-US" sz="2000" i="1" dirty="0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8022630"/>
                  </p:ext>
                </p:extLst>
              </p:nvPr>
            </p:nvGraphicFramePr>
            <p:xfrm>
              <a:off x="190500" y="1066799"/>
              <a:ext cx="8763000" cy="180397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52900"/>
                    <a:gridCol w="4610100"/>
                  </a:tblGrid>
                  <a:tr h="5105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147" t="-1190" r="-111454" b="-257143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90092" t="-337" r="-264" b="-1010"/>
                          </a:stretch>
                        </a:blipFill>
                      </a:tcPr>
                    </a:tc>
                  </a:tr>
                  <a:tr h="5105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147" t="-101190" r="-111454" b="-15714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7828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0">
                          <a:blip r:embed="rId4"/>
                          <a:stretch>
                            <a:fillRect l="-147" t="-131008" r="-111454" b="-232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8" name="TextBox 27"/>
          <p:cNvSpPr txBox="1"/>
          <p:nvPr/>
        </p:nvSpPr>
        <p:spPr>
          <a:xfrm>
            <a:off x="5168712" y="4052033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165911" y="4485374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165911" y="4937760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5165911" y="540458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5165911" y="5851257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5745031" y="4023424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711974" y="4508691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741222" y="4907280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5702001" y="538033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741222" y="5814369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6267786" y="4023424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6277759" y="446072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6304430" y="4958192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6316980" y="540458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6310704" y="5852160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6849373" y="4008716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6842311" y="452451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6849373" y="4906083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2" name="TextBox 71"/>
          <p:cNvSpPr txBox="1"/>
          <p:nvPr/>
        </p:nvSpPr>
        <p:spPr>
          <a:xfrm>
            <a:off x="6849373" y="536480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6873240" y="5866221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7394537" y="4031775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7361480" y="4517042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7390728" y="4915631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7351507" y="5388689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7390728" y="5822720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7917292" y="4031775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927265" y="4469079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7953936" y="4966543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7966486" y="5412939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7960210" y="5860511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8498879" y="4017067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8491817" y="4532869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8498879" y="4914434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8498879" y="5373159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8522746" y="5874572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414557" y="1108603"/>
            <a:ext cx="4437977" cy="167640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90500" y="4398967"/>
            <a:ext cx="8763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70161" y="3505200"/>
            <a:ext cx="548640" cy="457200"/>
          </a:xfrm>
          <a:prstGeom prst="rect">
            <a:avLst/>
          </a:prstGeom>
          <a:solidFill>
            <a:srgbClr val="00206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190500" y="3962400"/>
            <a:ext cx="2095500" cy="914400"/>
          </a:xfrm>
          <a:prstGeom prst="rect">
            <a:avLst/>
          </a:prstGeom>
          <a:solidFill>
            <a:srgbClr val="FFC00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190500" y="3961541"/>
            <a:ext cx="2095500" cy="1371600"/>
          </a:xfrm>
          <a:prstGeom prst="rect">
            <a:avLst/>
          </a:prstGeom>
          <a:solidFill>
            <a:srgbClr val="FFC00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194425" y="3959594"/>
            <a:ext cx="2095500" cy="1828800"/>
          </a:xfrm>
          <a:prstGeom prst="rect">
            <a:avLst/>
          </a:prstGeom>
          <a:solidFill>
            <a:srgbClr val="FFC00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190500" y="3959594"/>
            <a:ext cx="2095500" cy="2286000"/>
          </a:xfrm>
          <a:prstGeom prst="rect">
            <a:avLst/>
          </a:prstGeom>
          <a:solidFill>
            <a:srgbClr val="FFC00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4387663" y="1107141"/>
                <a:ext cx="4500843" cy="16240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h𝑒𝑟𝑒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=3,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=6, </m:t>
                      </m:r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=5, </m:t>
                      </m:r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=18</m:t>
                      </m:r>
                    </m:oMath>
                  </m:oMathPara>
                </a14:m>
                <a:endParaRPr lang="en-US" sz="2000" dirty="0"/>
              </a:p>
              <a:p>
                <a:pPr lvl="0"/>
                <a:r>
                  <a:rPr lang="en-US" sz="2000" dirty="0"/>
                  <a:t>So,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&gt;=</m:t>
                    </m:r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[3][6] =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𝑚𝑎𝑥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[2][6],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[2][1]+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000" i="1" baseline="-25000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           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𝑚𝑎𝑥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⁡(7,1+18) = 19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663" y="1107141"/>
                <a:ext cx="4500843" cy="1624099"/>
              </a:xfrm>
              <a:prstGeom prst="rect">
                <a:avLst/>
              </a:prstGeom>
              <a:blipFill rotWithShape="0">
                <a:blip r:embed="rId5"/>
                <a:stretch>
                  <a:fillRect l="-1491" b="-3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/>
          <p:cNvSpPr txBox="1"/>
          <p:nvPr/>
        </p:nvSpPr>
        <p:spPr>
          <a:xfrm>
            <a:off x="5610561" y="3505200"/>
            <a:ext cx="548640" cy="457200"/>
          </a:xfrm>
          <a:prstGeom prst="rect">
            <a:avLst/>
          </a:prstGeom>
          <a:solidFill>
            <a:srgbClr val="00206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401336" y="5791200"/>
            <a:ext cx="548640" cy="457200"/>
          </a:xfrm>
          <a:prstGeom prst="rect">
            <a:avLst/>
          </a:prstGeom>
          <a:solidFill>
            <a:srgbClr val="C0000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89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74" grpId="0" animBg="1"/>
      <p:bldP spid="75" grpId="0" animBg="1"/>
      <p:bldP spid="76" grpId="0" animBg="1"/>
      <p:bldP spid="8" grpId="0" animBg="1"/>
      <p:bldP spid="34" grpId="0" animBg="1"/>
      <p:bldP spid="34" grpId="1" animBg="1"/>
      <p:bldP spid="35" grpId="0" animBg="1"/>
      <p:bldP spid="35" grpId="1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1" grpId="0" animBg="1"/>
      <p:bldP spid="81" grpId="1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0/1 Knapsack Problem - Example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8763000" cy="5334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can also find the objects to be carried in the knapsack as follows,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Start looking at V[5, 11] = V[4, 11]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So not to include object 5</a:t>
            </a:r>
          </a:p>
          <a:p>
            <a:pPr marL="914400" lvl="1" indent="-457200">
              <a:buFont typeface="+mj-lt"/>
              <a:buAutoNum type="arabicPeriod" startAt="2"/>
            </a:pPr>
            <a:r>
              <a:rPr lang="en-US" dirty="0"/>
              <a:t>V[4, 11] ≠ V[3, 11] but V[3,11-w</a:t>
            </a:r>
            <a:r>
              <a:rPr lang="en-US" baseline="-25000" dirty="0"/>
              <a:t>4</a:t>
            </a:r>
            <a:r>
              <a:rPr lang="en-US" dirty="0"/>
              <a:t>]+v</a:t>
            </a:r>
            <a:r>
              <a:rPr lang="en-US" baseline="-25000" dirty="0"/>
              <a:t>4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So include object 4</a:t>
            </a:r>
          </a:p>
          <a:p>
            <a:pPr marL="914400" lvl="1" indent="-457200">
              <a:buFont typeface="+mj-lt"/>
              <a:buAutoNum type="arabicPeriod" startAt="3"/>
            </a:pPr>
            <a:r>
              <a:rPr lang="en-US" dirty="0"/>
              <a:t>V[3,5] ≠ V[2,5] but V[2,5-w</a:t>
            </a:r>
            <a:r>
              <a:rPr lang="en-US" baseline="-25000" dirty="0"/>
              <a:t>3</a:t>
            </a:r>
            <a:r>
              <a:rPr lang="en-US" dirty="0"/>
              <a:t>]+v</a:t>
            </a:r>
            <a:r>
              <a:rPr lang="en-US" baseline="-25000" dirty="0"/>
              <a:t>3</a:t>
            </a:r>
          </a:p>
          <a:p>
            <a:pPr lvl="1"/>
            <a:r>
              <a:rPr lang="en-US" b="1" dirty="0">
                <a:solidFill>
                  <a:schemeClr val="accent1"/>
                </a:solidFill>
              </a:rPr>
              <a:t>So include object 3</a:t>
            </a:r>
          </a:p>
          <a:p>
            <a:pPr marL="914400" lvl="1" indent="-457200">
              <a:buFont typeface="+mj-lt"/>
              <a:buAutoNum type="arabicPeriod" startAt="4"/>
            </a:pPr>
            <a:r>
              <a:rPr lang="en-US" dirty="0"/>
              <a:t>Now V[2,0] = V[1, 0]  and V[1,0] = V[0,0]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So objects 2 and 1 are not included. 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Answer: The optimal value we can have is 40. The objects included are 3 and 4.</a:t>
            </a:r>
          </a:p>
          <a:p>
            <a:endParaRPr lang="en-US" dirty="0"/>
          </a:p>
          <a:p>
            <a:pPr marL="514350" indent="-457200">
              <a:buFont typeface="+mj-lt"/>
              <a:buAutoNum type="arabicPeriod" startAt="2"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/>
              <p:cNvSpPr/>
              <p:nvPr/>
            </p:nvSpPr>
            <p:spPr>
              <a:xfrm>
                <a:off x="4991100" y="3048000"/>
                <a:ext cx="4152900" cy="99060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i="1" dirty="0" err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][</m:t>
                      </m:r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−1][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], </m:t>
                      </m:r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−1][</m:t>
                      </m:r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sz="2000" i="1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000" i="1" baseline="-25000" dirty="0" err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]+</m:t>
                      </m:r>
                      <m:r>
                        <a:rPr lang="en-US" sz="20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𝑣𝑖</m:t>
                      </m:r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100" y="3048000"/>
                <a:ext cx="4152900" cy="990600"/>
              </a:xfrm>
              <a:prstGeom prst="roundRect">
                <a:avLst/>
              </a:prstGeom>
              <a:blipFill>
                <a:blip r:embed="rId2"/>
                <a:stretch>
                  <a:fillRect b="-4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533400" y="5105400"/>
            <a:ext cx="8420100" cy="838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668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0/1 Knapsack Problem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Solution using dynamic programming: The knapsack carries two objects with </a:t>
            </a:r>
            <a:r>
              <a:rPr lang="en-US" b="1" dirty="0"/>
              <a:t>total profit of 40</a:t>
            </a:r>
            <a:r>
              <a:rPr lang="en-US" dirty="0"/>
              <a:t>. The selected objects are </a:t>
            </a:r>
            <a:r>
              <a:rPr lang="en-US" b="1" dirty="0"/>
              <a:t>3 and 4.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072753"/>
                  </p:ext>
                </p:extLst>
              </p:nvPr>
            </p:nvGraphicFramePr>
            <p:xfrm>
              <a:off x="1295400" y="1447800"/>
              <a:ext cx="6553200" cy="1523836"/>
            </p:xfrm>
            <a:graphic>
              <a:graphicData uri="http://schemas.openxmlformats.org/drawingml/2006/table">
                <a:tbl>
                  <a:tblPr firstRow="1" firstCol="1" bandRow="1">
                    <a:tableStyleId>{EB9631B5-78F2-41C9-869B-9F39066F8104}</a:tableStyleId>
                  </a:tblPr>
                  <a:tblGrid>
                    <a:gridCol w="1167425">
                      <a:extLst>
                        <a:ext uri="{9D8B030D-6E8A-4147-A177-3AD203B41FA5}">
                          <a16:colId xmlns="" xmlns:a16="http://schemas.microsoft.com/office/drawing/2014/main" val="1723877004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="" xmlns:a16="http://schemas.microsoft.com/office/drawing/2014/main" val="845621035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="" xmlns:a16="http://schemas.microsoft.com/office/drawing/2014/main" val="3159257064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="" xmlns:a16="http://schemas.microsoft.com/office/drawing/2014/main" val="1307698233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="" xmlns:a16="http://schemas.microsoft.com/office/drawing/2014/main" val="3571796038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="" xmlns:a16="http://schemas.microsoft.com/office/drawing/2014/main" val="3138893208"/>
                        </a:ext>
                      </a:extLst>
                    </a:gridCol>
                  </a:tblGrid>
                  <a:tr h="436418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Object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solidFill>
                                    <a:srgbClr val="C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1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2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3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4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5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376335145"/>
                      </a:ext>
                    </a:extLst>
                  </a:tr>
                  <a:tr h="54370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1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6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18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22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28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458203117"/>
                      </a:ext>
                    </a:extLst>
                  </a:tr>
                  <a:tr h="54370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dirty="0" smtClean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400" b="1" i="1" dirty="0" smtClean="0">
                                        <a:solidFill>
                                          <a:srgbClr val="C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1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2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5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6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</a:rPr>
                            <a:t>7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4779019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072753"/>
                  </p:ext>
                </p:extLst>
              </p:nvPr>
            </p:nvGraphicFramePr>
            <p:xfrm>
              <a:off x="1295400" y="1447800"/>
              <a:ext cx="6553200" cy="1523836"/>
            </p:xfrm>
            <a:graphic>
              <a:graphicData uri="http://schemas.openxmlformats.org/drawingml/2006/table">
                <a:tbl>
                  <a:tblPr firstRow="1" firstCol="1" bandRow="1">
                    <a:tableStyleId>{EB9631B5-78F2-41C9-869B-9F39066F8104}</a:tableStyleId>
                  </a:tblPr>
                  <a:tblGrid>
                    <a:gridCol w="116742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723877004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845621035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159257064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307698233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571796038"/>
                        </a:ext>
                      </a:extLst>
                    </a:gridCol>
                    <a:gridCol w="107715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138893208"/>
                        </a:ext>
                      </a:extLst>
                    </a:gridCol>
                  </a:tblGrid>
                  <a:tr h="4364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21" t="-13889" r="-461458" b="-256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1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2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3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4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effectLst/>
                            </a:rPr>
                            <a:t>5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376335145"/>
                      </a:ext>
                    </a:extLst>
                  </a:tr>
                  <a:tr h="5437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21" t="-92135" r="-461458" b="-1078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1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6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18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22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28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58203117"/>
                      </a:ext>
                    </a:extLst>
                  </a:tr>
                  <a:tr h="5437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521" t="-190000" r="-461458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1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2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5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6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 smtClean="0">
                              <a:effectLst/>
                            </a:rPr>
                            <a:t>7</a:t>
                          </a:r>
                          <a:endParaRPr lang="en-US" sz="2400" dirty="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  <a:cs typeface="Shruti" panose="020B0502040204020203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24779019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10622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0/1 Knapsack Problem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Solve the following knapsack problem using dynamic programming. 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13" t="-800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123699"/>
              </p:ext>
            </p:extLst>
          </p:nvPr>
        </p:nvGraphicFramePr>
        <p:xfrm>
          <a:off x="1817408" y="2286000"/>
          <a:ext cx="5509185" cy="1523836"/>
        </p:xfrm>
        <a:graphic>
          <a:graphicData uri="http://schemas.openxmlformats.org/drawingml/2006/table">
            <a:tbl>
              <a:tblPr firstRow="1" firstCol="1" bandRow="1">
                <a:tableStyleId>{74C1A8A3-306A-4EB7-A6B1-4F7E0EB9C5D6}</a:tableStyleId>
              </a:tblPr>
              <a:tblGrid>
                <a:gridCol w="1140276">
                  <a:extLst>
                    <a:ext uri="{9D8B030D-6E8A-4147-A177-3AD203B41FA5}">
                      <a16:colId xmlns="" xmlns:a16="http://schemas.microsoft.com/office/drawing/2014/main" val="1723877004"/>
                    </a:ext>
                  </a:extLst>
                </a:gridCol>
                <a:gridCol w="1159098">
                  <a:extLst>
                    <a:ext uri="{9D8B030D-6E8A-4147-A177-3AD203B41FA5}">
                      <a16:colId xmlns="" xmlns:a16="http://schemas.microsoft.com/office/drawing/2014/main" val="845621035"/>
                    </a:ext>
                  </a:extLst>
                </a:gridCol>
                <a:gridCol w="1159098">
                  <a:extLst>
                    <a:ext uri="{9D8B030D-6E8A-4147-A177-3AD203B41FA5}">
                      <a16:colId xmlns="" xmlns:a16="http://schemas.microsoft.com/office/drawing/2014/main" val="3159257064"/>
                    </a:ext>
                  </a:extLst>
                </a:gridCol>
                <a:gridCol w="1069938">
                  <a:extLst>
                    <a:ext uri="{9D8B030D-6E8A-4147-A177-3AD203B41FA5}">
                      <a16:colId xmlns="" xmlns:a16="http://schemas.microsoft.com/office/drawing/2014/main" val="1307698233"/>
                    </a:ext>
                  </a:extLst>
                </a:gridCol>
                <a:gridCol w="980775">
                  <a:extLst>
                    <a:ext uri="{9D8B030D-6E8A-4147-A177-3AD203B41FA5}">
                      <a16:colId xmlns="" xmlns:a16="http://schemas.microsoft.com/office/drawing/2014/main" val="3571796038"/>
                    </a:ext>
                  </a:extLst>
                </a:gridCol>
              </a:tblGrid>
              <a:tr h="4364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Object </a:t>
                      </a:r>
                      <a:r>
                        <a:rPr lang="en-US" sz="2400" dirty="0" err="1">
                          <a:effectLst/>
                        </a:rPr>
                        <a:t>i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376335145"/>
                  </a:ext>
                </a:extLst>
              </a:tr>
              <a:tr h="5437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v</a:t>
                      </a:r>
                      <a:r>
                        <a:rPr lang="en-US" sz="2400" baseline="-25000" dirty="0">
                          <a:effectLst/>
                        </a:rPr>
                        <a:t>i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50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58203117"/>
                  </a:ext>
                </a:extLst>
              </a:tr>
              <a:tr h="54370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w</a:t>
                      </a:r>
                      <a:r>
                        <a:rPr lang="en-US" sz="2400" baseline="-25000" dirty="0" err="1">
                          <a:effectLst/>
                        </a:rPr>
                        <a:t>i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5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6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477901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40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0/1 Knapsack Problem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44585400"/>
                  </p:ext>
                </p:extLst>
              </p:nvPr>
            </p:nvGraphicFramePr>
            <p:xfrm>
              <a:off x="468313" y="3505200"/>
              <a:ext cx="8207375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55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6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7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8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09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10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="" xmlns:a16="http://schemas.microsoft.com/office/drawing/2014/main" val="2001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200" dirty="0">
                              <a:solidFill>
                                <a:srgbClr val="C00000"/>
                              </a:solidFill>
                            </a:rPr>
                            <a:t>weight &amp; value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𝟒𝟎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70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sz="20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𝟓𝟎</m:t>
                                </m:r>
                              </m:oMath>
                            </m:oMathPara>
                          </a14:m>
                          <a:endParaRPr lang="en-US" sz="20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90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90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90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90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44585400"/>
                  </p:ext>
                </p:extLst>
              </p:nvPr>
            </p:nvGraphicFramePr>
            <p:xfrm>
              <a:off x="468313" y="3505200"/>
              <a:ext cx="8207375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55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:a16="http://schemas.microsoft.com/office/drawing/2014/main" val="20009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:a16="http://schemas.microsoft.com/office/drawing/2014/main" val="20010"/>
                        </a:ext>
                      </a:extLst>
                    </a:gridCol>
                    <a:gridCol w="555625">
                      <a:extLst>
                        <a:ext uri="{9D8B030D-6E8A-4147-A177-3AD203B41FA5}">
                          <a16:colId xmlns:a16="http://schemas.microsoft.com/office/drawing/2014/main" val="2001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200" dirty="0" smtClean="0">
                              <a:solidFill>
                                <a:srgbClr val="C00000"/>
                              </a:solidFill>
                            </a:rPr>
                            <a:t>weight &amp; value</a:t>
                          </a:r>
                          <a:endParaRPr lang="en-US" sz="22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4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6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7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8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9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10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1" t="-110667" r="-292442" b="-3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1" t="-210667" r="-292442" b="-2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1" t="-310667" r="-292442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70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91" t="-410667" r="-292442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50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90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90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90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90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/>
          <p:cNvCxnSpPr/>
          <p:nvPr/>
        </p:nvCxnSpPr>
        <p:spPr>
          <a:xfrm>
            <a:off x="3833693" y="3234549"/>
            <a:ext cx="87047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76600" y="2895600"/>
                <a:ext cx="5334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2895600"/>
                <a:ext cx="53340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4779818" y="3003717"/>
            <a:ext cx="2687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Knapsack Capacity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3194042"/>
                  </p:ext>
                </p:extLst>
              </p:nvPr>
            </p:nvGraphicFramePr>
            <p:xfrm>
              <a:off x="190500" y="1066799"/>
              <a:ext cx="8763000" cy="18039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529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46101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510559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2000" i="1" dirty="0" err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][0]=0 </m:t>
                                </m:r>
                                <m:r>
                                  <a:rPr lang="en-US" sz="2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US" sz="2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 0&lt;</m:t>
                                </m:r>
                                <m:r>
                                  <a:rPr lang="en-US" sz="2000" i="1" dirty="0" err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sz="20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rowSpan="3">
                      <a:txBody>
                        <a:bodyPr/>
                        <a:lstStyle/>
                        <a:p>
                          <a:pPr lvl="0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b="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d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b="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d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h𝑒𝑟𝑒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=3,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=10, </m:t>
                                </m:r>
                                <m:sSub>
                                  <m:sSubPr>
                                    <m:ctrlPr>
                                      <a:rPr lang="en-US" sz="2000" b="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000" b="0" i="1" dirty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000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lvl="0"/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</a:rPr>
                            <a:t>So,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sSub>
                                <m:sSubPr>
                                  <m:ctrlPr>
                                    <a:rPr lang="en-US" sz="2000" b="0" i="1" dirty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 b="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endParaRPr lang="en-US" sz="20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lvl="0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[3][10] =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[2][10],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[2][4]+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000" b="0" i="1" baseline="-2500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000" b="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r>
                            <a:rPr lang="en-US" sz="2000" b="0" dirty="0">
                              <a:solidFill>
                                <a:schemeClr val="tx1"/>
                              </a:solidFill>
                            </a:rPr>
                            <a:t> 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  <m:r>
                                <a:rPr lang="en-US" sz="2000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⁡(50,40+30) =70</m:t>
                              </m:r>
                            </m:oMath>
                          </a14:m>
                          <a:endParaRPr lang="en-US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510559">
                    <a:tc>
                      <a:txBody>
                        <a:bodyPr/>
                        <a:lstStyle/>
                        <a:p>
                          <a:pPr marL="0" lvl="0" indent="-57150">
                            <a:buNone/>
                          </a:pPr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if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en-US" sz="2000" i="1" dirty="0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then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dirty="0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 err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dirty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  <m:r>
                                <a:rPr lang="en-US" sz="20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−1][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782857">
                    <a:tc>
                      <a:txBody>
                        <a:bodyPr/>
                        <a:lstStyle/>
                        <a:p>
                          <a:pPr marL="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else</a:t>
                          </a:r>
                          <a:r>
                            <a:rPr lang="en-US" sz="2000" dirty="0">
                              <a:solidFill>
                                <a:srgbClr val="C0000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000" i="1" dirty="0" err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][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]=</m:t>
                              </m:r>
                              <m:r>
                                <m:rPr>
                                  <m:sty m:val="p"/>
                                </m:rP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−1][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], 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−1][</m:t>
                              </m:r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sSub>
                                <m:sSubPr>
                                  <m:ctrlPr>
                                    <a:rPr lang="en-US" sz="2000" i="1" dirty="0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]+</m:t>
                              </m:r>
                              <m:sSub>
                                <m:sSubPr>
                                  <m:ctrlPr>
                                    <a:rPr lang="en-US" sz="2000" i="1" dirty="0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3194042"/>
                  </p:ext>
                </p:extLst>
              </p:nvPr>
            </p:nvGraphicFramePr>
            <p:xfrm>
              <a:off x="190500" y="1066799"/>
              <a:ext cx="8763000" cy="18039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52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101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105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7" t="-1190" r="-111454" b="-257143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0092" t="-337" r="-264" b="-10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05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7" t="-101190" r="-111454" b="-157143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828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47" t="-131008" r="-111454" b="-2326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4" name="TextBox 103"/>
          <p:cNvSpPr txBox="1"/>
          <p:nvPr/>
        </p:nvSpPr>
        <p:spPr>
          <a:xfrm>
            <a:off x="4879601" y="4052033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5" name="TextBox 104"/>
          <p:cNvSpPr txBox="1"/>
          <p:nvPr/>
        </p:nvSpPr>
        <p:spPr>
          <a:xfrm>
            <a:off x="4876800" y="4485374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6" name="TextBox 105"/>
          <p:cNvSpPr txBox="1"/>
          <p:nvPr/>
        </p:nvSpPr>
        <p:spPr>
          <a:xfrm>
            <a:off x="4876800" y="4937760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7" name="TextBox 106"/>
          <p:cNvSpPr txBox="1"/>
          <p:nvPr/>
        </p:nvSpPr>
        <p:spPr>
          <a:xfrm>
            <a:off x="4876800" y="540458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8" name="TextBox 107"/>
          <p:cNvSpPr txBox="1"/>
          <p:nvPr/>
        </p:nvSpPr>
        <p:spPr>
          <a:xfrm>
            <a:off x="5455920" y="4023424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9" name="TextBox 108"/>
          <p:cNvSpPr txBox="1"/>
          <p:nvPr/>
        </p:nvSpPr>
        <p:spPr>
          <a:xfrm>
            <a:off x="5422863" y="4508691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0" name="TextBox 109"/>
          <p:cNvSpPr txBox="1"/>
          <p:nvPr/>
        </p:nvSpPr>
        <p:spPr>
          <a:xfrm>
            <a:off x="5452111" y="4907280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1" name="TextBox 110"/>
          <p:cNvSpPr txBox="1"/>
          <p:nvPr/>
        </p:nvSpPr>
        <p:spPr>
          <a:xfrm>
            <a:off x="5412890" y="538033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2" name="TextBox 111"/>
          <p:cNvSpPr txBox="1"/>
          <p:nvPr/>
        </p:nvSpPr>
        <p:spPr>
          <a:xfrm>
            <a:off x="5978675" y="4023424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3" name="TextBox 112"/>
          <p:cNvSpPr txBox="1"/>
          <p:nvPr/>
        </p:nvSpPr>
        <p:spPr>
          <a:xfrm>
            <a:off x="5988648" y="446072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4" name="TextBox 113"/>
          <p:cNvSpPr txBox="1"/>
          <p:nvPr/>
        </p:nvSpPr>
        <p:spPr>
          <a:xfrm>
            <a:off x="6015319" y="4958192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5" name="TextBox 114"/>
          <p:cNvSpPr txBox="1"/>
          <p:nvPr/>
        </p:nvSpPr>
        <p:spPr>
          <a:xfrm>
            <a:off x="6027869" y="540458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6" name="TextBox 115"/>
          <p:cNvSpPr txBox="1"/>
          <p:nvPr/>
        </p:nvSpPr>
        <p:spPr>
          <a:xfrm>
            <a:off x="6560262" y="4008716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7" name="TextBox 116"/>
          <p:cNvSpPr txBox="1"/>
          <p:nvPr/>
        </p:nvSpPr>
        <p:spPr>
          <a:xfrm>
            <a:off x="6553200" y="452451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8" name="TextBox 117"/>
          <p:cNvSpPr txBox="1"/>
          <p:nvPr/>
        </p:nvSpPr>
        <p:spPr>
          <a:xfrm>
            <a:off x="6560262" y="4906083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9" name="TextBox 118"/>
          <p:cNvSpPr txBox="1"/>
          <p:nvPr/>
        </p:nvSpPr>
        <p:spPr>
          <a:xfrm>
            <a:off x="6560262" y="536480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0" name="TextBox 119"/>
          <p:cNvSpPr txBox="1"/>
          <p:nvPr/>
        </p:nvSpPr>
        <p:spPr>
          <a:xfrm>
            <a:off x="7105426" y="4031775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1" name="TextBox 120"/>
          <p:cNvSpPr txBox="1"/>
          <p:nvPr/>
        </p:nvSpPr>
        <p:spPr>
          <a:xfrm>
            <a:off x="7072369" y="4517042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2" name="TextBox 121"/>
          <p:cNvSpPr txBox="1"/>
          <p:nvPr/>
        </p:nvSpPr>
        <p:spPr>
          <a:xfrm>
            <a:off x="7101617" y="4915631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3" name="TextBox 122"/>
          <p:cNvSpPr txBox="1"/>
          <p:nvPr/>
        </p:nvSpPr>
        <p:spPr>
          <a:xfrm>
            <a:off x="7101840" y="5388689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4" name="TextBox 123"/>
          <p:cNvSpPr txBox="1"/>
          <p:nvPr/>
        </p:nvSpPr>
        <p:spPr>
          <a:xfrm>
            <a:off x="7628181" y="4031775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5" name="TextBox 124"/>
          <p:cNvSpPr txBox="1"/>
          <p:nvPr/>
        </p:nvSpPr>
        <p:spPr>
          <a:xfrm>
            <a:off x="7638154" y="4469079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6" name="TextBox 125"/>
          <p:cNvSpPr txBox="1"/>
          <p:nvPr/>
        </p:nvSpPr>
        <p:spPr>
          <a:xfrm>
            <a:off x="7664825" y="4966543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7" name="TextBox 126"/>
          <p:cNvSpPr txBox="1"/>
          <p:nvPr/>
        </p:nvSpPr>
        <p:spPr>
          <a:xfrm>
            <a:off x="7677375" y="5412939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8" name="TextBox 127"/>
          <p:cNvSpPr txBox="1"/>
          <p:nvPr/>
        </p:nvSpPr>
        <p:spPr>
          <a:xfrm>
            <a:off x="8209768" y="4017067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9" name="TextBox 128"/>
          <p:cNvSpPr txBox="1"/>
          <p:nvPr/>
        </p:nvSpPr>
        <p:spPr>
          <a:xfrm>
            <a:off x="8202706" y="4532869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0" name="TextBox 129"/>
          <p:cNvSpPr txBox="1"/>
          <p:nvPr/>
        </p:nvSpPr>
        <p:spPr>
          <a:xfrm>
            <a:off x="8209768" y="4914434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1" name="TextBox 130"/>
          <p:cNvSpPr txBox="1"/>
          <p:nvPr/>
        </p:nvSpPr>
        <p:spPr>
          <a:xfrm>
            <a:off x="8209768" y="5373159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4" name="TextBox 143"/>
          <p:cNvSpPr txBox="1"/>
          <p:nvPr/>
        </p:nvSpPr>
        <p:spPr>
          <a:xfrm>
            <a:off x="2674062" y="4008716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5" name="TextBox 144"/>
          <p:cNvSpPr txBox="1"/>
          <p:nvPr/>
        </p:nvSpPr>
        <p:spPr>
          <a:xfrm>
            <a:off x="2667000" y="452451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6" name="TextBox 145"/>
          <p:cNvSpPr txBox="1"/>
          <p:nvPr/>
        </p:nvSpPr>
        <p:spPr>
          <a:xfrm>
            <a:off x="2674062" y="4906083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7" name="TextBox 146"/>
          <p:cNvSpPr txBox="1"/>
          <p:nvPr/>
        </p:nvSpPr>
        <p:spPr>
          <a:xfrm>
            <a:off x="2674062" y="5364808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8" name="TextBox 147"/>
          <p:cNvSpPr txBox="1"/>
          <p:nvPr/>
        </p:nvSpPr>
        <p:spPr>
          <a:xfrm>
            <a:off x="3219226" y="4031775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9" name="TextBox 148"/>
          <p:cNvSpPr txBox="1"/>
          <p:nvPr/>
        </p:nvSpPr>
        <p:spPr>
          <a:xfrm>
            <a:off x="3186169" y="4517042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0" name="TextBox 149"/>
          <p:cNvSpPr txBox="1"/>
          <p:nvPr/>
        </p:nvSpPr>
        <p:spPr>
          <a:xfrm>
            <a:off x="3215417" y="4915631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1" name="TextBox 150"/>
          <p:cNvSpPr txBox="1"/>
          <p:nvPr/>
        </p:nvSpPr>
        <p:spPr>
          <a:xfrm>
            <a:off x="3176196" y="5388689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2" name="TextBox 151"/>
          <p:cNvSpPr txBox="1"/>
          <p:nvPr/>
        </p:nvSpPr>
        <p:spPr>
          <a:xfrm>
            <a:off x="3741981" y="4031775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3" name="TextBox 152"/>
          <p:cNvSpPr txBox="1"/>
          <p:nvPr/>
        </p:nvSpPr>
        <p:spPr>
          <a:xfrm>
            <a:off x="3751954" y="4469079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4" name="TextBox 153"/>
          <p:cNvSpPr txBox="1"/>
          <p:nvPr/>
        </p:nvSpPr>
        <p:spPr>
          <a:xfrm>
            <a:off x="3778625" y="4966543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5" name="TextBox 154"/>
          <p:cNvSpPr txBox="1"/>
          <p:nvPr/>
        </p:nvSpPr>
        <p:spPr>
          <a:xfrm>
            <a:off x="3791175" y="5412939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6" name="TextBox 155"/>
          <p:cNvSpPr txBox="1"/>
          <p:nvPr/>
        </p:nvSpPr>
        <p:spPr>
          <a:xfrm>
            <a:off x="4323568" y="4017067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7" name="TextBox 156"/>
          <p:cNvSpPr txBox="1"/>
          <p:nvPr/>
        </p:nvSpPr>
        <p:spPr>
          <a:xfrm>
            <a:off x="4316506" y="4532869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8" name="TextBox 157"/>
          <p:cNvSpPr txBox="1"/>
          <p:nvPr/>
        </p:nvSpPr>
        <p:spPr>
          <a:xfrm>
            <a:off x="4323568" y="4914434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9" name="TextBox 158"/>
          <p:cNvSpPr txBox="1"/>
          <p:nvPr/>
        </p:nvSpPr>
        <p:spPr>
          <a:xfrm>
            <a:off x="4323568" y="5373159"/>
            <a:ext cx="365760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160" name="Straight Connector 159"/>
          <p:cNvCxnSpPr/>
          <p:nvPr/>
        </p:nvCxnSpPr>
        <p:spPr>
          <a:xfrm>
            <a:off x="289560" y="1447800"/>
            <a:ext cx="2834640" cy="0"/>
          </a:xfrm>
          <a:prstGeom prst="line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>
            <a:off x="460384" y="4398967"/>
            <a:ext cx="8229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/>
          <p:cNvCxnSpPr/>
          <p:nvPr/>
        </p:nvCxnSpPr>
        <p:spPr>
          <a:xfrm>
            <a:off x="457200" y="4876800"/>
            <a:ext cx="8229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>
            <a:off x="457200" y="5334000"/>
            <a:ext cx="8229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8124512" y="5334000"/>
            <a:ext cx="548640" cy="457200"/>
          </a:xfrm>
          <a:prstGeom prst="rect">
            <a:avLst/>
          </a:prstGeom>
          <a:solidFill>
            <a:srgbClr val="C0000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5" name="Rectangle 164"/>
          <p:cNvSpPr/>
          <p:nvPr/>
        </p:nvSpPr>
        <p:spPr>
          <a:xfrm>
            <a:off x="468313" y="5830669"/>
            <a:ext cx="821848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 knapsack carries two objects with </a:t>
            </a:r>
            <a:r>
              <a:rPr lang="en-US" sz="2000" b="1" dirty="0"/>
              <a:t>total profit of 90</a:t>
            </a:r>
            <a:r>
              <a:rPr lang="en-US" sz="2000" dirty="0"/>
              <a:t>. The selected objects are </a:t>
            </a:r>
            <a:r>
              <a:rPr lang="en-US" sz="2000" b="1" dirty="0"/>
              <a:t>2 and 4.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399882" y="1112520"/>
            <a:ext cx="4480560" cy="15544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12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44" grpId="0" animBg="1"/>
      <p:bldP spid="145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4" grpId="0" animBg="1"/>
      <p:bldP spid="165" grpId="0"/>
      <p:bldP spid="16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8457" y="2747963"/>
            <a:ext cx="5907087" cy="1362075"/>
          </a:xfrm>
          <a:noFill/>
        </p:spPr>
        <p:txBody>
          <a:bodyPr/>
          <a:lstStyle/>
          <a:p>
            <a:r>
              <a:rPr lang="en-US" cap="none" dirty="0">
                <a:solidFill>
                  <a:srgbClr val="C00000"/>
                </a:solidFill>
              </a:rPr>
              <a:t>All Pair Shortest Path – Floyd’s Algorithm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475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 Algorithm - Example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90500" y="1106579"/>
            <a:ext cx="3390900" cy="2246221"/>
            <a:chOff x="190500" y="1106579"/>
            <a:chExt cx="3390900" cy="2246221"/>
          </a:xfrm>
        </p:grpSpPr>
        <p:sp>
          <p:nvSpPr>
            <p:cNvPr id="4" name="Oval 3"/>
            <p:cNvSpPr/>
            <p:nvPr/>
          </p:nvSpPr>
          <p:spPr>
            <a:xfrm>
              <a:off x="381000" y="1143000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2624237" y="1143000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381000" y="2666773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2624237" y="2666773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0" name="Straight Arrow Connector 9"/>
            <p:cNvCxnSpPr>
              <a:stCxn id="4" idx="3"/>
              <a:endCxn id="7" idx="1"/>
            </p:cNvCxnSpPr>
            <p:nvPr/>
          </p:nvCxnSpPr>
          <p:spPr>
            <a:xfrm>
              <a:off x="474738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7" idx="7"/>
              <a:endCxn id="4" idx="5"/>
            </p:cNvCxnSpPr>
            <p:nvPr/>
          </p:nvCxnSpPr>
          <p:spPr>
            <a:xfrm flipV="1">
              <a:off x="927342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6" idx="3"/>
              <a:endCxn id="8" idx="1"/>
            </p:cNvCxnSpPr>
            <p:nvPr/>
          </p:nvCxnSpPr>
          <p:spPr>
            <a:xfrm>
              <a:off x="2717975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8" idx="7"/>
              <a:endCxn id="6" idx="5"/>
            </p:cNvCxnSpPr>
            <p:nvPr/>
          </p:nvCxnSpPr>
          <p:spPr>
            <a:xfrm flipV="1">
              <a:off x="3170579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7" idx="6"/>
              <a:endCxn id="8" idx="2"/>
            </p:cNvCxnSpPr>
            <p:nvPr/>
          </p:nvCxnSpPr>
          <p:spPr>
            <a:xfrm>
              <a:off x="1021080" y="2986813"/>
              <a:ext cx="160315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6" idx="2"/>
              <a:endCxn id="4" idx="6"/>
            </p:cNvCxnSpPr>
            <p:nvPr/>
          </p:nvCxnSpPr>
          <p:spPr>
            <a:xfrm flipH="1">
              <a:off x="1021080" y="1463040"/>
              <a:ext cx="160315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7" idx="7"/>
              <a:endCxn id="6" idx="3"/>
            </p:cNvCxnSpPr>
            <p:nvPr/>
          </p:nvCxnSpPr>
          <p:spPr>
            <a:xfrm flipV="1">
              <a:off x="927342" y="1689342"/>
              <a:ext cx="1790633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1"/>
              <a:endCxn id="4" idx="5"/>
            </p:cNvCxnSpPr>
            <p:nvPr/>
          </p:nvCxnSpPr>
          <p:spPr>
            <a:xfrm flipH="1" flipV="1">
              <a:off x="927342" y="1689342"/>
              <a:ext cx="1790633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190500" y="2057400"/>
              <a:ext cx="190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76300" y="2032000"/>
              <a:ext cx="495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50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38299" y="2952690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38298" y="1106579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86099" y="2006600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430121" y="1981200"/>
              <a:ext cx="313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125321" y="1600200"/>
              <a:ext cx="313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210921" y="1600200"/>
              <a:ext cx="4906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30</a:t>
              </a:r>
            </a:p>
          </p:txBody>
        </p:sp>
      </p:grpSp>
      <p:cxnSp>
        <p:nvCxnSpPr>
          <p:cNvPr id="35" name="Straight Connector 34"/>
          <p:cNvCxnSpPr/>
          <p:nvPr/>
        </p:nvCxnSpPr>
        <p:spPr>
          <a:xfrm>
            <a:off x="117144" y="3429000"/>
            <a:ext cx="42062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343400" y="990600"/>
            <a:ext cx="0" cy="5257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52400" y="3505200"/>
            <a:ext cx="1097280" cy="365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Step: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71401" y="3476118"/>
            <a:ext cx="1757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Initialization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87107" y="4191000"/>
                <a:ext cx="3678571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0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7" y="4191000"/>
                <a:ext cx="3678571" cy="1678858"/>
              </a:xfrm>
              <a:prstGeom prst="rect">
                <a:avLst/>
              </a:prstGeom>
              <a:blipFill>
                <a:blip r:embed="rId2"/>
                <a:stretch>
                  <a:fillRect l="-1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1097276" y="4072403"/>
          <a:ext cx="2407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1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731521" y="4443242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4419600" y="990600"/>
            <a:ext cx="1097280" cy="365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Step: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13921" y="963304"/>
            <a:ext cx="34395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Calculate the distance between each node with </a:t>
            </a:r>
            <a:r>
              <a:rPr lang="en-US" sz="2400" b="1" dirty="0">
                <a:solidFill>
                  <a:srgbClr val="FF0000"/>
                </a:solidFill>
              </a:rPr>
              <a:t>node 1 </a:t>
            </a:r>
            <a:r>
              <a:rPr lang="en-US" sz="2400" dirty="0"/>
              <a:t>as an intermediate node.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4800600" y="2709397"/>
                <a:ext cx="3678571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1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2709397"/>
                <a:ext cx="3678571" cy="1678858"/>
              </a:xfrm>
              <a:prstGeom prst="rect">
                <a:avLst/>
              </a:prstGeom>
              <a:blipFill>
                <a:blip r:embed="rId3"/>
                <a:stretch>
                  <a:fillRect l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5810769" y="2590800"/>
          <a:ext cx="2407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1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5445014" y="2961639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Table 52"/>
              <p:cNvGraphicFramePr>
                <a:graphicFrameLocks noGrp="1"/>
              </p:cNvGraphicFramePr>
              <p:nvPr/>
            </p:nvGraphicFramePr>
            <p:xfrm>
              <a:off x="4724400" y="4648200"/>
              <a:ext cx="422910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62200">
                      <a:extLst>
                        <a:ext uri="{9D8B030D-6E8A-4147-A177-3AD203B41FA5}">
                          <a16:colId xmlns="" xmlns:a16="http://schemas.microsoft.com/office/drawing/2014/main" val="4118289501"/>
                        </a:ext>
                      </a:extLst>
                    </a:gridCol>
                    <a:gridCol w="1866900">
                      <a:extLst>
                        <a:ext uri="{9D8B030D-6E8A-4147-A177-3AD203B41FA5}">
                          <a16:colId xmlns="" xmlns:a16="http://schemas.microsoft.com/office/drawing/2014/main" val="883622801"/>
                        </a:ext>
                      </a:extLst>
                    </a:gridCol>
                  </a:tblGrid>
                  <a:tr h="130561"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For node 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4003575315"/>
                      </a:ext>
                    </a:extLst>
                  </a:tr>
                  <a:tr h="1305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→1→3=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→3=15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1369754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→1→4=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→4=5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6832764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Table 5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8473570"/>
                  </p:ext>
                </p:extLst>
              </p:nvPr>
            </p:nvGraphicFramePr>
            <p:xfrm>
              <a:off x="4724400" y="4648200"/>
              <a:ext cx="422910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4118289501"/>
                        </a:ext>
                      </a:extLst>
                    </a:gridCol>
                    <a:gridCol w="1866900">
                      <a:extLst>
                        <a:ext uri="{9D8B030D-6E8A-4147-A177-3AD203B41FA5}">
                          <a16:colId xmlns:a16="http://schemas.microsoft.com/office/drawing/2014/main" val="883622801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For node 2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0357531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5" t="-107895" r="-79381" b="-1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7451" t="-107895" r="-654" b="-101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69754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5" t="-210667" r="-79381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7451" t="-210667" r="-654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32764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4" name="TextBox 53"/>
          <p:cNvSpPr txBox="1"/>
          <p:nvPr/>
        </p:nvSpPr>
        <p:spPr>
          <a:xfrm>
            <a:off x="6344169" y="6019800"/>
            <a:ext cx="1504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No change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00157" y="5160582"/>
            <a:ext cx="21119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4854749" y="5611218"/>
            <a:ext cx="2057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4" name="TextBox 63"/>
          <p:cNvSpPr txBox="1"/>
          <p:nvPr/>
        </p:nvSpPr>
        <p:spPr>
          <a:xfrm>
            <a:off x="7233710" y="5115950"/>
            <a:ext cx="152929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7233710" y="5605836"/>
            <a:ext cx="152929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900838" y="2952690"/>
            <a:ext cx="443332" cy="143556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810769" y="2952302"/>
            <a:ext cx="2407924" cy="36576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889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/>
      <p:bldP spid="41" grpId="0"/>
      <p:bldP spid="46" grpId="0" animBg="1"/>
      <p:bldP spid="47" grpId="0"/>
      <p:bldP spid="49" grpId="0"/>
      <p:bldP spid="54" grpId="0"/>
      <p:bldP spid="62" grpId="0" animBg="1"/>
      <p:bldP spid="63" grpId="0" animBg="1"/>
      <p:bldP spid="64" grpId="0" animBg="1"/>
      <p:bldP spid="65" grpId="0" animBg="1"/>
      <p:bldP spid="3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 Algorithm - Example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90500" y="1106579"/>
            <a:ext cx="3390900" cy="2246221"/>
            <a:chOff x="190500" y="1106579"/>
            <a:chExt cx="3390900" cy="2246221"/>
          </a:xfrm>
        </p:grpSpPr>
        <p:sp>
          <p:nvSpPr>
            <p:cNvPr id="4" name="Oval 3"/>
            <p:cNvSpPr/>
            <p:nvPr/>
          </p:nvSpPr>
          <p:spPr>
            <a:xfrm>
              <a:off x="381000" y="1143000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2624237" y="1143000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381000" y="2666773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2624237" y="2666773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0" name="Straight Arrow Connector 9"/>
            <p:cNvCxnSpPr>
              <a:stCxn id="4" idx="3"/>
              <a:endCxn id="7" idx="1"/>
            </p:cNvCxnSpPr>
            <p:nvPr/>
          </p:nvCxnSpPr>
          <p:spPr>
            <a:xfrm>
              <a:off x="474738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7" idx="7"/>
              <a:endCxn id="4" idx="5"/>
            </p:cNvCxnSpPr>
            <p:nvPr/>
          </p:nvCxnSpPr>
          <p:spPr>
            <a:xfrm flipV="1">
              <a:off x="927342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6" idx="3"/>
              <a:endCxn id="8" idx="1"/>
            </p:cNvCxnSpPr>
            <p:nvPr/>
          </p:nvCxnSpPr>
          <p:spPr>
            <a:xfrm>
              <a:off x="2717975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8" idx="7"/>
              <a:endCxn id="6" idx="5"/>
            </p:cNvCxnSpPr>
            <p:nvPr/>
          </p:nvCxnSpPr>
          <p:spPr>
            <a:xfrm flipV="1">
              <a:off x="3170579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7" idx="6"/>
              <a:endCxn id="8" idx="2"/>
            </p:cNvCxnSpPr>
            <p:nvPr/>
          </p:nvCxnSpPr>
          <p:spPr>
            <a:xfrm>
              <a:off x="1021080" y="2986813"/>
              <a:ext cx="160315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6" idx="2"/>
              <a:endCxn id="4" idx="6"/>
            </p:cNvCxnSpPr>
            <p:nvPr/>
          </p:nvCxnSpPr>
          <p:spPr>
            <a:xfrm flipH="1">
              <a:off x="1021080" y="1463040"/>
              <a:ext cx="160315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7" idx="7"/>
              <a:endCxn id="6" idx="3"/>
            </p:cNvCxnSpPr>
            <p:nvPr/>
          </p:nvCxnSpPr>
          <p:spPr>
            <a:xfrm flipV="1">
              <a:off x="927342" y="1689342"/>
              <a:ext cx="1790633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1"/>
              <a:endCxn id="4" idx="5"/>
            </p:cNvCxnSpPr>
            <p:nvPr/>
          </p:nvCxnSpPr>
          <p:spPr>
            <a:xfrm flipH="1" flipV="1">
              <a:off x="927342" y="1689342"/>
              <a:ext cx="1790633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190500" y="2057400"/>
              <a:ext cx="190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76300" y="2032000"/>
              <a:ext cx="495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50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38299" y="2952690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38298" y="1106579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86099" y="2006600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430121" y="1981200"/>
              <a:ext cx="313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125321" y="1600200"/>
              <a:ext cx="313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210921" y="1600200"/>
              <a:ext cx="4906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30</a:t>
              </a:r>
            </a:p>
          </p:txBody>
        </p:sp>
      </p:grpSp>
      <p:cxnSp>
        <p:nvCxnSpPr>
          <p:cNvPr id="35" name="Straight Connector 34"/>
          <p:cNvCxnSpPr/>
          <p:nvPr/>
        </p:nvCxnSpPr>
        <p:spPr>
          <a:xfrm>
            <a:off x="117144" y="3429000"/>
            <a:ext cx="42062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343400" y="990600"/>
            <a:ext cx="0" cy="5257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52400" y="3505200"/>
            <a:ext cx="1097280" cy="365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Step: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71401" y="3476118"/>
            <a:ext cx="1757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Initialization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87107" y="4191000"/>
                <a:ext cx="3678571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0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7" y="4191000"/>
                <a:ext cx="3678571" cy="1678858"/>
              </a:xfrm>
              <a:prstGeom prst="rect">
                <a:avLst/>
              </a:prstGeom>
              <a:blipFill>
                <a:blip r:embed="rId2"/>
                <a:stretch>
                  <a:fillRect l="-1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1097276" y="4072403"/>
          <a:ext cx="2407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1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731521" y="4443242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4419600" y="990600"/>
            <a:ext cx="1097280" cy="365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Step: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13921" y="963304"/>
            <a:ext cx="34395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Calculate the distance between each node with </a:t>
            </a:r>
            <a:r>
              <a:rPr lang="en-US" sz="2400" b="1" dirty="0">
                <a:solidFill>
                  <a:srgbClr val="FF0000"/>
                </a:solidFill>
              </a:rPr>
              <a:t>node 1 </a:t>
            </a:r>
            <a:r>
              <a:rPr lang="en-US" sz="2400" dirty="0"/>
              <a:t>as an intermediate node.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4800600" y="2709397"/>
                <a:ext cx="3678571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1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2709397"/>
                <a:ext cx="3678571" cy="1678858"/>
              </a:xfrm>
              <a:prstGeom prst="rect">
                <a:avLst/>
              </a:prstGeom>
              <a:blipFill>
                <a:blip r:embed="rId3"/>
                <a:stretch>
                  <a:fillRect l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5810769" y="2590800"/>
          <a:ext cx="2407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1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5445014" y="2961639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2" name="Table 41"/>
              <p:cNvGraphicFramePr>
                <a:graphicFrameLocks noGrp="1"/>
              </p:cNvGraphicFramePr>
              <p:nvPr/>
            </p:nvGraphicFramePr>
            <p:xfrm>
              <a:off x="4724400" y="4648200"/>
              <a:ext cx="422910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62200">
                      <a:extLst>
                        <a:ext uri="{9D8B030D-6E8A-4147-A177-3AD203B41FA5}">
                          <a16:colId xmlns="" xmlns:a16="http://schemas.microsoft.com/office/drawing/2014/main" val="4118289501"/>
                        </a:ext>
                      </a:extLst>
                    </a:gridCol>
                    <a:gridCol w="1866900">
                      <a:extLst>
                        <a:ext uri="{9D8B030D-6E8A-4147-A177-3AD203B41FA5}">
                          <a16:colId xmlns="" xmlns:a16="http://schemas.microsoft.com/office/drawing/2014/main" val="883622801"/>
                        </a:ext>
                      </a:extLst>
                    </a:gridCol>
                  </a:tblGrid>
                  <a:tr h="130561"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For node 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4003575315"/>
                      </a:ext>
                    </a:extLst>
                  </a:tr>
                  <a:tr h="1305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→1→2=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→2=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1369754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→1→4=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→4=15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6832764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2" name="Table 4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4412542"/>
                  </p:ext>
                </p:extLst>
              </p:nvPr>
            </p:nvGraphicFramePr>
            <p:xfrm>
              <a:off x="4724400" y="4648200"/>
              <a:ext cx="422910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4118289501"/>
                        </a:ext>
                      </a:extLst>
                    </a:gridCol>
                    <a:gridCol w="1866900">
                      <a:extLst>
                        <a:ext uri="{9D8B030D-6E8A-4147-A177-3AD203B41FA5}">
                          <a16:colId xmlns:a16="http://schemas.microsoft.com/office/drawing/2014/main" val="883622801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For node 3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0357531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5" t="-107895" r="-79381" b="-1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7451" t="-107895" r="-654" b="-101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69754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5" t="-210667" r="-79381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7451" t="-210667" r="-654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32764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3" name="Rounded Rectangle 42"/>
          <p:cNvSpPr/>
          <p:nvPr/>
        </p:nvSpPr>
        <p:spPr>
          <a:xfrm>
            <a:off x="6588456" y="5181600"/>
            <a:ext cx="381000" cy="30480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876800" y="5137687"/>
            <a:ext cx="21119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4876800" y="5593391"/>
            <a:ext cx="2057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7141192" y="5141408"/>
            <a:ext cx="152929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7192766" y="5608542"/>
            <a:ext cx="152929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6484960" y="3624616"/>
                <a:ext cx="48907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35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960" y="3624616"/>
                <a:ext cx="489078" cy="461665"/>
              </a:xfrm>
              <a:prstGeom prst="rect">
                <a:avLst/>
              </a:prstGeom>
              <a:blipFill>
                <a:blip r:embed="rId5"/>
                <a:stretch>
                  <a:fillRect l="-5000" r="-1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/>
          <p:cNvSpPr/>
          <p:nvPr/>
        </p:nvSpPr>
        <p:spPr>
          <a:xfrm>
            <a:off x="5900838" y="2952690"/>
            <a:ext cx="443332" cy="143556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5810769" y="2937554"/>
            <a:ext cx="2407924" cy="36576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6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8" grpId="0" animBg="1"/>
      <p:bldP spid="52" grpId="0" animBg="1"/>
      <p:bldP spid="55" grpId="0" animBg="1"/>
      <p:bldP spid="56" grpId="0" animBg="1"/>
      <p:bldP spid="5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 Algorithm - Example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90500" y="1106579"/>
            <a:ext cx="3390900" cy="2246221"/>
            <a:chOff x="190500" y="1106579"/>
            <a:chExt cx="3390900" cy="2246221"/>
          </a:xfrm>
        </p:grpSpPr>
        <p:sp>
          <p:nvSpPr>
            <p:cNvPr id="4" name="Oval 3"/>
            <p:cNvSpPr/>
            <p:nvPr/>
          </p:nvSpPr>
          <p:spPr>
            <a:xfrm>
              <a:off x="381000" y="1143000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2624237" y="1143000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381000" y="2666773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2624237" y="2666773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0" name="Straight Arrow Connector 9"/>
            <p:cNvCxnSpPr>
              <a:stCxn id="4" idx="3"/>
              <a:endCxn id="7" idx="1"/>
            </p:cNvCxnSpPr>
            <p:nvPr/>
          </p:nvCxnSpPr>
          <p:spPr>
            <a:xfrm>
              <a:off x="474738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7" idx="7"/>
              <a:endCxn id="4" idx="5"/>
            </p:cNvCxnSpPr>
            <p:nvPr/>
          </p:nvCxnSpPr>
          <p:spPr>
            <a:xfrm flipV="1">
              <a:off x="927342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6" idx="3"/>
              <a:endCxn id="8" idx="1"/>
            </p:cNvCxnSpPr>
            <p:nvPr/>
          </p:nvCxnSpPr>
          <p:spPr>
            <a:xfrm>
              <a:off x="2717975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8" idx="7"/>
              <a:endCxn id="6" idx="5"/>
            </p:cNvCxnSpPr>
            <p:nvPr/>
          </p:nvCxnSpPr>
          <p:spPr>
            <a:xfrm flipV="1">
              <a:off x="3170579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7" idx="6"/>
              <a:endCxn id="8" idx="2"/>
            </p:cNvCxnSpPr>
            <p:nvPr/>
          </p:nvCxnSpPr>
          <p:spPr>
            <a:xfrm>
              <a:off x="1021080" y="2986813"/>
              <a:ext cx="160315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6" idx="2"/>
              <a:endCxn id="4" idx="6"/>
            </p:cNvCxnSpPr>
            <p:nvPr/>
          </p:nvCxnSpPr>
          <p:spPr>
            <a:xfrm flipH="1">
              <a:off x="1021080" y="1463040"/>
              <a:ext cx="160315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7" idx="7"/>
              <a:endCxn id="6" idx="3"/>
            </p:cNvCxnSpPr>
            <p:nvPr/>
          </p:nvCxnSpPr>
          <p:spPr>
            <a:xfrm flipV="1">
              <a:off x="927342" y="1689342"/>
              <a:ext cx="1790633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1"/>
              <a:endCxn id="4" idx="5"/>
            </p:cNvCxnSpPr>
            <p:nvPr/>
          </p:nvCxnSpPr>
          <p:spPr>
            <a:xfrm flipH="1" flipV="1">
              <a:off x="927342" y="1689342"/>
              <a:ext cx="1790633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190500" y="2057400"/>
              <a:ext cx="190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76300" y="2032000"/>
              <a:ext cx="495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50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38299" y="2952690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38298" y="1106579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86099" y="2006600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430121" y="1981200"/>
              <a:ext cx="313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125321" y="1600200"/>
              <a:ext cx="313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210921" y="1600200"/>
              <a:ext cx="4906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30</a:t>
              </a:r>
            </a:p>
          </p:txBody>
        </p:sp>
      </p:grpSp>
      <p:cxnSp>
        <p:nvCxnSpPr>
          <p:cNvPr id="35" name="Straight Connector 34"/>
          <p:cNvCxnSpPr/>
          <p:nvPr/>
        </p:nvCxnSpPr>
        <p:spPr>
          <a:xfrm>
            <a:off x="117144" y="3429000"/>
            <a:ext cx="42062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343400" y="990600"/>
            <a:ext cx="0" cy="5257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52400" y="3505200"/>
            <a:ext cx="1097280" cy="365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Step: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71401" y="3476118"/>
            <a:ext cx="1757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Initialization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/>
              <p:cNvSpPr/>
              <p:nvPr/>
            </p:nvSpPr>
            <p:spPr>
              <a:xfrm>
                <a:off x="87107" y="4191000"/>
                <a:ext cx="3678571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0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7" y="4191000"/>
                <a:ext cx="3678571" cy="1678858"/>
              </a:xfrm>
              <a:prstGeom prst="rect">
                <a:avLst/>
              </a:prstGeom>
              <a:blipFill>
                <a:blip r:embed="rId2"/>
                <a:stretch>
                  <a:fillRect l="-1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1097276" y="4072403"/>
          <a:ext cx="2407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1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731521" y="4443242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4419600" y="990600"/>
            <a:ext cx="1097280" cy="365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Step: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13921" y="963304"/>
            <a:ext cx="34395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Calculate the distance between each node with </a:t>
            </a:r>
            <a:r>
              <a:rPr lang="en-US" sz="2400" b="1" dirty="0">
                <a:solidFill>
                  <a:srgbClr val="FF0000"/>
                </a:solidFill>
              </a:rPr>
              <a:t>node 1 </a:t>
            </a:r>
            <a:r>
              <a:rPr lang="en-US" sz="2400" dirty="0"/>
              <a:t>as an intermediate node.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4761326" y="2709397"/>
                <a:ext cx="3757119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1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326" y="2709397"/>
                <a:ext cx="3757119" cy="1678858"/>
              </a:xfrm>
              <a:prstGeom prst="rect">
                <a:avLst/>
              </a:prstGeom>
              <a:blipFill>
                <a:blip r:embed="rId3"/>
                <a:stretch>
                  <a:fillRect l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5810769" y="2590800"/>
          <a:ext cx="2407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1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5445014" y="2961639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3" name="Table 52"/>
              <p:cNvGraphicFramePr>
                <a:graphicFrameLocks noGrp="1"/>
              </p:cNvGraphicFramePr>
              <p:nvPr/>
            </p:nvGraphicFramePr>
            <p:xfrm>
              <a:off x="4724400" y="4648200"/>
              <a:ext cx="422910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62200">
                      <a:extLst>
                        <a:ext uri="{9D8B030D-6E8A-4147-A177-3AD203B41FA5}">
                          <a16:colId xmlns="" xmlns:a16="http://schemas.microsoft.com/office/drawing/2014/main" val="4118289501"/>
                        </a:ext>
                      </a:extLst>
                    </a:gridCol>
                    <a:gridCol w="1866900">
                      <a:extLst>
                        <a:ext uri="{9D8B030D-6E8A-4147-A177-3AD203B41FA5}">
                          <a16:colId xmlns="" xmlns:a16="http://schemas.microsoft.com/office/drawing/2014/main" val="883622801"/>
                        </a:ext>
                      </a:extLst>
                    </a:gridCol>
                  </a:tblGrid>
                  <a:tr h="130561">
                    <a:tc gridSpan="2"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For node 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4003575315"/>
                      </a:ext>
                    </a:extLst>
                  </a:tr>
                  <a:tr h="1305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→1→2=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→2=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1369754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→1→3=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→3=5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6832764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3" name="Table 5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2385161"/>
                  </p:ext>
                </p:extLst>
              </p:nvPr>
            </p:nvGraphicFramePr>
            <p:xfrm>
              <a:off x="4724400" y="4648200"/>
              <a:ext cx="4229100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4118289501"/>
                        </a:ext>
                      </a:extLst>
                    </a:gridCol>
                    <a:gridCol w="1866900">
                      <a:extLst>
                        <a:ext uri="{9D8B030D-6E8A-4147-A177-3AD203B41FA5}">
                          <a16:colId xmlns:a16="http://schemas.microsoft.com/office/drawing/2014/main" val="883622801"/>
                        </a:ext>
                      </a:extLst>
                    </a:gridCol>
                  </a:tblGrid>
                  <a:tr h="457200">
                    <a:tc gridSpan="2">
                      <a:txBody>
                        <a:bodyPr/>
                        <a:lstStyle/>
                        <a:p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For node </a:t>
                          </a:r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4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0357531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5" t="-107895" r="-79381" b="-1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7451" t="-107895" r="-654" b="-101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697546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5" t="-210667" r="-79381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7451" t="-210667" r="-654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32764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4" name="Rounded Rectangle 53"/>
          <p:cNvSpPr/>
          <p:nvPr/>
        </p:nvSpPr>
        <p:spPr>
          <a:xfrm>
            <a:off x="6593591" y="5178644"/>
            <a:ext cx="381000" cy="30480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4822071" y="5143760"/>
            <a:ext cx="219456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4889895" y="5602561"/>
            <a:ext cx="2057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7176293" y="5156944"/>
            <a:ext cx="152929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7138948" y="5602561"/>
            <a:ext cx="152929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6490648" y="3965895"/>
                <a:ext cx="48907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648" y="3965895"/>
                <a:ext cx="489078" cy="461665"/>
              </a:xfrm>
              <a:prstGeom prst="rect">
                <a:avLst/>
              </a:prstGeom>
              <a:blipFill>
                <a:blip r:embed="rId5"/>
                <a:stretch>
                  <a:fillRect l="-3750" r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/>
          <p:cNvSpPr/>
          <p:nvPr/>
        </p:nvSpPr>
        <p:spPr>
          <a:xfrm>
            <a:off x="5900838" y="2952690"/>
            <a:ext cx="443332" cy="143556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5810769" y="2937554"/>
            <a:ext cx="2407924" cy="36576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22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8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 Algorithm - Example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90500" y="1106579"/>
            <a:ext cx="3390900" cy="2246221"/>
            <a:chOff x="190500" y="1106579"/>
            <a:chExt cx="3390900" cy="2246221"/>
          </a:xfrm>
        </p:grpSpPr>
        <p:sp>
          <p:nvSpPr>
            <p:cNvPr id="4" name="Oval 3"/>
            <p:cNvSpPr/>
            <p:nvPr/>
          </p:nvSpPr>
          <p:spPr>
            <a:xfrm>
              <a:off x="381000" y="1143000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2624237" y="1143000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381000" y="2666773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2624237" y="2666773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0" name="Straight Arrow Connector 9"/>
            <p:cNvCxnSpPr>
              <a:stCxn id="4" idx="3"/>
              <a:endCxn id="7" idx="1"/>
            </p:cNvCxnSpPr>
            <p:nvPr/>
          </p:nvCxnSpPr>
          <p:spPr>
            <a:xfrm>
              <a:off x="474738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7" idx="7"/>
              <a:endCxn id="4" idx="5"/>
            </p:cNvCxnSpPr>
            <p:nvPr/>
          </p:nvCxnSpPr>
          <p:spPr>
            <a:xfrm flipV="1">
              <a:off x="927342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6" idx="3"/>
              <a:endCxn id="8" idx="1"/>
            </p:cNvCxnSpPr>
            <p:nvPr/>
          </p:nvCxnSpPr>
          <p:spPr>
            <a:xfrm>
              <a:off x="2717975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8" idx="7"/>
              <a:endCxn id="6" idx="5"/>
            </p:cNvCxnSpPr>
            <p:nvPr/>
          </p:nvCxnSpPr>
          <p:spPr>
            <a:xfrm flipV="1">
              <a:off x="3170579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7" idx="6"/>
              <a:endCxn id="8" idx="2"/>
            </p:cNvCxnSpPr>
            <p:nvPr/>
          </p:nvCxnSpPr>
          <p:spPr>
            <a:xfrm>
              <a:off x="1021080" y="2986813"/>
              <a:ext cx="160315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6" idx="2"/>
              <a:endCxn id="4" idx="6"/>
            </p:cNvCxnSpPr>
            <p:nvPr/>
          </p:nvCxnSpPr>
          <p:spPr>
            <a:xfrm flipH="1">
              <a:off x="1021080" y="1463040"/>
              <a:ext cx="160315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7" idx="7"/>
              <a:endCxn id="6" idx="3"/>
            </p:cNvCxnSpPr>
            <p:nvPr/>
          </p:nvCxnSpPr>
          <p:spPr>
            <a:xfrm flipV="1">
              <a:off x="927342" y="1689342"/>
              <a:ext cx="1790633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1"/>
              <a:endCxn id="4" idx="5"/>
            </p:cNvCxnSpPr>
            <p:nvPr/>
          </p:nvCxnSpPr>
          <p:spPr>
            <a:xfrm flipH="1" flipV="1">
              <a:off x="927342" y="1689342"/>
              <a:ext cx="1790633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190500" y="2057400"/>
              <a:ext cx="190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76300" y="2032000"/>
              <a:ext cx="495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50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38299" y="2952690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38298" y="1106579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86099" y="2006600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430121" y="1981200"/>
              <a:ext cx="313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125321" y="1600200"/>
              <a:ext cx="313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210921" y="1600200"/>
              <a:ext cx="4906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30</a:t>
              </a:r>
            </a:p>
          </p:txBody>
        </p:sp>
      </p:grpSp>
      <p:cxnSp>
        <p:nvCxnSpPr>
          <p:cNvPr id="35" name="Straight Connector 34"/>
          <p:cNvCxnSpPr/>
          <p:nvPr/>
        </p:nvCxnSpPr>
        <p:spPr>
          <a:xfrm>
            <a:off x="117144" y="3429000"/>
            <a:ext cx="42062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343400" y="990600"/>
            <a:ext cx="0" cy="5257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52400" y="3505200"/>
            <a:ext cx="1097280" cy="365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Step: 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19600" y="990600"/>
            <a:ext cx="1097280" cy="365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Step: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13921" y="963304"/>
            <a:ext cx="34395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Calculate the distance between each node with </a:t>
            </a:r>
            <a:r>
              <a:rPr lang="en-US" sz="2400" b="1" dirty="0">
                <a:solidFill>
                  <a:srgbClr val="FF0000"/>
                </a:solidFill>
              </a:rPr>
              <a:t>node 2 </a:t>
            </a:r>
            <a:r>
              <a:rPr lang="en-US" sz="2400" dirty="0"/>
              <a:t>as an intermediate node.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4761326" y="2709397"/>
                <a:ext cx="3757119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2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326" y="2709397"/>
                <a:ext cx="3757119" cy="1678858"/>
              </a:xfrm>
              <a:prstGeom prst="rect">
                <a:avLst/>
              </a:prstGeom>
              <a:blipFill>
                <a:blip r:embed="rId2"/>
                <a:stretch>
                  <a:fillRect l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5810769" y="2590800"/>
          <a:ext cx="2407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1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5445014" y="2961639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7141814" y="2907240"/>
                <a:ext cx="48907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814" y="2907240"/>
                <a:ext cx="489078" cy="461665"/>
              </a:xfrm>
              <a:prstGeom prst="rect">
                <a:avLst/>
              </a:prstGeom>
              <a:blipFill>
                <a:blip r:embed="rId3"/>
                <a:stretch>
                  <a:fillRect l="-3750" r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281481" y="4228318"/>
                <a:ext cx="3757119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1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81" y="4228318"/>
                <a:ext cx="3757119" cy="1678858"/>
              </a:xfrm>
              <a:prstGeom prst="rect">
                <a:avLst/>
              </a:prstGeom>
              <a:blipFill>
                <a:blip r:embed="rId4"/>
                <a:stretch>
                  <a:fillRect l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1330924" y="4109721"/>
          <a:ext cx="2407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1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965169" y="4480560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740522" y="2891135"/>
                <a:ext cx="48907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522" y="2891135"/>
                <a:ext cx="489078" cy="461665"/>
              </a:xfrm>
              <a:prstGeom prst="rect">
                <a:avLst/>
              </a:prstGeom>
              <a:blipFill>
                <a:blip r:embed="rId5"/>
                <a:stretch>
                  <a:fillRect l="-3750" r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/>
          <p:cNvSpPr/>
          <p:nvPr/>
        </p:nvSpPr>
        <p:spPr>
          <a:xfrm>
            <a:off x="6521244" y="2952690"/>
            <a:ext cx="443332" cy="143556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825517" y="3291840"/>
            <a:ext cx="2407924" cy="36576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9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55" grpId="0" animBg="1"/>
      <p:bldP spid="38" grpId="0" animBg="1"/>
      <p:bldP spid="4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 Algorithm - Example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90500" y="1106579"/>
            <a:ext cx="3390900" cy="2246221"/>
            <a:chOff x="190500" y="1106579"/>
            <a:chExt cx="3390900" cy="2246221"/>
          </a:xfrm>
        </p:grpSpPr>
        <p:sp>
          <p:nvSpPr>
            <p:cNvPr id="4" name="Oval 3"/>
            <p:cNvSpPr/>
            <p:nvPr/>
          </p:nvSpPr>
          <p:spPr>
            <a:xfrm>
              <a:off x="381000" y="1143000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2624237" y="1143000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381000" y="2666773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2624237" y="2666773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0" name="Straight Arrow Connector 9"/>
            <p:cNvCxnSpPr>
              <a:stCxn id="4" idx="3"/>
              <a:endCxn id="7" idx="1"/>
            </p:cNvCxnSpPr>
            <p:nvPr/>
          </p:nvCxnSpPr>
          <p:spPr>
            <a:xfrm>
              <a:off x="474738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7" idx="7"/>
              <a:endCxn id="4" idx="5"/>
            </p:cNvCxnSpPr>
            <p:nvPr/>
          </p:nvCxnSpPr>
          <p:spPr>
            <a:xfrm flipV="1">
              <a:off x="927342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6" idx="3"/>
              <a:endCxn id="8" idx="1"/>
            </p:cNvCxnSpPr>
            <p:nvPr/>
          </p:nvCxnSpPr>
          <p:spPr>
            <a:xfrm>
              <a:off x="2717975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8" idx="7"/>
              <a:endCxn id="6" idx="5"/>
            </p:cNvCxnSpPr>
            <p:nvPr/>
          </p:nvCxnSpPr>
          <p:spPr>
            <a:xfrm flipV="1">
              <a:off x="3170579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7" idx="6"/>
              <a:endCxn id="8" idx="2"/>
            </p:cNvCxnSpPr>
            <p:nvPr/>
          </p:nvCxnSpPr>
          <p:spPr>
            <a:xfrm>
              <a:off x="1021080" y="2986813"/>
              <a:ext cx="160315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6" idx="2"/>
              <a:endCxn id="4" idx="6"/>
            </p:cNvCxnSpPr>
            <p:nvPr/>
          </p:nvCxnSpPr>
          <p:spPr>
            <a:xfrm flipH="1">
              <a:off x="1021080" y="1463040"/>
              <a:ext cx="160315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7" idx="7"/>
              <a:endCxn id="6" idx="3"/>
            </p:cNvCxnSpPr>
            <p:nvPr/>
          </p:nvCxnSpPr>
          <p:spPr>
            <a:xfrm flipV="1">
              <a:off x="927342" y="1689342"/>
              <a:ext cx="1790633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1"/>
              <a:endCxn id="4" idx="5"/>
            </p:cNvCxnSpPr>
            <p:nvPr/>
          </p:nvCxnSpPr>
          <p:spPr>
            <a:xfrm flipH="1" flipV="1">
              <a:off x="927342" y="1689342"/>
              <a:ext cx="1790633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190500" y="2057400"/>
              <a:ext cx="190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76300" y="2032000"/>
              <a:ext cx="495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50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38299" y="2952690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38298" y="1106579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86099" y="2006600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430121" y="1981200"/>
              <a:ext cx="313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125321" y="1600200"/>
              <a:ext cx="313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210921" y="1600200"/>
              <a:ext cx="4906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30</a:t>
              </a:r>
            </a:p>
          </p:txBody>
        </p:sp>
      </p:grpSp>
      <p:cxnSp>
        <p:nvCxnSpPr>
          <p:cNvPr id="35" name="Straight Connector 34"/>
          <p:cNvCxnSpPr/>
          <p:nvPr/>
        </p:nvCxnSpPr>
        <p:spPr>
          <a:xfrm>
            <a:off x="117144" y="3429000"/>
            <a:ext cx="42062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343400" y="990600"/>
            <a:ext cx="0" cy="5257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52400" y="3505200"/>
            <a:ext cx="1097280" cy="365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Step: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19600" y="990600"/>
            <a:ext cx="1097280" cy="365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Step: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13921" y="963304"/>
            <a:ext cx="34395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Calculate the distance between each node with </a:t>
            </a:r>
            <a:r>
              <a:rPr lang="en-US" sz="2400" b="1" dirty="0">
                <a:solidFill>
                  <a:srgbClr val="FF0000"/>
                </a:solidFill>
              </a:rPr>
              <a:t>node 3 </a:t>
            </a:r>
            <a:r>
              <a:rPr lang="en-US" sz="2400" dirty="0"/>
              <a:t>as an intermediate node.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4761326" y="2709397"/>
                <a:ext cx="3757119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3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326" y="2709397"/>
                <a:ext cx="3757119" cy="1678858"/>
              </a:xfrm>
              <a:prstGeom prst="rect">
                <a:avLst/>
              </a:prstGeom>
              <a:blipFill>
                <a:blip r:embed="rId2"/>
                <a:stretch>
                  <a:fillRect l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5810769" y="2590800"/>
          <a:ext cx="2407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1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5445014" y="2961639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281481" y="4228318"/>
                <a:ext cx="3757119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2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81" y="4228318"/>
                <a:ext cx="3757119" cy="1678858"/>
              </a:xfrm>
              <a:prstGeom prst="rect">
                <a:avLst/>
              </a:prstGeom>
              <a:blipFill>
                <a:blip r:embed="rId3"/>
                <a:stretch>
                  <a:fillRect l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1330924" y="4109721"/>
          <a:ext cx="2407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1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965169" y="4480560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791200" y="3250527"/>
                <a:ext cx="48907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45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3250527"/>
                <a:ext cx="489078" cy="461665"/>
              </a:xfrm>
              <a:prstGeom prst="rect">
                <a:avLst/>
              </a:prstGeom>
              <a:blipFill>
                <a:blip r:embed="rId4"/>
                <a:stretch>
                  <a:fillRect l="-3750" r="-1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7161920" y="2952690"/>
            <a:ext cx="443332" cy="143556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825517" y="3672840"/>
            <a:ext cx="2407924" cy="36576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6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6" grpId="0" animBg="1"/>
      <p:bldP spid="4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 Algorithm - Example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90500" y="1106579"/>
            <a:ext cx="3390900" cy="2246221"/>
            <a:chOff x="190500" y="1106579"/>
            <a:chExt cx="3390900" cy="2246221"/>
          </a:xfrm>
        </p:grpSpPr>
        <p:sp>
          <p:nvSpPr>
            <p:cNvPr id="4" name="Oval 3"/>
            <p:cNvSpPr/>
            <p:nvPr/>
          </p:nvSpPr>
          <p:spPr>
            <a:xfrm>
              <a:off x="381000" y="1143000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2624237" y="1143000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381000" y="2666773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2624237" y="2666773"/>
              <a:ext cx="640080" cy="640080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0" name="Straight Arrow Connector 9"/>
            <p:cNvCxnSpPr>
              <a:stCxn id="4" idx="3"/>
              <a:endCxn id="7" idx="1"/>
            </p:cNvCxnSpPr>
            <p:nvPr/>
          </p:nvCxnSpPr>
          <p:spPr>
            <a:xfrm>
              <a:off x="474738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7" idx="7"/>
              <a:endCxn id="4" idx="5"/>
            </p:cNvCxnSpPr>
            <p:nvPr/>
          </p:nvCxnSpPr>
          <p:spPr>
            <a:xfrm flipV="1">
              <a:off x="927342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6" idx="3"/>
              <a:endCxn id="8" idx="1"/>
            </p:cNvCxnSpPr>
            <p:nvPr/>
          </p:nvCxnSpPr>
          <p:spPr>
            <a:xfrm>
              <a:off x="2717975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8" idx="7"/>
              <a:endCxn id="6" idx="5"/>
            </p:cNvCxnSpPr>
            <p:nvPr/>
          </p:nvCxnSpPr>
          <p:spPr>
            <a:xfrm flipV="1">
              <a:off x="3170579" y="1689342"/>
              <a:ext cx="0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7" idx="6"/>
              <a:endCxn id="8" idx="2"/>
            </p:cNvCxnSpPr>
            <p:nvPr/>
          </p:nvCxnSpPr>
          <p:spPr>
            <a:xfrm>
              <a:off x="1021080" y="2986813"/>
              <a:ext cx="160315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6" idx="2"/>
              <a:endCxn id="4" idx="6"/>
            </p:cNvCxnSpPr>
            <p:nvPr/>
          </p:nvCxnSpPr>
          <p:spPr>
            <a:xfrm flipH="1">
              <a:off x="1021080" y="1463040"/>
              <a:ext cx="160315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7" idx="7"/>
              <a:endCxn id="6" idx="3"/>
            </p:cNvCxnSpPr>
            <p:nvPr/>
          </p:nvCxnSpPr>
          <p:spPr>
            <a:xfrm flipV="1">
              <a:off x="927342" y="1689342"/>
              <a:ext cx="1790633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8" idx="1"/>
              <a:endCxn id="4" idx="5"/>
            </p:cNvCxnSpPr>
            <p:nvPr/>
          </p:nvCxnSpPr>
          <p:spPr>
            <a:xfrm flipH="1" flipV="1">
              <a:off x="927342" y="1689342"/>
              <a:ext cx="1790633" cy="107116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190500" y="2057400"/>
              <a:ext cx="190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76300" y="2032000"/>
              <a:ext cx="495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50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38299" y="2952690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638298" y="1106579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86099" y="2006600"/>
              <a:ext cx="495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15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430121" y="1981200"/>
              <a:ext cx="313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125321" y="1600200"/>
              <a:ext cx="3130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210921" y="1600200"/>
              <a:ext cx="4906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30</a:t>
              </a:r>
            </a:p>
          </p:txBody>
        </p:sp>
      </p:grpSp>
      <p:cxnSp>
        <p:nvCxnSpPr>
          <p:cNvPr id="35" name="Straight Connector 34"/>
          <p:cNvCxnSpPr/>
          <p:nvPr/>
        </p:nvCxnSpPr>
        <p:spPr>
          <a:xfrm>
            <a:off x="117144" y="3429000"/>
            <a:ext cx="42062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343400" y="990600"/>
            <a:ext cx="0" cy="5257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52400" y="3505200"/>
            <a:ext cx="1097280" cy="365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Step: 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19600" y="990600"/>
            <a:ext cx="1097280" cy="36576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FF0000"/>
                </a:solidFill>
              </a:rPr>
              <a:t>Step: 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13921" y="963304"/>
            <a:ext cx="34395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Calculate the distance between each node with </a:t>
            </a:r>
            <a:r>
              <a:rPr lang="en-US" sz="2400" b="1" dirty="0">
                <a:solidFill>
                  <a:srgbClr val="FF0000"/>
                </a:solidFill>
              </a:rPr>
              <a:t>node 4 </a:t>
            </a:r>
            <a:r>
              <a:rPr lang="en-US" sz="2400" dirty="0"/>
              <a:t>as an intermediate node.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4761326" y="2709397"/>
                <a:ext cx="3757119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4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326" y="2709397"/>
                <a:ext cx="3757119" cy="1678858"/>
              </a:xfrm>
              <a:prstGeom prst="rect">
                <a:avLst/>
              </a:prstGeom>
              <a:blipFill>
                <a:blip r:embed="rId2"/>
                <a:stretch>
                  <a:fillRect l="-1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5810769" y="2590800"/>
          <a:ext cx="2407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1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5445014" y="2961639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281481" y="4228318"/>
                <a:ext cx="3757119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3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81" y="4228318"/>
                <a:ext cx="3757119" cy="1678858"/>
              </a:xfrm>
              <a:prstGeom prst="rect">
                <a:avLst/>
              </a:prstGeom>
              <a:blipFill>
                <a:blip r:embed="rId3"/>
                <a:stretch>
                  <a:fillRect l="-1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1330924" y="4109721"/>
          <a:ext cx="2407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1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965169" y="4480560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5791200" y="3250527"/>
                <a:ext cx="48907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3250527"/>
                <a:ext cx="489078" cy="461665"/>
              </a:xfrm>
              <a:prstGeom prst="rect">
                <a:avLst/>
              </a:prstGeom>
              <a:blipFill>
                <a:blip r:embed="rId4"/>
                <a:stretch>
                  <a:fillRect l="-2500" r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7121797" y="3274367"/>
                <a:ext cx="48907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1797" y="3274367"/>
                <a:ext cx="489078" cy="461665"/>
              </a:xfrm>
              <a:prstGeom prst="rect">
                <a:avLst/>
              </a:prstGeom>
              <a:blipFill>
                <a:blip r:embed="rId5"/>
                <a:stretch>
                  <a:fillRect l="-2469" r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085182" y="2921912"/>
                <a:ext cx="48907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182" y="2921912"/>
                <a:ext cx="489078" cy="461665"/>
              </a:xfrm>
              <a:prstGeom prst="rect">
                <a:avLst/>
              </a:prstGeom>
              <a:blipFill>
                <a:blip r:embed="rId6"/>
                <a:stretch>
                  <a:fillRect l="-2500"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/>
          <p:cNvSpPr/>
          <p:nvPr/>
        </p:nvSpPr>
        <p:spPr>
          <a:xfrm>
            <a:off x="7786268" y="2952690"/>
            <a:ext cx="443332" cy="143556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5810769" y="4024344"/>
            <a:ext cx="2407924" cy="36576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4678680" y="2532964"/>
            <a:ext cx="4008120" cy="2039036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955581" y="5062831"/>
            <a:ext cx="2052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Final Solution </a:t>
            </a:r>
          </a:p>
        </p:txBody>
      </p:sp>
      <p:cxnSp>
        <p:nvCxnSpPr>
          <p:cNvPr id="11" name="Straight Arrow Connector 10"/>
          <p:cNvCxnSpPr>
            <a:stCxn id="5" idx="0"/>
          </p:cNvCxnSpPr>
          <p:nvPr/>
        </p:nvCxnSpPr>
        <p:spPr>
          <a:xfrm flipH="1" flipV="1">
            <a:off x="6981757" y="4572000"/>
            <a:ext cx="1" cy="49083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008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5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0" grpId="0" animBg="1"/>
      <p:bldP spid="41" grpId="0" animBg="1"/>
      <p:bldP spid="38" grpId="0" animBg="1"/>
      <p:bldP spid="42" grpId="0" animBg="1"/>
      <p:bldP spid="3" grpId="0" animBg="1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 Algorithm - 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582" y="1143000"/>
            <a:ext cx="4282289" cy="24574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65654" y="4191000"/>
                <a:ext cx="3521477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0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  <m:m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54" y="4191000"/>
                <a:ext cx="3521477" cy="1678858"/>
              </a:xfrm>
              <a:prstGeom prst="rect">
                <a:avLst/>
              </a:prstGeom>
              <a:blipFill>
                <a:blip r:embed="rId3"/>
                <a:stretch>
                  <a:fillRect l="-1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7276" y="4072403"/>
          <a:ext cx="2407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1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1" y="4443242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936723" y="2861797"/>
                <a:ext cx="3521477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1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723" y="2861797"/>
                <a:ext cx="3521477" cy="1678858"/>
              </a:xfrm>
              <a:prstGeom prst="rect">
                <a:avLst/>
              </a:prstGeom>
              <a:blipFill>
                <a:blip r:embed="rId4"/>
                <a:stretch>
                  <a:fillRect l="-2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754020"/>
              </p:ext>
            </p:extLst>
          </p:nvPr>
        </p:nvGraphicFramePr>
        <p:xfrm>
          <a:off x="5868345" y="2743200"/>
          <a:ext cx="2407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1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639020"/>
              </p:ext>
            </p:extLst>
          </p:nvPr>
        </p:nvGraphicFramePr>
        <p:xfrm>
          <a:off x="5502590" y="3114039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033668" y="3136435"/>
            <a:ext cx="443332" cy="143556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897876" y="3093720"/>
            <a:ext cx="2407924" cy="41148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743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 animBg="1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 Algorithm - 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582" y="1143000"/>
            <a:ext cx="4282289" cy="24574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65654" y="4191000"/>
                <a:ext cx="3521477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1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54" y="4191000"/>
                <a:ext cx="3521477" cy="1678858"/>
              </a:xfrm>
              <a:prstGeom prst="rect">
                <a:avLst/>
              </a:prstGeom>
              <a:blipFill>
                <a:blip r:embed="rId3"/>
                <a:stretch>
                  <a:fillRect l="-2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7276" y="4072403"/>
          <a:ext cx="2407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1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003343"/>
              </p:ext>
            </p:extLst>
          </p:nvPr>
        </p:nvGraphicFramePr>
        <p:xfrm>
          <a:off x="731521" y="4443242"/>
          <a:ext cx="335279" cy="146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7259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936723" y="2861797"/>
                <a:ext cx="3521477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2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723" y="2861797"/>
                <a:ext cx="3521477" cy="1678858"/>
              </a:xfrm>
              <a:prstGeom prst="rect">
                <a:avLst/>
              </a:prstGeom>
              <a:blipFill>
                <a:blip r:embed="rId4"/>
                <a:stretch>
                  <a:fillRect l="-1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669784"/>
              </p:ext>
            </p:extLst>
          </p:nvPr>
        </p:nvGraphicFramePr>
        <p:xfrm>
          <a:off x="5868345" y="2743200"/>
          <a:ext cx="2407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1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02590" y="3114039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628520" y="3105090"/>
            <a:ext cx="443332" cy="143556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897876" y="3442764"/>
            <a:ext cx="2407924" cy="41148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12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 animBg="1"/>
      <p:bldP spid="1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 Algorithm - 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582" y="1143000"/>
            <a:ext cx="4282289" cy="24574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65654" y="4191000"/>
                <a:ext cx="3521477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2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54" y="4191000"/>
                <a:ext cx="3521477" cy="1678858"/>
              </a:xfrm>
              <a:prstGeom prst="rect">
                <a:avLst/>
              </a:prstGeom>
              <a:blipFill>
                <a:blip r:embed="rId3"/>
                <a:stretch>
                  <a:fillRect l="-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7276" y="4072403"/>
          <a:ext cx="240792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981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601981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1" y="4443242"/>
          <a:ext cx="335279" cy="1469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7259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992828" y="2861797"/>
                <a:ext cx="3409267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3   </a:t>
                </a:r>
                <a:r>
                  <a:rPr lang="en-US" sz="2400" dirty="0"/>
                  <a:t>=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2828" y="2861797"/>
                <a:ext cx="3409267" cy="1678858"/>
              </a:xfrm>
              <a:prstGeom prst="rect">
                <a:avLst/>
              </a:prstGeom>
              <a:blipFill>
                <a:blip r:embed="rId4"/>
                <a:stretch>
                  <a:fillRect l="-2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225507"/>
              </p:ext>
            </p:extLst>
          </p:nvPr>
        </p:nvGraphicFramePr>
        <p:xfrm>
          <a:off x="6248400" y="2743200"/>
          <a:ext cx="1828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549174"/>
              </p:ext>
            </p:extLst>
          </p:nvPr>
        </p:nvGraphicFramePr>
        <p:xfrm>
          <a:off x="5791200" y="3114039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252868" y="3105090"/>
            <a:ext cx="443332" cy="143556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248400" y="3779520"/>
            <a:ext cx="1828800" cy="41148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9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 animBg="1"/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 Algorithm - Example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582" y="1143000"/>
            <a:ext cx="4282289" cy="24574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02710" y="4191000"/>
                <a:ext cx="3247364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3 </a:t>
                </a:r>
                <a:r>
                  <a:rPr lang="en-US" sz="2400" dirty="0"/>
                  <a:t>=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10" y="4191000"/>
                <a:ext cx="3247364" cy="1678858"/>
              </a:xfrm>
              <a:prstGeom prst="rect">
                <a:avLst/>
              </a:prstGeom>
              <a:blipFill>
                <a:blip r:embed="rId3"/>
                <a:stretch>
                  <a:fillRect l="-2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979713"/>
              </p:ext>
            </p:extLst>
          </p:nvPr>
        </p:nvGraphicFramePr>
        <p:xfrm>
          <a:off x="1447800" y="4101899"/>
          <a:ext cx="1828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74086"/>
              </p:ext>
            </p:extLst>
          </p:nvPr>
        </p:nvGraphicFramePr>
        <p:xfrm>
          <a:off x="1036321" y="4443242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179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179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179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179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089809" y="2861797"/>
                <a:ext cx="3215304" cy="1678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</a:pPr>
                <a:r>
                  <a:rPr lang="en-US" sz="2400" dirty="0"/>
                  <a:t>D</a:t>
                </a:r>
                <a:r>
                  <a:rPr lang="en-US" sz="2400" baseline="-25000" dirty="0"/>
                  <a:t>4   </a:t>
                </a:r>
                <a:r>
                  <a:rPr lang="en-US" sz="2400" dirty="0"/>
                  <a:t>=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809" y="2861797"/>
                <a:ext cx="3215304" cy="1678858"/>
              </a:xfrm>
              <a:prstGeom prst="rect">
                <a:avLst/>
              </a:prstGeom>
              <a:blipFill>
                <a:blip r:embed="rId4"/>
                <a:stretch>
                  <a:fillRect l="-3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48400" y="2743200"/>
          <a:ext cx="1828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48930025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96216807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04992033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94342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8093668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43600" y="3114039"/>
          <a:ext cx="3352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">
                  <a:extLst>
                    <a:ext uri="{9D8B030D-6E8A-4147-A177-3AD203B41FA5}">
                      <a16:colId xmlns="" xmlns:a16="http://schemas.microsoft.com/office/drawing/2014/main" val="2491987096"/>
                    </a:ext>
                  </a:extLst>
                </a:gridCol>
              </a:tblGrid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437353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9170189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3020703"/>
                  </a:ext>
                </a:extLst>
              </a:tr>
              <a:tr h="344553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14938776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7649496" y="3105090"/>
            <a:ext cx="443332" cy="143556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248400" y="4160520"/>
            <a:ext cx="1828800" cy="41148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4754880" y="2723468"/>
            <a:ext cx="4008120" cy="2039036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031781" y="5253335"/>
            <a:ext cx="2052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Final Solution </a:t>
            </a:r>
          </a:p>
        </p:txBody>
      </p:sp>
      <p:cxnSp>
        <p:nvCxnSpPr>
          <p:cNvPr id="18" name="Straight Arrow Connector 17"/>
          <p:cNvCxnSpPr>
            <a:stCxn id="17" idx="0"/>
          </p:cNvCxnSpPr>
          <p:nvPr/>
        </p:nvCxnSpPr>
        <p:spPr>
          <a:xfrm flipH="1" flipV="1">
            <a:off x="7057957" y="4762504"/>
            <a:ext cx="1" cy="490831"/>
          </a:xfrm>
          <a:prstGeom prst="straightConnector1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950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5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 animBg="1"/>
      <p:bldP spid="15" grpId="0" animBg="1"/>
      <p:bldP spid="16" grpId="0" animBg="1"/>
      <p:bldP spid="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Floyd’s Algorithm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1"/>
          </p:nvPr>
        </p:nvSpPr>
        <p:spPr>
          <a:xfrm>
            <a:off x="190500" y="990600"/>
            <a:ext cx="8763000" cy="3881062"/>
          </a:xfrm>
          <a:prstGeom prst="rect">
            <a:avLst/>
          </a:prstGeom>
          <a:solidFill>
            <a:schemeClr val="bg2"/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Floyd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[1..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1..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:array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[1..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1..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marL="0" indent="0" algn="l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array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[1..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1..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 marL="0" indent="0" algn="l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←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lang="en-US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← 1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← 1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← 1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i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i="1" dirty="0" err="1"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 ← min(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i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i="1" dirty="0" err="1"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],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i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]+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k,</a:t>
            </a:r>
            <a:r>
              <a:rPr lang="en-US" i="1" dirty="0" err="1"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pPr marL="0" indent="0" algn="l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D</a:t>
            </a:r>
            <a:r>
              <a:rPr lang="en-IN" sz="24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n temp ← A[j]   A[j+1] ← temp</a:t>
            </a:r>
          </a:p>
        </p:txBody>
      </p:sp>
    </p:spTree>
    <p:extLst>
      <p:ext uri="{BB962C8B-B14F-4D97-AF65-F5344CB8AC3E}">
        <p14:creationId xmlns:p14="http://schemas.microsoft.com/office/powerpoint/2010/main" val="269569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8457" y="3012282"/>
            <a:ext cx="5907087" cy="833437"/>
          </a:xfrm>
          <a:noFill/>
        </p:spPr>
        <p:txBody>
          <a:bodyPr/>
          <a:lstStyle/>
          <a:p>
            <a:r>
              <a:rPr lang="en-US" cap="none" dirty="0">
                <a:solidFill>
                  <a:srgbClr val="C00000"/>
                </a:solidFill>
              </a:rPr>
              <a:t>Assembly Line Scheduling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818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Line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 automobile chassis enters each assembly line, </a:t>
                </a:r>
                <a:r>
                  <a:rPr lang="en-US" b="1" dirty="0"/>
                  <a:t>has parts added to it at a number of stations</a:t>
                </a:r>
                <a:r>
                  <a:rPr lang="en-US" dirty="0"/>
                  <a:t>, and a finished auto exits at the end of the line. </a:t>
                </a:r>
              </a:p>
              <a:p>
                <a:r>
                  <a:rPr lang="en-US" dirty="0"/>
                  <a:t>There are two assembly lines, numbered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1, 2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Each assembly line has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stations, numbered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 1, 2,…,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 descr="C:\Users\RUPESH\Pictures\cadena_de_montaje_ingles.jpg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429000"/>
            <a:ext cx="6858000" cy="2926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0455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Line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denote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station on line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baseline="30000" dirty="0"/>
                  <a:t> </a:t>
                </a:r>
                <a:r>
                  <a:rPr lang="en-US" dirty="0"/>
                  <a:t>station on line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performs the same function as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station on line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 (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Corresponding stations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baseline="-25000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perform the same function </a:t>
                </a:r>
                <a:r>
                  <a:rPr lang="en-US" b="1" dirty="0"/>
                  <a:t>but can take different amounts of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04" t="-229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3" descr="C:\Users\RUPESH\Pictures\cadena_de_montaje_ingles.jpg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429000"/>
            <a:ext cx="6858000" cy="2926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53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Line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Entry times are: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; exit times are: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After going through a station, a chassis can either:</a:t>
                </a:r>
              </a:p>
              <a:p>
                <a:pPr lvl="1"/>
                <a:r>
                  <a:rPr lang="en-US" dirty="0"/>
                  <a:t>stay on </a:t>
                </a:r>
                <a:r>
                  <a:rPr lang="en-US" b="1" dirty="0"/>
                  <a:t>same line </a:t>
                </a:r>
                <a:r>
                  <a:rPr lang="en-US" dirty="0"/>
                  <a:t>at no cost, or </a:t>
                </a:r>
              </a:p>
              <a:p>
                <a:pPr lvl="1"/>
                <a:r>
                  <a:rPr lang="en-US" dirty="0"/>
                  <a:t>transfer to </a:t>
                </a:r>
                <a:r>
                  <a:rPr lang="en-US" b="1" dirty="0"/>
                  <a:t>other line</a:t>
                </a:r>
                <a:r>
                  <a:rPr lang="en-US" dirty="0"/>
                  <a:t>: cost after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=1, . . . , 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–1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Content Placeholder 3" descr="C:\Users\RUPESH\Pictures\cadena_de_montaje_ingles.jpg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429000"/>
            <a:ext cx="6858000" cy="2926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584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Assembly Line Scheduling - Example</a:t>
            </a:r>
          </a:p>
        </p:txBody>
      </p:sp>
      <p:pic>
        <p:nvPicPr>
          <p:cNvPr id="5" name="Content Placeholder 4" descr="C:\Users\RUPESH\Pictures\aa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514600"/>
            <a:ext cx="731520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190500" y="990600"/>
            <a:ext cx="8763000" cy="533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just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just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200150" indent="-285750" algn="just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Pct val="8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Using dynamic programming technique, find the fastest time to get through the entire factory for the following:</a:t>
            </a:r>
          </a:p>
        </p:txBody>
      </p:sp>
    </p:spTree>
    <p:extLst>
      <p:ext uri="{BB962C8B-B14F-4D97-AF65-F5344CB8AC3E}">
        <p14:creationId xmlns:p14="http://schemas.microsoft.com/office/powerpoint/2010/main" val="403970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Substructure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Step 1: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: the fastest time to get through the entire factory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 the fastest time to get from the starting point through station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baseline="-25000" dirty="0"/>
                  <a:t>.</a:t>
                </a:r>
              </a:p>
              <a:p>
                <a:r>
                  <a:rPr lang="en-US" dirty="0"/>
                  <a:t>Base case: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dirty="0"/>
                  <a:t>(getting through station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	 			</a:t>
                </a:r>
                <a:endParaRPr lang="en-US" baseline="-250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20" y="4419600"/>
            <a:ext cx="2468880" cy="18574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4495800"/>
            <a:ext cx="2468880" cy="17771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6497138"/>
                  </p:ext>
                </p:extLst>
              </p:nvPr>
            </p:nvGraphicFramePr>
            <p:xfrm>
              <a:off x="927100" y="3809998"/>
              <a:ext cx="3181350" cy="25450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8135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</a:tblGrid>
                  <a:tr h="53340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dirty="0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[1] = </m:t>
                              </m:r>
                              <m:sSub>
                                <m:sSubPr>
                                  <m:ctrlPr>
                                    <a:rPr lang="en-US" sz="2400" i="1" dirty="0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 dirty="0" smtClean="0">
                                      <a:solidFill>
                                        <a:srgbClr val="C00000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</m:oMath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15741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6497138"/>
                  </p:ext>
                </p:extLst>
              </p:nvPr>
            </p:nvGraphicFramePr>
            <p:xfrm>
              <a:off x="927100" y="3809998"/>
              <a:ext cx="3181350" cy="25450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81350"/>
                  </a:tblGrid>
                  <a:tr h="5334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92" t="-1136" r="-575" b="-378409"/>
                          </a:stretch>
                        </a:blipFill>
                      </a:tcPr>
                    </a:tc>
                  </a:tr>
                  <a:tr h="2011680">
                    <a:tc>
                      <a:txBody>
                        <a:bodyPr/>
                        <a:lstStyle/>
                        <a:p>
                          <a:endParaRPr lang="en-US" dirty="0" smtClean="0"/>
                        </a:p>
                        <a:p>
                          <a:endParaRPr lang="en-US" dirty="0" smtClean="0"/>
                        </a:p>
                        <a:p>
                          <a:endParaRPr lang="en-US" dirty="0" smtClean="0"/>
                        </a:p>
                        <a:p>
                          <a:endParaRPr lang="en-US" dirty="0" smtClean="0"/>
                        </a:p>
                        <a:p>
                          <a:endParaRPr lang="en-US" dirty="0" smtClean="0"/>
                        </a:p>
                        <a:p>
                          <a:endParaRPr lang="en-US" dirty="0" smtClean="0"/>
                        </a:p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8858132"/>
                  </p:ext>
                </p:extLst>
              </p:nvPr>
            </p:nvGraphicFramePr>
            <p:xfrm>
              <a:off x="5035550" y="3809998"/>
              <a:ext cx="3181350" cy="25450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8135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</a:tblGrid>
                  <a:tr h="53340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[1] = </m:t>
                                </m:r>
                                <m:sSub>
                                  <m:sSubPr>
                                    <m:ctrlPr>
                                      <a:rPr lang="en-US" sz="240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4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US" sz="240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1574155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8858132"/>
                  </p:ext>
                </p:extLst>
              </p:nvPr>
            </p:nvGraphicFramePr>
            <p:xfrm>
              <a:off x="5035550" y="3809998"/>
              <a:ext cx="3181350" cy="25450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81350"/>
                  </a:tblGrid>
                  <a:tr h="5334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6"/>
                          <a:stretch>
                            <a:fillRect l="-192" t="-1136" r="-383" b="-378409"/>
                          </a:stretch>
                        </a:blipFill>
                      </a:tcPr>
                    </a:tc>
                  </a:tr>
                  <a:tr h="2011680">
                    <a:tc>
                      <a:txBody>
                        <a:bodyPr/>
                        <a:lstStyle/>
                        <a:p>
                          <a:endParaRPr lang="en-US" dirty="0" smtClean="0"/>
                        </a:p>
                        <a:p>
                          <a:endParaRPr lang="en-US" dirty="0" smtClean="0"/>
                        </a:p>
                        <a:p>
                          <a:endParaRPr lang="en-US" dirty="0" smtClean="0"/>
                        </a:p>
                        <a:p>
                          <a:endParaRPr lang="en-US" dirty="0" smtClean="0"/>
                        </a:p>
                        <a:p>
                          <a:endParaRPr lang="en-US" dirty="0" smtClean="0"/>
                        </a:p>
                        <a:p>
                          <a:endParaRPr lang="en-US" dirty="0" smtClean="0"/>
                        </a:p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85080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Substructure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General Case: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2, 3, …,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1,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-  Recursive solution 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7" y="2133600"/>
            <a:ext cx="7480195" cy="923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050" y="3733800"/>
            <a:ext cx="7514832" cy="1057275"/>
          </a:xfrm>
          <a:prstGeom prst="rect">
            <a:avLst/>
          </a:prstGeom>
        </p:spPr>
      </p:pic>
      <p:graphicFrame>
        <p:nvGraphicFramePr>
          <p:cNvPr id="10" name="Object 2"/>
          <p:cNvGraphicFramePr>
            <a:graphicFrameLocks noChangeAspect="1"/>
          </p:cNvGraphicFramePr>
          <p:nvPr/>
        </p:nvGraphicFramePr>
        <p:xfrm>
          <a:off x="2867025" y="5449888"/>
          <a:ext cx="39735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2" name="Equation" r:id="rId6" imgW="1892160" imgH="228600" progId="Equation.3">
                  <p:embed/>
                </p:oleObj>
              </mc:Choice>
              <mc:Fallback>
                <p:oleObj name="Equation" r:id="rId6" imgW="1892160" imgH="228600" progId="Equation.3">
                  <p:embed/>
                  <p:pic>
                    <p:nvPicPr>
                      <p:cNvPr id="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7025" y="5449888"/>
                        <a:ext cx="3973513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2819400" y="5429026"/>
            <a:ext cx="4114800" cy="640080"/>
          </a:xfrm>
          <a:prstGeom prst="rect">
            <a:avLst/>
          </a:prstGeom>
          <a:solidFill>
            <a:srgbClr val="C0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95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Assembly Line Scheduling - Example</a:t>
            </a:r>
          </a:p>
        </p:txBody>
      </p:sp>
      <p:pic>
        <p:nvPicPr>
          <p:cNvPr id="4" name="Content Placeholder 4" descr="C:\Users\RUPESH\Pictures\aa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66800"/>
            <a:ext cx="7315200" cy="292608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0755412"/>
                  </p:ext>
                </p:extLst>
              </p:nvPr>
            </p:nvGraphicFramePr>
            <p:xfrm>
              <a:off x="1524001" y="4114800"/>
              <a:ext cx="6095999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</a:t>
                          </a:r>
                          <a:r>
                            <a:rPr lang="en-US" sz="2400" b="0" baseline="0" dirty="0">
                              <a:solidFill>
                                <a:srgbClr val="C00000"/>
                              </a:solidFill>
                            </a:rPr>
                            <a:t> = </a:t>
                          </a:r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0755412"/>
                  </p:ext>
                </p:extLst>
              </p:nvPr>
            </p:nvGraphicFramePr>
            <p:xfrm>
              <a:off x="1524001" y="4114800"/>
              <a:ext cx="6095999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</a:t>
                          </a:r>
                          <a:r>
                            <a:rPr lang="en-US" sz="2400" b="0" baseline="0" dirty="0" smtClean="0">
                              <a:solidFill>
                                <a:srgbClr val="C00000"/>
                              </a:solidFill>
                            </a:rPr>
                            <a:t> = </a:t>
                          </a:r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2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3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4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5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6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399" t="-110667" r="-601399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35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399" t="-210667" r="-601399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TextBox 5"/>
          <p:cNvSpPr txBox="1"/>
          <p:nvPr/>
        </p:nvSpPr>
        <p:spPr>
          <a:xfrm>
            <a:off x="2667000" y="4621306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667000" y="5080292"/>
            <a:ext cx="304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518647" y="461772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518647" y="5068189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381500" y="461593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381500" y="5068189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286935" y="4619527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1588" y="5080292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149788" y="461593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147547" y="5051167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012641" y="461593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7016003" y="509017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ounded Rectangle 18"/>
              <p:cNvSpPr/>
              <p:nvPr/>
            </p:nvSpPr>
            <p:spPr>
              <a:xfrm>
                <a:off x="731520" y="5598459"/>
                <a:ext cx="7680960" cy="838200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h𝑒𝑟𝑒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sz="24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nor/>
                      </m:rPr>
                      <a:rPr lang="en-US" sz="24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[1]=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1,1</m:t>
                    </m:r>
                  </m:oMath>
                </a14:m>
                <a:r>
                  <a:rPr lang="en-US" sz="2400" baseline="-25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=2+7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endChr m:val="]"/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h𝑒𝑟𝑒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=1, 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so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[1]=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b="0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,1</m:t>
                    </m:r>
                  </m:oMath>
                </a14:m>
                <a:r>
                  <a:rPr lang="en-US" sz="2400" baseline="-25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baseline="-25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[1]=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ounded 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5598459"/>
                <a:ext cx="7680960" cy="838200"/>
              </a:xfrm>
              <a:prstGeom prst="roundRect">
                <a:avLst/>
              </a:prstGeom>
              <a:blipFill rotWithShape="0">
                <a:blip r:embed="rId4"/>
                <a:stretch>
                  <a:fillRect l="-79" b="-8571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/>
          <p:cNvSpPr/>
          <p:nvPr/>
        </p:nvSpPr>
        <p:spPr>
          <a:xfrm>
            <a:off x="2052918" y="1295400"/>
            <a:ext cx="548640" cy="5486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1147482" y="1283970"/>
            <a:ext cx="909918" cy="99060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069042" y="2743984"/>
            <a:ext cx="851647" cy="102489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25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4.81481E-6 L -0.00034 0.28217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" y="140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9" grpId="0" animBg="1"/>
      <p:bldP spid="19" grpId="1" animBg="1"/>
      <p:bldP spid="20" grpId="0" animBg="1"/>
      <p:bldP spid="20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Assembly Line Scheduling - Example</a:t>
            </a:r>
          </a:p>
        </p:txBody>
      </p:sp>
      <p:pic>
        <p:nvPicPr>
          <p:cNvPr id="4" name="Content Placeholder 4" descr="C:\Users\RUPESH\Pictures\aa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66800"/>
            <a:ext cx="7315200" cy="292608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3524419"/>
                  </p:ext>
                </p:extLst>
              </p:nvPr>
            </p:nvGraphicFramePr>
            <p:xfrm>
              <a:off x="1524001" y="4114800"/>
              <a:ext cx="6095999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</a:t>
                          </a:r>
                          <a:r>
                            <a:rPr lang="en-US" sz="2400" b="0" baseline="0" dirty="0">
                              <a:solidFill>
                                <a:srgbClr val="C00000"/>
                              </a:solidFill>
                            </a:rPr>
                            <a:t> = </a:t>
                          </a:r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3524419"/>
                  </p:ext>
                </p:extLst>
              </p:nvPr>
            </p:nvGraphicFramePr>
            <p:xfrm>
              <a:off x="1524001" y="4114800"/>
              <a:ext cx="6095999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</a:t>
                          </a:r>
                          <a:r>
                            <a:rPr lang="en-US" sz="2400" b="0" baseline="0" dirty="0" smtClean="0">
                              <a:solidFill>
                                <a:srgbClr val="C00000"/>
                              </a:solidFill>
                            </a:rPr>
                            <a:t> = </a:t>
                          </a:r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2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3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4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5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6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399" t="-110667" r="-601399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35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399" t="-210667" r="-601399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TextBox 5"/>
          <p:cNvSpPr txBox="1"/>
          <p:nvPr/>
        </p:nvSpPr>
        <p:spPr>
          <a:xfrm>
            <a:off x="3518647" y="461772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518647" y="5068189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381500" y="461593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381500" y="5068189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286935" y="4619527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1588" y="5080292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149788" y="461593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147547" y="5051167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012641" y="461593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016003" y="509017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/>
              <p:cNvSpPr/>
              <p:nvPr/>
            </p:nvSpPr>
            <p:spPr>
              <a:xfrm>
                <a:off x="731520" y="5595411"/>
                <a:ext cx="7680960" cy="841248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[2]=</m:t>
                      </m:r>
                      <m:r>
                        <m:rPr>
                          <m:sty m:val="p"/>
                        </m:rP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−1]+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,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−1]+</m:t>
                      </m:r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lang="en-US" sz="2400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        =</m:t>
                      </m:r>
                      <m:func>
                        <m:func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9+9, 12+2+9</m:t>
                              </m:r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⁡(18, 23)</m:t>
                      </m:r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ounded 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5595411"/>
                <a:ext cx="7680960" cy="841248"/>
              </a:xfrm>
              <a:prstGeom prst="roundRect">
                <a:avLst/>
              </a:prstGeom>
              <a:blipFill rotWithShape="0">
                <a:blip r:embed="rId4"/>
                <a:stretch>
                  <a:fillRect b="-10000"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>
          <a:xfrm>
            <a:off x="2929666" y="1295400"/>
            <a:ext cx="548640" cy="5486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1164067" y="1348740"/>
            <a:ext cx="838200" cy="99060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133600" y="1143000"/>
            <a:ext cx="1066800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667000" y="5679141"/>
            <a:ext cx="2011680" cy="347472"/>
          </a:xfrm>
          <a:prstGeom prst="rect">
            <a:avLst/>
          </a:prstGeom>
          <a:solidFill>
            <a:srgbClr val="00206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/>
          <p:nvPr/>
        </p:nvCxnSpPr>
        <p:spPr>
          <a:xfrm>
            <a:off x="2971800" y="6351896"/>
            <a:ext cx="731520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155103" y="2667000"/>
            <a:ext cx="838200" cy="106680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2251934" y="1676401"/>
            <a:ext cx="719866" cy="1523999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886200" y="6351896"/>
            <a:ext cx="1280160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892040" y="5679141"/>
            <a:ext cx="3108960" cy="365760"/>
          </a:xfrm>
          <a:prstGeom prst="rect">
            <a:avLst/>
          </a:prstGeom>
          <a:solidFill>
            <a:srgbClr val="00206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6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6 4.81481E-6 L -0.00035 0.28217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" y="14097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6" grpId="1" animBg="1"/>
      <p:bldP spid="17" grpId="0" animBg="1"/>
      <p:bldP spid="17" grpId="1" animBg="1"/>
      <p:bldP spid="22" grpId="0" animBg="1"/>
      <p:bldP spid="22" grpId="1" animBg="1"/>
      <p:bldP spid="34" grpId="0" animBg="1"/>
      <p:bldP spid="34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Assembly Line Scheduling - Example</a:t>
            </a:r>
          </a:p>
        </p:txBody>
      </p:sp>
      <p:pic>
        <p:nvPicPr>
          <p:cNvPr id="4" name="Content Placeholder 4" descr="C:\Users\RUPESH\Pictures\aa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66800"/>
            <a:ext cx="7315200" cy="292608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1524001" y="4114800"/>
              <a:ext cx="6095999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</a:t>
                          </a:r>
                          <a:r>
                            <a:rPr lang="en-US" sz="2400" b="0" baseline="0" dirty="0">
                              <a:solidFill>
                                <a:srgbClr val="C00000"/>
                              </a:solidFill>
                            </a:rPr>
                            <a:t> = </a:t>
                          </a:r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1524001" y="4114800"/>
              <a:ext cx="6095999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</a:t>
                          </a:r>
                          <a:r>
                            <a:rPr lang="en-US" sz="2400" b="0" baseline="0" dirty="0" smtClean="0">
                              <a:solidFill>
                                <a:srgbClr val="C00000"/>
                              </a:solidFill>
                            </a:rPr>
                            <a:t> = </a:t>
                          </a:r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2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3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4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5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6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399" t="-110667" r="-601399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35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399" t="-210667" r="-601399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3518647" y="5068189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381500" y="461593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381500" y="5068189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286935" y="4619527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1588" y="5080292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149788" y="461593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147547" y="5051167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012641" y="461593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016003" y="509017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/>
              <p:cNvSpPr/>
              <p:nvPr/>
            </p:nvSpPr>
            <p:spPr>
              <a:xfrm>
                <a:off x="731520" y="5595411"/>
                <a:ext cx="7680960" cy="841248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[2]=</m:t>
                      </m:r>
                      <m:r>
                        <m:rPr>
                          <m:sty m:val="p"/>
                        </m:rP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−1]+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,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−1]+</m:t>
                      </m:r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baseline="-250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baseline="-250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        =</m:t>
                      </m:r>
                      <m:func>
                        <m:func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24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+2+</m:t>
                              </m:r>
                              <m: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⁡(17, 16)</m:t>
                      </m:r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ounded 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5595411"/>
                <a:ext cx="7680960" cy="841248"/>
              </a:xfrm>
              <a:prstGeom prst="roundRect">
                <a:avLst/>
              </a:prstGeom>
              <a:blipFill rotWithShape="0">
                <a:blip r:embed="rId4"/>
                <a:stretch>
                  <a:fillRect b="-10000"/>
                </a:stretch>
              </a:blipFill>
              <a:ln w="95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>
          <a:xfrm>
            <a:off x="2929666" y="3225501"/>
            <a:ext cx="548640" cy="5486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1198134" y="1367567"/>
            <a:ext cx="838200" cy="99060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026025" y="3962400"/>
            <a:ext cx="1188720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187825" y="2623073"/>
            <a:ext cx="838200" cy="106680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2622625" y="1645293"/>
            <a:ext cx="614082" cy="1362635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667000" y="5679141"/>
            <a:ext cx="2011680" cy="347472"/>
          </a:xfrm>
          <a:prstGeom prst="rect">
            <a:avLst/>
          </a:prstGeom>
          <a:solidFill>
            <a:srgbClr val="00206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2998694" y="6351494"/>
            <a:ext cx="822960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3977640" y="6351494"/>
            <a:ext cx="1188720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892040" y="5679141"/>
            <a:ext cx="3108960" cy="365760"/>
          </a:xfrm>
          <a:prstGeom prst="rect">
            <a:avLst/>
          </a:prstGeom>
          <a:solidFill>
            <a:srgbClr val="00206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56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 animBg="1"/>
      <p:bldP spid="28" grpId="0" animBg="1"/>
      <p:bldP spid="28" grpId="1" animBg="1"/>
      <p:bldP spid="31" grpId="0" animBg="1"/>
      <p:bldP spid="31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Assembly Line Scheduling - Example</a:t>
            </a:r>
          </a:p>
        </p:txBody>
      </p:sp>
      <p:pic>
        <p:nvPicPr>
          <p:cNvPr id="4" name="Content Placeholder 4" descr="C:\Users\RUPESH\Pictures\aa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66800"/>
            <a:ext cx="7315200" cy="292608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1524001" y="4114800"/>
              <a:ext cx="6095999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</a:t>
                          </a:r>
                          <a:r>
                            <a:rPr lang="en-US" sz="2400" b="0" baseline="0" dirty="0">
                              <a:solidFill>
                                <a:srgbClr val="C00000"/>
                              </a:solidFill>
                            </a:rPr>
                            <a:t> = </a:t>
                          </a:r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1524001" y="4114800"/>
              <a:ext cx="6095999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</a:t>
                          </a:r>
                          <a:r>
                            <a:rPr lang="en-US" sz="2400" b="0" baseline="0" dirty="0" smtClean="0">
                              <a:solidFill>
                                <a:srgbClr val="C00000"/>
                              </a:solidFill>
                            </a:rPr>
                            <a:t> = </a:t>
                          </a:r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2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3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4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5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6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399" t="-110667" r="-601399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35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399" t="-210667" r="-601399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4381500" y="461593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381500" y="5068189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286935" y="4619527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1588" y="5080292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149788" y="461593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147547" y="5051167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012641" y="461593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016003" y="5090174"/>
            <a:ext cx="3810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3808207" y="1295400"/>
            <a:ext cx="548640" cy="54864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3505200" y="1965960"/>
            <a:ext cx="577327" cy="131064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276600" y="1116106"/>
            <a:ext cx="914400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ounded Rectangle 31"/>
              <p:cNvSpPr/>
              <p:nvPr/>
            </p:nvSpPr>
            <p:spPr>
              <a:xfrm>
                <a:off x="1409700" y="5720834"/>
                <a:ext cx="6324600" cy="53340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𝑀𝑖𝑛</m:t>
                      </m:r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(18+3, 16+1+3)=</m:t>
                      </m:r>
                      <m:func>
                        <m:funcPr>
                          <m:ctrlP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21, 20</m:t>
                              </m:r>
                            </m:e>
                          </m:d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20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Rounded 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700" y="5720834"/>
                <a:ext cx="6324600" cy="533400"/>
              </a:xfrm>
              <a:prstGeom prst="roundRect">
                <a:avLst/>
              </a:prstGeom>
              <a:blipFill rotWithShape="0">
                <a:blip r:embed="rId4"/>
                <a:stretch>
                  <a:fillRect b="-659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/>
          <p:cNvCxnSpPr/>
          <p:nvPr/>
        </p:nvCxnSpPr>
        <p:spPr>
          <a:xfrm>
            <a:off x="2313296" y="6190129"/>
            <a:ext cx="822960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3316045" y="6190129"/>
            <a:ext cx="1371600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3491552" y="4572000"/>
            <a:ext cx="457200" cy="457200"/>
          </a:xfrm>
          <a:prstGeom prst="ellipse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491552" y="5029200"/>
            <a:ext cx="4572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7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32" grpId="0" animBg="1"/>
      <p:bldP spid="3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Assembly Line Scheduling - Example</a:t>
            </a:r>
          </a:p>
        </p:txBody>
      </p:sp>
      <p:pic>
        <p:nvPicPr>
          <p:cNvPr id="4" name="Content Placeholder 4" descr="C:\Users\RUPESH\Pictures\aa.jp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66800"/>
            <a:ext cx="7315200" cy="292608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1524001" y="4114800"/>
              <a:ext cx="6095999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  <a:gridCol w="870857">
                      <a:extLst>
                        <a:ext uri="{9D8B030D-6E8A-4147-A177-3AD203B41FA5}">
                          <a16:colId xmlns="" xmlns:a16="http://schemas.microsoft.com/office/drawing/2014/main" val="2000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</a:t>
                          </a:r>
                          <a:r>
                            <a:rPr lang="en-US" sz="2400" b="0" baseline="0" dirty="0">
                              <a:solidFill>
                                <a:srgbClr val="C00000"/>
                              </a:solidFill>
                            </a:rPr>
                            <a:t> = </a:t>
                          </a:r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j = 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1524001" y="4114800"/>
              <a:ext cx="6095999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  <a:gridCol w="870857"/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</a:t>
                          </a:r>
                          <a:r>
                            <a:rPr lang="en-US" sz="2400" b="0" baseline="0" dirty="0" smtClean="0">
                              <a:solidFill>
                                <a:srgbClr val="C00000"/>
                              </a:solidFill>
                            </a:rPr>
                            <a:t> = </a:t>
                          </a:r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2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3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4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5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j = 6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399" t="-110667" r="-601399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18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35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399" t="-210667" r="-601399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16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25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37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2240280" y="6000704"/>
                <a:ext cx="4663440" cy="4572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/>
                              <a:cs typeface="Courier New" panose="02070309020205020404" pitchFamily="49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ourier New" panose="02070309020205020404" pitchFamily="49" charset="0"/>
                            </a:rPr>
                            <m:t>∗</m:t>
                          </m:r>
                        </m:sup>
                      </m:sSup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m:t>min</m:t>
                      </m:r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m:t>⁡(35+3, 37+2) = 38</m:t>
                      </m:r>
                    </m:oMath>
                  </m:oMathPara>
                </a14:m>
                <a:endParaRPr lang="en-US" sz="2400" i="1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0280" y="6000704"/>
                <a:ext cx="4663440" cy="45720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240280" y="5608320"/>
                <a:ext cx="4663440" cy="457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 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d>
                        <m:dPr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0280" y="5608320"/>
                <a:ext cx="4663440" cy="457200"/>
              </a:xfrm>
              <a:prstGeom prst="rect">
                <a:avLst/>
              </a:prstGeom>
              <a:blipFill rotWithShape="0">
                <a:blip r:embed="rId5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6297706" y="6052073"/>
            <a:ext cx="457200" cy="392384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754906" y="4572000"/>
            <a:ext cx="851647" cy="457200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6761020" y="5029200"/>
            <a:ext cx="851647" cy="457200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990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" grpId="0"/>
      <p:bldP spid="6" grpId="0" animBg="1"/>
      <p:bldP spid="7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8457" y="2747963"/>
            <a:ext cx="6230143" cy="757237"/>
          </a:xfrm>
          <a:noFill/>
        </p:spPr>
        <p:txBody>
          <a:bodyPr/>
          <a:lstStyle/>
          <a:p>
            <a:r>
              <a:rPr lang="en-US" cap="none" dirty="0">
                <a:solidFill>
                  <a:srgbClr val="C00000"/>
                </a:solidFill>
              </a:rPr>
              <a:t>Chain Matrix Multiplication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580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Chain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and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are two given matrices for multiplication.</a:t>
                </a:r>
              </a:p>
              <a:p>
                <a:r>
                  <a:rPr lang="en-US" dirty="0"/>
                  <a:t>The resultant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∙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So,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   </a:t>
                </a:r>
              </a:p>
              <a:p>
                <a:pPr marL="400050" lvl="1" indent="0" algn="l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i="1" dirty="0"/>
              </a:p>
              <a:p>
                <a:r>
                  <a:rPr lang="en-US" dirty="0"/>
                  <a:t>Suppose,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(2×3) </m:t>
                    </m:r>
                  </m:oMath>
                </a14:m>
                <a:r>
                  <a:rPr lang="en-US" dirty="0"/>
                  <a:t>and matrix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(3×2) </m:t>
                    </m:r>
                  </m:oMath>
                </a14:m>
                <a:r>
                  <a:rPr lang="en-US" dirty="0"/>
                  <a:t>are given.</a:t>
                </a:r>
              </a:p>
              <a:p>
                <a:r>
                  <a:rPr lang="en-US" dirty="0"/>
                  <a:t>The product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∙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the dimension of matrix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The total number of scalar multiplications required will be,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/>
          <p:cNvCxnSpPr/>
          <p:nvPr/>
        </p:nvCxnSpPr>
        <p:spPr>
          <a:xfrm>
            <a:off x="3021106" y="4271682"/>
            <a:ext cx="274320" cy="0"/>
          </a:xfrm>
          <a:prstGeom prst="line">
            <a:avLst/>
          </a:prstGeom>
          <a:ln w="5715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234953" y="4271682"/>
            <a:ext cx="274320" cy="0"/>
          </a:xfrm>
          <a:prstGeom prst="line">
            <a:avLst/>
          </a:prstGeom>
          <a:ln w="5715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20000" y="4410635"/>
            <a:ext cx="7315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201840" y="5369256"/>
            <a:ext cx="4663440" cy="54864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3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Chain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Now, we want to calculate </a:t>
                </a:r>
                <a:r>
                  <a:rPr lang="en-US" b="1" dirty="0"/>
                  <a:t>the product of more than two matrices</a:t>
                </a:r>
                <a:r>
                  <a:rPr lang="en-US" dirty="0"/>
                  <a:t>. Matrix multiplication is </a:t>
                </a:r>
                <a:r>
                  <a:rPr lang="en-US" b="1" dirty="0"/>
                  <a:t>associative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 product of </a:t>
                </a:r>
                <a:r>
                  <a:rPr lang="en-US" dirty="0">
                    <a:solidFill>
                      <a:srgbClr val="FF0000"/>
                    </a:solidFill>
                  </a:rPr>
                  <a:t>four matrices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(13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×5)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(5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×89)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(89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×3)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(3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×34)</m:t>
                    </m:r>
                  </m:oMath>
                </a14:m>
                <a:r>
                  <a:rPr lang="en-US" dirty="0"/>
                  <a:t> can be fully parenthesized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>
                    <a:solidFill>
                      <a:srgbClr val="0066FF"/>
                    </a:solidFill>
                  </a:rPr>
                  <a:t> distinct ways</a:t>
                </a:r>
                <a:r>
                  <a:rPr lang="en-US" dirty="0"/>
                  <a:t>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/>
          <p:cNvCxnSpPr/>
          <p:nvPr/>
        </p:nvCxnSpPr>
        <p:spPr>
          <a:xfrm>
            <a:off x="2209800" y="5791200"/>
            <a:ext cx="1143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0891404"/>
                  </p:ext>
                </p:extLst>
              </p:nvPr>
            </p:nvGraphicFramePr>
            <p:xfrm>
              <a:off x="533400" y="3046856"/>
              <a:ext cx="3581400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3400">
                      <a:extLst>
                        <a:ext uri="{9D8B030D-6E8A-4147-A177-3AD203B41FA5}">
                          <a16:colId xmlns="" xmlns:a16="http://schemas.microsoft.com/office/drawing/2014/main" val="1813401080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="" xmlns:a16="http://schemas.microsoft.com/office/drawing/2014/main" val="4255947625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="" xmlns:a16="http://schemas.microsoft.com/office/drawing/2014/main" val="2125827405"/>
                        </a:ext>
                      </a:extLst>
                    </a:gridCol>
                  </a:tblGrid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((</m:t>
                                </m:r>
                                <m:r>
                                  <a:rPr lang="en-US" sz="2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en-US" sz="2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sz="2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sz="2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sz="2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10582</m:t>
                                </m:r>
                              </m:oMath>
                            </m:oMathPara>
                          </a14:m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045647970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)(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𝐶𝐷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54201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509753091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𝐵𝐶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2856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4062087805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((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𝐵𝐶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4055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600370903"/>
                      </a:ext>
                    </a:extLst>
                  </a:tr>
                  <a:tr h="411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𝐶𝐷</m:t>
                                </m:r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26418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5497941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0891404"/>
                  </p:ext>
                </p:extLst>
              </p:nvPr>
            </p:nvGraphicFramePr>
            <p:xfrm>
              <a:off x="533400" y="3046856"/>
              <a:ext cx="3581400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33400">
                      <a:extLst>
                        <a:ext uri="{9D8B030D-6E8A-4147-A177-3AD203B41FA5}">
                          <a16:colId xmlns:a16="http://schemas.microsoft.com/office/drawing/2014/main" val="1813401080"/>
                        </a:ext>
                      </a:extLst>
                    </a:gridCol>
                    <a:gridCol w="1752600">
                      <a:extLst>
                        <a:ext uri="{9D8B030D-6E8A-4147-A177-3AD203B41FA5}">
                          <a16:colId xmlns:a16="http://schemas.microsoft.com/office/drawing/2014/main" val="4255947625"/>
                        </a:ext>
                      </a:extLst>
                    </a:gridCol>
                    <a:gridCol w="1295400">
                      <a:extLst>
                        <a:ext uri="{9D8B030D-6E8A-4147-A177-3AD203B41FA5}">
                          <a16:colId xmlns:a16="http://schemas.microsoft.com/office/drawing/2014/main" val="212582740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 smtClean="0">
                              <a:solidFill>
                                <a:srgbClr val="C00000"/>
                              </a:solidFill>
                            </a:rPr>
                            <a:t>1</a:t>
                          </a:r>
                          <a:endParaRPr lang="en-US" sz="24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1010" t="-9333" r="-75261" b="-4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6526" t="-9333" r="-1408" b="-4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56479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1010" t="-109333" r="-75261" b="-33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6526" t="-109333" r="-1408" b="-3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975309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1010" t="-206579" r="-75261" b="-2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6526" t="-206579" r="-1408" b="-2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20878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4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1010" t="-310667" r="-75261" b="-1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6526" t="-310667" r="-1408" b="-1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03709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rgbClr val="C00000"/>
                              </a:solidFill>
                            </a:rPr>
                            <a:t>5</a:t>
                          </a:r>
                          <a:endParaRPr lang="en-US" sz="24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1010" t="-410667" r="-75261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6526" t="-410667" r="-1408" b="-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9794186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Straight Connector 6"/>
          <p:cNvCxnSpPr/>
          <p:nvPr/>
        </p:nvCxnSpPr>
        <p:spPr>
          <a:xfrm>
            <a:off x="1461448" y="3429000"/>
            <a:ext cx="457200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0904192"/>
                  </p:ext>
                </p:extLst>
              </p:nvPr>
            </p:nvGraphicFramePr>
            <p:xfrm>
              <a:off x="4271748" y="3046856"/>
              <a:ext cx="4681751" cy="29729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97405">
                      <a:extLst>
                        <a:ext uri="{9D8B030D-6E8A-4147-A177-3AD203B41FA5}">
                          <a16:colId xmlns="" xmlns:a16="http://schemas.microsoft.com/office/drawing/2014/main" val="3128155166"/>
                        </a:ext>
                      </a:extLst>
                    </a:gridCol>
                    <a:gridCol w="1484346">
                      <a:extLst>
                        <a:ext uri="{9D8B030D-6E8A-4147-A177-3AD203B41FA5}">
                          <a16:colId xmlns="" xmlns:a16="http://schemas.microsoft.com/office/drawing/2014/main" val="162403538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1=</m:t>
                                </m:r>
                                <m:r>
                                  <a:rPr lang="en-US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(13×5)∙</m:t>
                                </m:r>
                                <m:r>
                                  <a:rPr lang="en-US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sz="2000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(5×89)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𝟏𝟑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𝟖𝟗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𝟓𝟕𝟖𝟓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0295092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 (13×89)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5403553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2=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1(13×89) . 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sz="20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(89</m:t>
                                </m:r>
                                <m:r>
                                  <a:rPr lang="en-US" sz="20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×3)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𝟏𝟑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𝟖𝟗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𝟑𝟒𝟕𝟏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162376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 (13×3)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87106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3=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2(13×3) . </m:t>
                                </m:r>
                                <m:r>
                                  <a:rPr lang="en-US" sz="200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20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(3</m:t>
                                </m:r>
                                <m:r>
                                  <a:rPr lang="en-US" sz="20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×34)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𝟏𝟑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𝟑𝟒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smtClean="0">
                                    <a:solidFill>
                                      <a:srgbClr val="0066FF"/>
                                    </a:solidFill>
                                    <a:latin typeface="Cambria Math" panose="02040503050406030204" pitchFamily="18" charset="0"/>
                                  </a:rPr>
                                  <m:t>𝟏𝟑𝟐𝟔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7295294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sz="20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 (13×34)</m:t>
                                </m:r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7559766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0904192"/>
                  </p:ext>
                </p:extLst>
              </p:nvPr>
            </p:nvGraphicFramePr>
            <p:xfrm>
              <a:off x="4271748" y="3046856"/>
              <a:ext cx="4681751" cy="29729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97405">
                      <a:extLst>
                        <a:ext uri="{9D8B030D-6E8A-4147-A177-3AD203B41FA5}">
                          <a16:colId xmlns:a16="http://schemas.microsoft.com/office/drawing/2014/main" val="3128155166"/>
                        </a:ext>
                      </a:extLst>
                    </a:gridCol>
                    <a:gridCol w="1484346">
                      <a:extLst>
                        <a:ext uri="{9D8B030D-6E8A-4147-A177-3AD203B41FA5}">
                          <a16:colId xmlns:a16="http://schemas.microsoft.com/office/drawing/2014/main" val="162403538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" t="-1538" r="-46857" b="-66769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5574" t="-769" r="-820" b="-28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950923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" t="-101538" r="-46857" b="-567692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0355334"/>
                      </a:ext>
                    </a:extLst>
                  </a:tr>
                  <a:tr h="6939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" t="-113913" r="-46857" b="-22087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5574" t="-72778" r="-820" b="-1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623765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" t="-378462" r="-46857" b="-290769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710616"/>
                      </a:ext>
                    </a:extLst>
                  </a:tr>
                  <a:tr h="69399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" t="-272807" r="-46857" b="-65789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5574" t="-173743" r="-820" b="-55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952942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" t="-653846" r="-46857" b="-15385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C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5597666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/>
          <p:cNvSpPr txBox="1"/>
          <p:nvPr/>
        </p:nvSpPr>
        <p:spPr>
          <a:xfrm>
            <a:off x="685800" y="3137848"/>
            <a:ext cx="228600" cy="274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99448" y="3633720"/>
            <a:ext cx="228600" cy="274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99448" y="4052696"/>
            <a:ext cx="228600" cy="274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85800" y="4555616"/>
            <a:ext cx="228600" cy="274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72722" y="4981419"/>
            <a:ext cx="228600" cy="274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219200" y="3096904"/>
            <a:ext cx="144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123096" y="3552583"/>
            <a:ext cx="144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194748" y="4011467"/>
            <a:ext cx="144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194748" y="4467146"/>
            <a:ext cx="144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 flipH="1">
            <a:off x="3009897" y="3096904"/>
            <a:ext cx="1008795" cy="369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219200" y="4912678"/>
            <a:ext cx="144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 flipH="1">
            <a:off x="2985446" y="3538709"/>
            <a:ext cx="1008795" cy="369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 flipH="1">
            <a:off x="2909248" y="4011468"/>
            <a:ext cx="1008795" cy="369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 flipH="1">
            <a:off x="2909247" y="4463535"/>
            <a:ext cx="1008795" cy="369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 flipH="1">
            <a:off x="2964976" y="4929477"/>
            <a:ext cx="1008795" cy="369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grpSp>
        <p:nvGrpSpPr>
          <p:cNvPr id="42" name="Group 41"/>
          <p:cNvGrpSpPr/>
          <p:nvPr/>
        </p:nvGrpSpPr>
        <p:grpSpPr>
          <a:xfrm>
            <a:off x="2680648" y="2756848"/>
            <a:ext cx="3415352" cy="295745"/>
            <a:chOff x="1918648" y="2756848"/>
            <a:chExt cx="3415352" cy="295745"/>
          </a:xfrm>
        </p:grpSpPr>
        <p:cxnSp>
          <p:nvCxnSpPr>
            <p:cNvPr id="30" name="Elbow Connector 29"/>
            <p:cNvCxnSpPr/>
            <p:nvPr/>
          </p:nvCxnSpPr>
          <p:spPr>
            <a:xfrm flipV="1">
              <a:off x="1918648" y="2756848"/>
              <a:ext cx="3415352" cy="260340"/>
            </a:xfrm>
            <a:prstGeom prst="bentConnector3">
              <a:avLst>
                <a:gd name="adj1" fmla="val 5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5334000" y="2756848"/>
              <a:ext cx="0" cy="2957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/>
        </p:nvSpPr>
        <p:spPr>
          <a:xfrm>
            <a:off x="4361028" y="3110552"/>
            <a:ext cx="3003076" cy="274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7653550" y="3123089"/>
            <a:ext cx="1143000" cy="5855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105400" y="3483592"/>
            <a:ext cx="1507223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4303591" y="3890063"/>
            <a:ext cx="3003076" cy="5943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624548" y="3921915"/>
            <a:ext cx="1143000" cy="5855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5087772" y="4577688"/>
            <a:ext cx="1507223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4343400" y="4968240"/>
            <a:ext cx="3003076" cy="5943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7653550" y="5013492"/>
            <a:ext cx="1143000" cy="5855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5087772" y="5671784"/>
            <a:ext cx="1507223" cy="3200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467600" y="6019800"/>
                <a:ext cx="1481328" cy="457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10582</m:t>
                      </m:r>
                    </m:oMath>
                  </m:oMathPara>
                </a14:m>
                <a:endParaRPr lang="en-US" sz="28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6019800"/>
                <a:ext cx="1481328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827358" y="3497239"/>
            <a:ext cx="1280160" cy="475488"/>
          </a:xfrm>
          <a:prstGeom prst="rect">
            <a:avLst/>
          </a:prstGeom>
          <a:solidFill>
            <a:srgbClr val="C0000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2820076" y="3964291"/>
            <a:ext cx="1298448" cy="457200"/>
          </a:xfrm>
          <a:prstGeom prst="rect">
            <a:avLst/>
          </a:prstGeom>
          <a:solidFill>
            <a:schemeClr val="accent5">
              <a:lumMod val="50000"/>
              <a:alpha val="3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11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6" grpId="0" animBg="1"/>
      <p:bldP spid="18" grpId="0" animBg="1"/>
      <p:bldP spid="19" grpId="0" animBg="1"/>
      <p:bldP spid="14" grpId="0" animBg="1"/>
      <p:bldP spid="20" grpId="0" animBg="1"/>
      <p:bldP spid="21" grpId="0" animBg="1"/>
      <p:bldP spid="22" grpId="0" animBg="1"/>
      <p:bldP spid="24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" grpId="0" animBg="1"/>
      <p:bldP spid="6" grpId="0" animBg="1"/>
      <p:bldP spid="3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Chain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Matrix table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dirty="0"/>
                  <a:t>stores the </a:t>
                </a:r>
                <a:r>
                  <a:rPr lang="en-US" b="1" dirty="0"/>
                  <a:t>cost of multiplications</a:t>
                </a:r>
                <a:r>
                  <a:rPr lang="en-US" dirty="0"/>
                  <a:t>.</a:t>
                </a:r>
              </a:p>
              <a:p>
                <a:pPr lvl="0"/>
                <a:r>
                  <a:rPr lang="en-US" dirty="0"/>
                  <a:t>To generate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dirty="0"/>
                  <a:t>use following steps:</a:t>
                </a:r>
              </a:p>
              <a:p>
                <a:pPr marL="400050" lvl="1" indent="0">
                  <a:buNone/>
                </a:pPr>
                <a:r>
                  <a:rPr lang="en-US" sz="2400" dirty="0"/>
                  <a:t>Step-1: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then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sz="2400" b="1" i="1" dirty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/>
              </a:p>
              <a:p>
                <a:pPr marL="400050" lvl="1" indent="0">
                  <a:buNone/>
                </a:pPr>
                <a:r>
                  <a:rPr lang="en-US" sz="2400" dirty="0"/>
                  <a:t>Step-2: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r>
                  <a:rPr lang="en-US" sz="2400" dirty="0"/>
                  <a:t>then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1" i="1" dirty="0" err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] = </m:t>
                    </m:r>
                    <m:sSub>
                      <m:sSubPr>
                        <m:ctrlPr>
                          <a:rPr lang="en-US" sz="2400" b="1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2400" b="1" i="1" dirty="0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2400" b="1" i="1" dirty="0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400" b="1" baseline="-25000" dirty="0"/>
              </a:p>
              <a:p>
                <a:pPr marL="400050" lvl="1" indent="0">
                  <a:buNone/>
                </a:pPr>
                <a:r>
                  <a:rPr lang="en-US" sz="2400" dirty="0"/>
                  <a:t>Step-3: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then </a:t>
                </a: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][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]= 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𝒎𝒊𝒏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1" i="1" dirty="0" err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][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]+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][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𝒋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]+</m:t>
                      </m:r>
                      <m:sSub>
                        <m:sSubPr>
                          <m:ctrlPr>
                            <a:rPr lang="en-US" sz="2400" b="1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400" b="1" i="1" dirty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sz="2400" b="1" i="1" dirty="0">
                              <a:latin typeface="Cambria Math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US" sz="2400" b="1" dirty="0"/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𝒘𝒊𝒕𝒉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dirty="0" err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b="1" i="1" dirty="0"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sz="2400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609600" y="3429000"/>
            <a:ext cx="7467600" cy="91440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2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Matrix Chain Multiplication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Here dimensions are,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=5,</m:t>
                    </m:r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=4,</m:t>
                    </m:r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=6,</m:t>
                    </m:r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=2,</m:t>
                    </m:r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=7.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There would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4 </m:t>
                    </m:r>
                  </m:oMath>
                </a14:m>
                <a:r>
                  <a:rPr lang="en-US" dirty="0"/>
                  <a:t>matrices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),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(4×6), 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(6×2)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(2×7).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lvl="1" indent="0" algn="ctr">
                  <a:buNone/>
                </a:pPr>
                <a:r>
                  <a:rPr lang="en-US" sz="2400" dirty="0">
                    <a:solidFill>
                      <a:srgbClr val="E40524"/>
                    </a:solidFill>
                  </a:rPr>
                  <a:t>Step-1: if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4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E40524"/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E40524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400" b="1" i="1" dirty="0">
                        <a:solidFill>
                          <a:srgbClr val="E40524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1" i="1" dirty="0" err="1">
                        <a:solidFill>
                          <a:srgbClr val="E40524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dirty="0">
                        <a:solidFill>
                          <a:srgbClr val="E40524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400" b="1" i="1" dirty="0">
                        <a:solidFill>
                          <a:srgbClr val="E40524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400" b="1" i="1" dirty="0">
                        <a:solidFill>
                          <a:srgbClr val="E40524"/>
                        </a:solidFill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sz="2400" b="1" i="1" dirty="0">
                        <a:solidFill>
                          <a:srgbClr val="E40524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2400" b="1" dirty="0">
                  <a:solidFill>
                    <a:srgbClr val="E40524"/>
                  </a:solidFill>
                </a:endParaRPr>
              </a:p>
              <a:p>
                <a:pPr marL="0" lvl="1" indent="0" algn="ctr">
                  <a:buNone/>
                </a:pPr>
                <a:r>
                  <a:rPr lang="en-US" sz="2400" dirty="0"/>
                  <a:t>So,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[1][1]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[2][2]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[3][3]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[4][4] = 0</m:t>
                    </m:r>
                  </m:oMath>
                </a14:m>
                <a:endParaRPr lang="en-US" sz="2400" dirty="0"/>
              </a:p>
              <a:p>
                <a:pPr marL="0" lvl="1" indent="0" algn="ctr">
                  <a:buNone/>
                </a:pPr>
                <a:endParaRPr lang="en-US" sz="2800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266524"/>
              </p:ext>
            </p:extLst>
          </p:nvPr>
        </p:nvGraphicFramePr>
        <p:xfrm>
          <a:off x="2362201" y="3733800"/>
          <a:ext cx="4734210" cy="243382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946842">
                  <a:extLst>
                    <a:ext uri="{9D8B030D-6E8A-4147-A177-3AD203B41FA5}">
                      <a16:colId xmlns="" xmlns:a16="http://schemas.microsoft.com/office/drawing/2014/main" val="3753638573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411585328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1445814235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1640254883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207783268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8105464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8796321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38095326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7558133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31496940"/>
                  </a:ext>
                </a:extLst>
              </a:tr>
            </a:tbl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3352800" y="1447800"/>
            <a:ext cx="1828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343400" y="1431877"/>
            <a:ext cx="1828800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5257800" y="1465997"/>
            <a:ext cx="18288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248400" y="1445525"/>
            <a:ext cx="182880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558352" y="1542197"/>
            <a:ext cx="1219200" cy="365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854676" y="1542197"/>
            <a:ext cx="1219200" cy="36576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096409" y="1532680"/>
            <a:ext cx="1219200" cy="3657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20404" y="1924144"/>
            <a:ext cx="1219200" cy="36576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657600" y="4267200"/>
            <a:ext cx="3810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495800" y="4757737"/>
            <a:ext cx="3810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486400" y="5257800"/>
            <a:ext cx="3810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477000" y="5693747"/>
            <a:ext cx="3810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42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0" grpId="0" animBg="1"/>
      <p:bldP spid="20" grpId="1" animBg="1"/>
      <p:bldP spid="22" grpId="0" animBg="1"/>
      <p:bldP spid="22" grpId="1" animBg="1"/>
      <p:bldP spid="23" grpId="0" animBg="1"/>
      <p:bldP spid="23" grpId="1" animBg="1"/>
      <p:bldP spid="19" grpId="0" animBg="1"/>
      <p:bldP spid="24" grpId="0" animBg="1"/>
      <p:bldP spid="25" grpId="0" animBg="1"/>
      <p:bldP spid="2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Matrix Chain Multiplication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Here dimensions are,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=5,</m:t>
                    </m:r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=4,</m:t>
                    </m:r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=6,</m:t>
                    </m:r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=2,</m:t>
                    </m:r>
                    <m:sSub>
                      <m:sSubPr>
                        <m:ctrlPr>
                          <a:rPr lang="en-US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=7.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There would be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4 </m:t>
                    </m:r>
                  </m:oMath>
                </a14:m>
                <a:r>
                  <a:rPr lang="en-US" dirty="0"/>
                  <a:t>matrices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),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(4×6), 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(6×2)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(2×7).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lvl="1" indent="0" algn="ctr">
                  <a:buNone/>
                </a:pPr>
                <a:r>
                  <a:rPr lang="en-US" sz="2400" dirty="0">
                    <a:solidFill>
                      <a:srgbClr val="E40524"/>
                    </a:solidFill>
                  </a:rPr>
                  <a:t>Step-2: if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4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E40524"/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E40524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400" b="1" i="1" dirty="0">
                        <a:solidFill>
                          <a:srgbClr val="E40524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1" i="1" dirty="0" err="1">
                        <a:solidFill>
                          <a:srgbClr val="E40524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dirty="0">
                        <a:solidFill>
                          <a:srgbClr val="E40524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400" b="1" i="1" dirty="0">
                        <a:solidFill>
                          <a:srgbClr val="E40524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400" b="1" i="1" dirty="0">
                        <a:solidFill>
                          <a:srgbClr val="E40524"/>
                        </a:solidFill>
                        <a:latin typeface="Cambria Math" panose="02040503050406030204" pitchFamily="18" charset="0"/>
                      </a:rPr>
                      <m:t>] = 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E40524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E40524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E40524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400" b="1" i="1" dirty="0">
                            <a:solidFill>
                              <a:srgbClr val="E40524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dirty="0">
                            <a:solidFill>
                              <a:srgbClr val="E40524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E4052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E40524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E405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E405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E40524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E40524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E405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E405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sz="2400" b="1" i="1" dirty="0">
                            <a:solidFill>
                              <a:srgbClr val="E405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dirty="0">
                            <a:solidFill>
                              <a:srgbClr val="E40524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lvl="1" indent="0" algn="ctr">
                  <a:buNone/>
                </a:pPr>
                <a:endParaRPr lang="en-US" sz="2800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49657"/>
              </p:ext>
            </p:extLst>
          </p:nvPr>
        </p:nvGraphicFramePr>
        <p:xfrm>
          <a:off x="2362201" y="3733800"/>
          <a:ext cx="4734210" cy="243382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946842">
                  <a:extLst>
                    <a:ext uri="{9D8B030D-6E8A-4147-A177-3AD203B41FA5}">
                      <a16:colId xmlns="" xmlns:a16="http://schemas.microsoft.com/office/drawing/2014/main" val="3753638573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411585328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1445814235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1640254883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207783268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8105464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8796321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48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38095326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84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7558133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3149694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463040" y="2891028"/>
                <a:ext cx="6217920" cy="548640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[1][2] = </m:t>
                      </m:r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 5 ∗ 4 ∗ 6 = 120 </m:t>
                      </m:r>
                    </m:oMath>
                  </m:oMathPara>
                </a14:m>
                <a:endParaRPr lang="en-US" sz="24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040" y="2891028"/>
                <a:ext cx="6217920" cy="548640"/>
              </a:xfrm>
              <a:prstGeom prst="rect">
                <a:avLst/>
              </a:prstGeom>
              <a:blipFill>
                <a:blip r:embed="rId3"/>
                <a:stretch>
                  <a:fillRect l="-196" b="-5376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419600" y="4267200"/>
            <a:ext cx="609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410200" y="4757676"/>
            <a:ext cx="533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6324600" y="5269276"/>
            <a:ext cx="533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460768" y="2895600"/>
                <a:ext cx="6217920" cy="548640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[2][3] = </m:t>
                      </m:r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sz="24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sz="24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24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48</m:t>
                      </m:r>
                      <m:r>
                        <a:rPr lang="en-US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768" y="2895600"/>
                <a:ext cx="6217920" cy="548640"/>
              </a:xfrm>
              <a:prstGeom prst="rect">
                <a:avLst/>
              </a:prstGeom>
              <a:blipFill>
                <a:blip r:embed="rId4"/>
                <a:stretch>
                  <a:fillRect b="-4301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465312" y="2893328"/>
                <a:ext cx="6217920" cy="548640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[3][4] = </m:t>
                      </m:r>
                      <m:sSub>
                        <m:sSubPr>
                          <m:ctrlPr>
                            <a:rPr lang="en-US" sz="2400" i="1" dirty="0" smtClean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rgbClr val="0066FF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sz="24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sz="24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2400" b="0" i="1" dirty="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84</m:t>
                      </m:r>
                      <m:r>
                        <a:rPr lang="en-US" sz="2400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312" y="2893328"/>
                <a:ext cx="6217920" cy="548640"/>
              </a:xfrm>
              <a:prstGeom prst="rect">
                <a:avLst/>
              </a:prstGeom>
              <a:blipFill>
                <a:blip r:embed="rId5"/>
                <a:stretch>
                  <a:fillRect b="-4301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656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6" grpId="0" animBg="1"/>
      <p:bldP spid="21" grpId="0" animBg="1"/>
      <p:bldP spid="27" grpId="0" animBg="1"/>
      <p:bldP spid="27" grpId="1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Matrix Chain Multiplication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0500" y="990600"/>
                <a:ext cx="4772310" cy="53340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=5,</m:t>
                    </m:r>
                    <m:sSub>
                      <m:sSubPr>
                        <m:ctrlPr>
                          <a:rPr lang="en-US" sz="2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=4,</m:t>
                    </m:r>
                    <m:sSub>
                      <m:sSubPr>
                        <m:ctrlPr>
                          <a:rPr lang="en-US" sz="2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=6,</m:t>
                    </m:r>
                    <m:sSub>
                      <m:sSubPr>
                        <m:ctrlPr>
                          <a:rPr lang="en-US" sz="2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=2,</m:t>
                    </m:r>
                    <m:sSub>
                      <m:sSubPr>
                        <m:ctrlPr>
                          <a:rPr lang="en-US" sz="2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=7.</m:t>
                    </m:r>
                  </m:oMath>
                </a14:m>
                <a:endParaRPr lang="en-US" sz="2200" dirty="0"/>
              </a:p>
              <a:p>
                <a:pPr marL="0" indent="0" algn="ctr">
                  <a:buNone/>
                </a:pPr>
                <a:r>
                  <a:rPr lang="en-US" sz="2200" dirty="0"/>
                  <a:t>Step-3: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2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1" i="1" dirty="0" err="1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]= 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1" i="1" dirty="0" err="1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]+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]+</m:t>
                    </m:r>
                    <m:sSub>
                      <m:sSubPr>
                        <m:ctrlP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200" b="1" dirty="0">
                  <a:solidFill>
                    <a:srgbClr val="0066FF"/>
                  </a:solidFill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𝒘𝒊𝒕𝒉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err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dirty="0">
                  <a:solidFill>
                    <a:srgbClr val="0066FF"/>
                  </a:solidFill>
                </a:endParaRPr>
              </a:p>
              <a:p>
                <a:pPr marL="0" lvl="1" indent="0" algn="ctr">
                  <a:buNone/>
                </a:pPr>
                <a:endParaRPr lang="en-US" sz="2400" dirty="0"/>
              </a:p>
              <a:p>
                <a:pPr marL="0" lvl="1" indent="0" algn="ctr">
                  <a:buNone/>
                </a:pPr>
                <a:endParaRPr lang="en-US" sz="2800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990600"/>
                <a:ext cx="4772310" cy="5334000"/>
              </a:xfrm>
              <a:blipFill>
                <a:blip r:embed="rId2"/>
                <a:stretch>
                  <a:fillRect l="-1405" t="-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196128"/>
              </p:ext>
            </p:extLst>
          </p:nvPr>
        </p:nvGraphicFramePr>
        <p:xfrm>
          <a:off x="228600" y="3733800"/>
          <a:ext cx="4734210" cy="243382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946842">
                  <a:extLst>
                    <a:ext uri="{9D8B030D-6E8A-4147-A177-3AD203B41FA5}">
                      <a16:colId xmlns="" xmlns:a16="http://schemas.microsoft.com/office/drawing/2014/main" val="3753638573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411585328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1445814235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1640254883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207783268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8105464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88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8796321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48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38095326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84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7558133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3149694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105400" y="990600"/>
                <a:ext cx="3848100" cy="5334000"/>
              </a:xfrm>
              <a:prstGeom prst="rect">
                <a:avLst/>
              </a:prstGeom>
              <a:noFill/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200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sz="22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h𝑒𝑟𝑒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 err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 err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=3 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2  </m:t>
                      </m:r>
                    </m:oMath>
                  </m:oMathPara>
                </a14:m>
                <a:endParaRPr lang="en-US" sz="2200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𝑏𝑒𝑐𝑎𝑢𝑠𝑒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 err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≤ 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𝑭𝒐𝒓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[1][3]=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[1][1]+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[2][3]+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[1][3]= 0+48+5∗4∗2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        =</m:t>
                      </m:r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𝟖𝟖</m:t>
                      </m:r>
                    </m:oMath>
                  </m:oMathPara>
                </a14:m>
                <a:endParaRPr lang="en-US" sz="22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𝑭𝒐𝒓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[1][3]=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[1][2]+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[3][3]+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[1][3]=120+0+5∗6∗2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𝟏𝟖𝟎</m:t>
                      </m:r>
                    </m:oMath>
                  </m:oMathPara>
                </a14:m>
                <a:endParaRPr 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990600"/>
                <a:ext cx="3848100" cy="5334000"/>
              </a:xfrm>
              <a:prstGeom prst="rect">
                <a:avLst/>
              </a:prstGeom>
              <a:blipFill>
                <a:blip r:embed="rId3"/>
                <a:stretch>
                  <a:fillRect l="-158" b="-228"/>
                </a:stretch>
              </a:blipFill>
              <a:ln w="127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5146343" y="2307608"/>
            <a:ext cx="1295400" cy="365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146343" y="4316104"/>
            <a:ext cx="1295400" cy="365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91400" y="3977640"/>
            <a:ext cx="457200" cy="3657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276600" y="4265449"/>
            <a:ext cx="609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096000" y="1676400"/>
            <a:ext cx="18288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18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0" grpId="0" animBg="1"/>
      <p:bldP spid="1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Matrix Chain Multiplication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0500" y="990600"/>
                <a:ext cx="4772310" cy="53340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=5,</m:t>
                    </m:r>
                    <m:sSub>
                      <m:sSubPr>
                        <m:ctrlPr>
                          <a:rPr lang="en-US" sz="2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=4,</m:t>
                    </m:r>
                    <m:sSub>
                      <m:sSubPr>
                        <m:ctrlPr>
                          <a:rPr lang="en-US" sz="2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=6,</m:t>
                    </m:r>
                    <m:sSub>
                      <m:sSubPr>
                        <m:ctrlPr>
                          <a:rPr lang="en-US" sz="2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=2,</m:t>
                    </m:r>
                    <m:sSub>
                      <m:sSubPr>
                        <m:ctrlPr>
                          <a:rPr lang="en-US" sz="2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=7.</m:t>
                    </m:r>
                  </m:oMath>
                </a14:m>
                <a:endParaRPr lang="en-US" sz="2200" dirty="0"/>
              </a:p>
              <a:p>
                <a:pPr marL="0" indent="0" algn="ctr">
                  <a:buNone/>
                </a:pPr>
                <a:r>
                  <a:rPr lang="en-US" sz="2200" dirty="0"/>
                  <a:t>Step-3: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2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1" i="1" dirty="0" err="1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]= 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1" i="1" dirty="0" err="1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]+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]+</m:t>
                    </m:r>
                    <m:sSub>
                      <m:sSubPr>
                        <m:ctrlP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200" b="1" dirty="0">
                  <a:solidFill>
                    <a:srgbClr val="0066FF"/>
                  </a:solidFill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𝒘𝒊𝒕𝒉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err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dirty="0">
                  <a:solidFill>
                    <a:srgbClr val="0066FF"/>
                  </a:solidFill>
                </a:endParaRPr>
              </a:p>
              <a:p>
                <a:pPr marL="0" lvl="1" indent="0" algn="ctr">
                  <a:buNone/>
                </a:pPr>
                <a:endParaRPr lang="en-US" sz="2400" dirty="0"/>
              </a:p>
              <a:p>
                <a:pPr marL="0" lvl="1" indent="0" algn="ctr">
                  <a:buNone/>
                </a:pPr>
                <a:endParaRPr lang="en-US" sz="2800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990600"/>
                <a:ext cx="4772310" cy="5334000"/>
              </a:xfrm>
              <a:blipFill>
                <a:blip r:embed="rId2"/>
                <a:stretch>
                  <a:fillRect l="-1405" t="-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554510"/>
              </p:ext>
            </p:extLst>
          </p:nvPr>
        </p:nvGraphicFramePr>
        <p:xfrm>
          <a:off x="228600" y="3733800"/>
          <a:ext cx="4734210" cy="243382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946842">
                  <a:extLst>
                    <a:ext uri="{9D8B030D-6E8A-4147-A177-3AD203B41FA5}">
                      <a16:colId xmlns="" xmlns:a16="http://schemas.microsoft.com/office/drawing/2014/main" val="3753638573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411585328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1445814235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1640254883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207783268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8105464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88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8796321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48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104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38095326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84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7558133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3149694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105400" y="990600"/>
                <a:ext cx="3848100" cy="5334000"/>
              </a:xfrm>
              <a:prstGeom prst="rect">
                <a:avLst/>
              </a:prstGeom>
              <a:noFill/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200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sz="22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h𝑒𝑟𝑒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 err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&lt; 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 err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=2,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=4 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3  </m:t>
                      </m:r>
                    </m:oMath>
                  </m:oMathPara>
                </a14:m>
                <a:endParaRPr lang="en-US" sz="2200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𝑏𝑒𝑐𝑎𝑢𝑠𝑒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 err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𝑭𝒐𝒓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200" b="1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[2][4]=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[2][2]+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[3][4]+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200" baseline="-250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[2][4]= 0+84+4∗6∗7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        =</m:t>
                      </m:r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𝟐𝟓𝟐</m:t>
                      </m:r>
                    </m:oMath>
                  </m:oMathPara>
                </a14:m>
                <a:endParaRPr lang="en-US" sz="22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𝑭𝒐𝒓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200" b="1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[2][4]=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[2][3]+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[4][4]+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200" baseline="-250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[2][4]= 48+0+4∗2∗7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        =</m:t>
                      </m:r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𝟏𝟎𝟒</m:t>
                      </m:r>
                    </m:oMath>
                  </m:oMathPara>
                </a14:m>
                <a:endParaRPr 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990600"/>
                <a:ext cx="3848100" cy="5334000"/>
              </a:xfrm>
              <a:prstGeom prst="rect">
                <a:avLst/>
              </a:prstGeom>
              <a:blipFill>
                <a:blip r:embed="rId3"/>
                <a:stretch>
                  <a:fillRect l="-158" b="-228"/>
                </a:stretch>
              </a:blipFill>
              <a:ln w="127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5146343" y="2307608"/>
            <a:ext cx="1295400" cy="365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146343" y="4316104"/>
            <a:ext cx="1295400" cy="365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7336808" y="5954976"/>
            <a:ext cx="548640" cy="36576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239904" y="4763571"/>
            <a:ext cx="609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6096000" y="1676400"/>
            <a:ext cx="18288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28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0" grpId="0" animBg="1"/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Matrix Chain Multiplication 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0500" y="990600"/>
                <a:ext cx="4772310" cy="53340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=5,</m:t>
                    </m:r>
                    <m:sSub>
                      <m:sSubPr>
                        <m:ctrlPr>
                          <a:rPr lang="en-US" sz="2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=4,</m:t>
                    </m:r>
                    <m:sSub>
                      <m:sSubPr>
                        <m:ctrlPr>
                          <a:rPr lang="en-US" sz="2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=6,</m:t>
                    </m:r>
                    <m:sSub>
                      <m:sSubPr>
                        <m:ctrlPr>
                          <a:rPr lang="en-US" sz="2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=2,</m:t>
                    </m:r>
                    <m:sSub>
                      <m:sSubPr>
                        <m:ctrlPr>
                          <a:rPr lang="en-US" sz="22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=7.</m:t>
                    </m:r>
                  </m:oMath>
                </a14:m>
                <a:endParaRPr lang="en-US" sz="2200" dirty="0"/>
              </a:p>
              <a:p>
                <a:pPr marL="0" indent="0" algn="ctr">
                  <a:buNone/>
                </a:pPr>
                <a:r>
                  <a:rPr lang="en-US" sz="2200" dirty="0"/>
                  <a:t>Step-3: </a:t>
                </a:r>
                <a14:m>
                  <m:oMath xmlns:m="http://schemas.openxmlformats.org/officeDocument/2006/math">
                    <m:r>
                      <a:rPr lang="en-US" sz="22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200" b="1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1" i="1" dirty="0" err="1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]= 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𝒎𝒊𝒏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1" i="1" dirty="0" err="1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]+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]+</m:t>
                    </m:r>
                    <m:sSub>
                      <m:sSubPr>
                        <m:ctrlP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sz="2200" b="1" i="1" dirty="0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sz="2200" b="1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200" b="1" dirty="0">
                  <a:solidFill>
                    <a:srgbClr val="0066FF"/>
                  </a:solidFill>
                </a:endParaRP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𝒘𝒊𝒕𝒉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err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1" i="1" dirty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</m:oMath>
                  </m:oMathPara>
                </a14:m>
                <a:endParaRPr lang="en-US" b="1" dirty="0">
                  <a:solidFill>
                    <a:srgbClr val="0066FF"/>
                  </a:solidFill>
                </a:endParaRPr>
              </a:p>
              <a:p>
                <a:pPr marL="0" lvl="1" indent="0" algn="ctr">
                  <a:buNone/>
                </a:pPr>
                <a:endParaRPr lang="en-US" sz="2400" dirty="0"/>
              </a:p>
              <a:p>
                <a:pPr marL="0" lvl="1" indent="0" algn="ctr">
                  <a:buNone/>
                </a:pPr>
                <a:endParaRPr lang="en-US" sz="2800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990600"/>
                <a:ext cx="4772310" cy="5334000"/>
              </a:xfrm>
              <a:blipFill>
                <a:blip r:embed="rId2"/>
                <a:stretch>
                  <a:fillRect l="-1405" t="-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536525"/>
              </p:ext>
            </p:extLst>
          </p:nvPr>
        </p:nvGraphicFramePr>
        <p:xfrm>
          <a:off x="228600" y="3733800"/>
          <a:ext cx="4734210" cy="243382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946842">
                  <a:extLst>
                    <a:ext uri="{9D8B030D-6E8A-4147-A177-3AD203B41FA5}">
                      <a16:colId xmlns="" xmlns:a16="http://schemas.microsoft.com/office/drawing/2014/main" val="3753638573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411585328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1445814235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1640254883"/>
                    </a:ext>
                  </a:extLst>
                </a:gridCol>
                <a:gridCol w="946842">
                  <a:extLst>
                    <a:ext uri="{9D8B030D-6E8A-4147-A177-3AD203B41FA5}">
                      <a16:colId xmlns="" xmlns:a16="http://schemas.microsoft.com/office/drawing/2014/main" val="207783268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98105464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88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158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8796321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48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104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38095326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84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75581334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3149694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105400" y="990600"/>
                <a:ext cx="3848100" cy="5334000"/>
              </a:xfrm>
              <a:prstGeom prst="rect">
                <a:avLst/>
              </a:prstGeom>
              <a:noFill/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h𝑒𝑟𝑒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err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&lt; 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err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=4 </m:t>
                      </m:r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3  </m:t>
                      </m:r>
                    </m:oMath>
                  </m:oMathPara>
                </a14:m>
                <a:endParaRPr lang="en-US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𝑏𝑒𝑐𝑎𝑢𝑠𝑒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err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𝑭𝒐𝒓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chemeClr val="tx2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[1][4]=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[1][1]+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[2][4]+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baseline="-25000" dirty="0">
                  <a:solidFill>
                    <a:schemeClr val="tx2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             = 0+104+5∗4∗7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𝟐𝟒𝟒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𝑭𝒐𝒓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chemeClr val="tx2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[1][4]=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[1][2]+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[3][4]+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baseline="-25000" dirty="0">
                  <a:solidFill>
                    <a:schemeClr val="tx2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             = 120+84+5∗6∗7 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𝟒𝟏𝟒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𝑭𝒐𝒓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chemeClr val="tx2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[1][4]=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[1][3]+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[4][4]+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baseline="-25000" dirty="0">
                  <a:solidFill>
                    <a:schemeClr val="tx2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             = 88+0+5∗2∗7 </m:t>
                      </m:r>
                    </m:oMath>
                  </m:oMathPara>
                </a14:m>
                <a:endParaRPr lang="en-US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𝟏𝟓𝟖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990600"/>
                <a:ext cx="3848100" cy="5334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5146343" y="2182504"/>
            <a:ext cx="1097280" cy="274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146343" y="3518848"/>
            <a:ext cx="1097280" cy="274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6905312" y="5943600"/>
            <a:ext cx="548640" cy="27432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191000" y="4280848"/>
            <a:ext cx="609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146343" y="4873616"/>
            <a:ext cx="1097280" cy="274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024952" y="4226256"/>
            <a:ext cx="924210" cy="484632"/>
          </a:xfrm>
          <a:prstGeom prst="rect">
            <a:avLst/>
          </a:prstGeom>
          <a:solidFill>
            <a:srgbClr val="C0000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141228" y="1644444"/>
            <a:ext cx="164592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96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  <p:bldP spid="10" grpId="0" animBg="1"/>
      <p:bldP spid="11" grpId="0" animBg="1"/>
      <p:bldP spid="12" grpId="0" animBg="1"/>
      <p:bldP spid="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Chain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parenthesize matrices?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2667000" cy="68580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A   B    C      D</a:t>
            </a:r>
          </a:p>
        </p:txBody>
      </p:sp>
      <p:sp>
        <p:nvSpPr>
          <p:cNvPr id="9" name="Double Bracket 8"/>
          <p:cNvSpPr/>
          <p:nvPr/>
        </p:nvSpPr>
        <p:spPr>
          <a:xfrm>
            <a:off x="914400" y="1600200"/>
            <a:ext cx="1810319" cy="685800"/>
          </a:xfrm>
          <a:prstGeom prst="bracketPair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105400" y="990600"/>
                <a:ext cx="3848100" cy="5334000"/>
              </a:xfrm>
              <a:prstGeom prst="rect">
                <a:avLst/>
              </a:prstGeom>
              <a:noFill/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h𝑒𝑟𝑒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err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&lt; 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err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=4 </m:t>
                      </m:r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3  </m:t>
                      </m:r>
                    </m:oMath>
                  </m:oMathPara>
                </a14:m>
                <a:endParaRPr lang="en-US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𝑏𝑒𝑐𝑎𝑢𝑠𝑒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err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≤ 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chemeClr val="tx2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𝑭𝒐𝒓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dirty="0">
                  <a:solidFill>
                    <a:schemeClr val="tx2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[1][4]=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[1][1]+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[2][4]+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baseline="-25000" dirty="0">
                  <a:solidFill>
                    <a:schemeClr val="tx2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             = 0+104+5∗4∗7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𝟐𝟒𝟒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𝑭𝒐𝒓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dirty="0">
                  <a:solidFill>
                    <a:schemeClr val="tx2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[1][4]=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[1][2]+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[3][4]+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baseline="-25000" dirty="0">
                  <a:solidFill>
                    <a:schemeClr val="tx2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             = 120+84+5∗6∗7 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𝟒𝟏𝟒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𝑭𝒐𝒓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 dirty="0">
                  <a:solidFill>
                    <a:schemeClr val="tx2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[1][4]=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[1][3]+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[4][4]+</m:t>
                      </m:r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baseline="-25000" dirty="0">
                  <a:solidFill>
                    <a:schemeClr val="tx2"/>
                  </a:solidFill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             = 88+0+5∗2∗7 </m:t>
                      </m:r>
                    </m:oMath>
                  </m:oMathPara>
                </a14:m>
                <a:endParaRPr lang="en-US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𝟏𝟓𝟖</m:t>
                      </m:r>
                      <m:r>
                        <a:rPr lang="en-US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990600"/>
                <a:ext cx="3848100" cy="5334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5105400" y="4868840"/>
            <a:ext cx="3848100" cy="13716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93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2" grpId="0" animBg="1"/>
      <p:bldP spid="12" grpId="1" animBg="1"/>
      <p:bldP spid="5" grpId="0" animBg="1"/>
      <p:bldP spid="5" grpId="1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Chain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parenthesize matrices?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5400" y="2336129"/>
            <a:ext cx="3848100" cy="195094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685800" y="1600200"/>
            <a:ext cx="2667000" cy="68580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C00000"/>
                </a:solidFill>
              </a:rPr>
              <a:t>A   B    C      D</a:t>
            </a:r>
          </a:p>
        </p:txBody>
      </p:sp>
      <p:sp>
        <p:nvSpPr>
          <p:cNvPr id="15" name="Double Bracket 14"/>
          <p:cNvSpPr/>
          <p:nvPr/>
        </p:nvSpPr>
        <p:spPr>
          <a:xfrm>
            <a:off x="914400" y="1600200"/>
            <a:ext cx="1810319" cy="685800"/>
          </a:xfrm>
          <a:prstGeom prst="bracketPair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uble Bracket 15"/>
          <p:cNvSpPr/>
          <p:nvPr/>
        </p:nvSpPr>
        <p:spPr>
          <a:xfrm>
            <a:off x="1371600" y="1600200"/>
            <a:ext cx="1140163" cy="685800"/>
          </a:xfrm>
          <a:prstGeom prst="bracketPair">
            <a:avLst/>
          </a:prstGeom>
          <a:noFill/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105400" y="990600"/>
                <a:ext cx="3848100" cy="5334000"/>
              </a:xfrm>
              <a:prstGeom prst="rect">
                <a:avLst/>
              </a:prstGeom>
              <a:noFill/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200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2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sz="22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h𝑒𝑟𝑒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 err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 err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=3 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=1 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2  </m:t>
                      </m:r>
                    </m:oMath>
                  </m:oMathPara>
                </a14:m>
                <a:endParaRPr lang="en-US" sz="2200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𝑏𝑒𝑐𝑎𝑢𝑠𝑒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dirty="0" err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≤ 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𝑭𝒐𝒓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[1][3]=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[1][1]+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[2][3]+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[1][3]= 0+48+5∗4∗2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            =</m:t>
                      </m:r>
                      <m:r>
                        <a:rPr lang="en-US" sz="2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𝟖𝟖</m:t>
                      </m:r>
                    </m:oMath>
                  </m:oMathPara>
                </a14:m>
                <a:endParaRPr lang="en-US" sz="22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𝑭𝒐𝒓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[1][3]=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[1][2]+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[3][3]+</m:t>
                      </m:r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200" i="1" baseline="-25000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2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[1][3]=120+0+5∗6∗2</m:t>
                      </m:r>
                    </m:oMath>
                  </m:oMathPara>
                </a14:m>
                <a:endParaRPr lang="en-US" sz="22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𝟏𝟖𝟎</m:t>
                      </m:r>
                    </m:oMath>
                  </m:oMathPara>
                </a14:m>
                <a:endParaRPr lang="en-US" sz="2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990600"/>
                <a:ext cx="3848100" cy="5334000"/>
              </a:xfrm>
              <a:prstGeom prst="rect">
                <a:avLst/>
              </a:prstGeom>
              <a:blipFill>
                <a:blip r:embed="rId2"/>
                <a:stretch>
                  <a:fillRect l="-158" b="-228"/>
                </a:stretch>
              </a:blipFill>
              <a:ln w="127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157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Chain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Write equation for Chained matrix multiplication using Dynamic programming. Find out optimal sequence for multiplication:</a:t>
            </a:r>
          </a:p>
          <a:p>
            <a:pPr marL="400050" lvl="1" indent="0">
              <a:buNone/>
            </a:pPr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A [13 × 5], B [5 × 89], C [89 × 3], and D [3 × 34]. </a:t>
            </a:r>
          </a:p>
          <a:p>
            <a:pPr marL="400050" lvl="1" indent="0">
              <a:buNone/>
            </a:pPr>
            <a:r>
              <a:rPr lang="en-US" sz="2400" dirty="0">
                <a:solidFill>
                  <a:schemeClr val="accent3">
                    <a:lumMod val="50000"/>
                  </a:schemeClr>
                </a:solidFill>
              </a:rPr>
              <a:t>Also give the optimal parenthesization of matrices.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016406"/>
              </p:ext>
            </p:extLst>
          </p:nvPr>
        </p:nvGraphicFramePr>
        <p:xfrm>
          <a:off x="2667000" y="3429000"/>
          <a:ext cx="4571999" cy="2590801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952499">
                  <a:extLst>
                    <a:ext uri="{9D8B030D-6E8A-4147-A177-3AD203B41FA5}">
                      <a16:colId xmlns="" xmlns:a16="http://schemas.microsoft.com/office/drawing/2014/main" val="3753638573"/>
                    </a:ext>
                  </a:extLst>
                </a:gridCol>
                <a:gridCol w="857250">
                  <a:extLst>
                    <a:ext uri="{9D8B030D-6E8A-4147-A177-3AD203B41FA5}">
                      <a16:colId xmlns="" xmlns:a16="http://schemas.microsoft.com/office/drawing/2014/main" val="411585328"/>
                    </a:ext>
                  </a:extLst>
                </a:gridCol>
                <a:gridCol w="857250">
                  <a:extLst>
                    <a:ext uri="{9D8B030D-6E8A-4147-A177-3AD203B41FA5}">
                      <a16:colId xmlns="" xmlns:a16="http://schemas.microsoft.com/office/drawing/2014/main" val="1445814235"/>
                    </a:ext>
                  </a:extLst>
                </a:gridCol>
                <a:gridCol w="857250">
                  <a:extLst>
                    <a:ext uri="{9D8B030D-6E8A-4147-A177-3AD203B41FA5}">
                      <a16:colId xmlns="" xmlns:a16="http://schemas.microsoft.com/office/drawing/2014/main" val="1640254883"/>
                    </a:ext>
                  </a:extLst>
                </a:gridCol>
                <a:gridCol w="1047750">
                  <a:extLst>
                    <a:ext uri="{9D8B030D-6E8A-4147-A177-3AD203B41FA5}">
                      <a16:colId xmlns="" xmlns:a16="http://schemas.microsoft.com/office/drawing/2014/main" val="2077832681"/>
                    </a:ext>
                  </a:extLst>
                </a:gridCol>
              </a:tblGrid>
              <a:tr h="5471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j = 1          2            3         4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83296400"/>
                  </a:ext>
                </a:extLst>
              </a:tr>
              <a:tr h="521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i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 =1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981054644"/>
                  </a:ext>
                </a:extLst>
              </a:tr>
              <a:tr h="507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587963211"/>
                  </a:ext>
                </a:extLst>
              </a:tr>
              <a:tr h="507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38095326"/>
                  </a:ext>
                </a:extLst>
              </a:tr>
              <a:tr h="507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37558133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0" y="3962400"/>
            <a:ext cx="786252" cy="457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7748" y="4495800"/>
            <a:ext cx="786252" cy="457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37896" y="5029200"/>
            <a:ext cx="786252" cy="457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348" y="5562600"/>
            <a:ext cx="786252" cy="457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7748" y="3962401"/>
            <a:ext cx="786252" cy="457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5785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37896" y="4495800"/>
            <a:ext cx="786252" cy="457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1335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0348" y="5029200"/>
            <a:ext cx="786252" cy="457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9078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62148" y="3962400"/>
            <a:ext cx="786252" cy="457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1530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12473" y="4495800"/>
            <a:ext cx="786252" cy="457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1845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4600" y="3962400"/>
            <a:ext cx="786252" cy="4572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rgbClr val="E40524"/>
                </a:solidFill>
              </a:rPr>
              <a:t>2856</a:t>
            </a:r>
          </a:p>
        </p:txBody>
      </p:sp>
    </p:spTree>
    <p:extLst>
      <p:ext uri="{BB962C8B-B14F-4D97-AF65-F5344CB8AC3E}">
        <p14:creationId xmlns:p14="http://schemas.microsoft.com/office/powerpoint/2010/main" val="397685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Chain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parenthesize matrices?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M[1][4] </a:t>
            </a:r>
            <a:r>
              <a:rPr lang="en-US" dirty="0">
                <a:sym typeface="Wingdings" panose="05000000000000000000" pitchFamily="2" charset="2"/>
              </a:rPr>
              <a:t> k = 3 is selected minimum value.</a:t>
            </a:r>
          </a:p>
          <a:p>
            <a:r>
              <a:rPr lang="en-US" dirty="0">
                <a:sym typeface="Wingdings" panose="05000000000000000000" pitchFamily="2" charset="2"/>
              </a:rPr>
              <a:t>M[1][3]  k = 1 is selected minimum value.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743200" y="1676400"/>
            <a:ext cx="2667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   B    C      D</a:t>
            </a:r>
          </a:p>
        </p:txBody>
      </p:sp>
      <p:sp>
        <p:nvSpPr>
          <p:cNvPr id="5" name="Double Bracket 4"/>
          <p:cNvSpPr/>
          <p:nvPr/>
        </p:nvSpPr>
        <p:spPr>
          <a:xfrm>
            <a:off x="2971800" y="1676400"/>
            <a:ext cx="1810319" cy="685800"/>
          </a:xfrm>
          <a:prstGeom prst="bracketPair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uble Bracket 5"/>
          <p:cNvSpPr/>
          <p:nvPr/>
        </p:nvSpPr>
        <p:spPr>
          <a:xfrm>
            <a:off x="3429000" y="1676400"/>
            <a:ext cx="1140163" cy="685800"/>
          </a:xfrm>
          <a:prstGeom prst="bracketPair">
            <a:avLst/>
          </a:prstGeom>
          <a:noFill/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685800" y="3505200"/>
            <a:ext cx="1516856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1. ((AB)C)D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114800"/>
            <a:ext cx="1516856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2. (AB)(CD)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724400"/>
            <a:ext cx="1516856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3. (A(BC))D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334000"/>
            <a:ext cx="1516856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4. A((BC)D)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943600"/>
            <a:ext cx="1516856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5. A(B(CD))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59627" y="4114800"/>
            <a:ext cx="990600" cy="3810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rgbClr val="FF0000"/>
                </a:solidFill>
              </a:rPr>
              <a:t>54201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52700" y="4724400"/>
            <a:ext cx="990600" cy="3810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rgbClr val="FF0000"/>
                </a:solidFill>
              </a:rPr>
              <a:t>2856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52700" y="5334000"/>
            <a:ext cx="990600" cy="3810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rgbClr val="FF0000"/>
                </a:solidFill>
              </a:rPr>
              <a:t>4055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52700" y="5943600"/>
            <a:ext cx="990600" cy="3810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rgbClr val="FF0000"/>
                </a:solidFill>
              </a:rPr>
              <a:t>26418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52700" y="3505200"/>
            <a:ext cx="990600" cy="3810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rgbClr val="FF0000"/>
                </a:solidFill>
              </a:rPr>
              <a:t>10582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400" y="4572000"/>
            <a:ext cx="31242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267200" y="3733799"/>
          <a:ext cx="4571999" cy="2590801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952499">
                  <a:extLst>
                    <a:ext uri="{9D8B030D-6E8A-4147-A177-3AD203B41FA5}">
                      <a16:colId xmlns="" xmlns:a16="http://schemas.microsoft.com/office/drawing/2014/main" val="3753638573"/>
                    </a:ext>
                  </a:extLst>
                </a:gridCol>
                <a:gridCol w="857250">
                  <a:extLst>
                    <a:ext uri="{9D8B030D-6E8A-4147-A177-3AD203B41FA5}">
                      <a16:colId xmlns="" xmlns:a16="http://schemas.microsoft.com/office/drawing/2014/main" val="411585328"/>
                    </a:ext>
                  </a:extLst>
                </a:gridCol>
                <a:gridCol w="857250">
                  <a:extLst>
                    <a:ext uri="{9D8B030D-6E8A-4147-A177-3AD203B41FA5}">
                      <a16:colId xmlns="" xmlns:a16="http://schemas.microsoft.com/office/drawing/2014/main" val="1445814235"/>
                    </a:ext>
                  </a:extLst>
                </a:gridCol>
                <a:gridCol w="857250">
                  <a:extLst>
                    <a:ext uri="{9D8B030D-6E8A-4147-A177-3AD203B41FA5}">
                      <a16:colId xmlns="" xmlns:a16="http://schemas.microsoft.com/office/drawing/2014/main" val="1640254883"/>
                    </a:ext>
                  </a:extLst>
                </a:gridCol>
                <a:gridCol w="1047750">
                  <a:extLst>
                    <a:ext uri="{9D8B030D-6E8A-4147-A177-3AD203B41FA5}">
                      <a16:colId xmlns="" xmlns:a16="http://schemas.microsoft.com/office/drawing/2014/main" val="2077832681"/>
                    </a:ext>
                  </a:extLst>
                </a:gridCol>
              </a:tblGrid>
              <a:tr h="5471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j = 1          2            3         4</a:t>
                      </a: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83296400"/>
                  </a:ext>
                </a:extLst>
              </a:tr>
              <a:tr h="52160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i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 =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981054644"/>
                  </a:ext>
                </a:extLst>
              </a:tr>
              <a:tr h="507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587963211"/>
                  </a:ext>
                </a:extLst>
              </a:tr>
              <a:tr h="507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38095326"/>
                  </a:ext>
                </a:extLst>
              </a:tr>
              <a:tr h="5073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Shruti" panose="020B0502040204020203" pitchFamily="34" charset="0"/>
                        </a:rPr>
                        <a:t>--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375581334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5257800" y="4267199"/>
            <a:ext cx="786252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7948" y="4800599"/>
            <a:ext cx="786252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38096" y="5333999"/>
            <a:ext cx="786252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0548" y="5867399"/>
            <a:ext cx="786252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7948" y="4267200"/>
            <a:ext cx="786252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5785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38096" y="4800599"/>
            <a:ext cx="786252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1335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0548" y="5333999"/>
            <a:ext cx="786252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9078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62348" y="4267199"/>
            <a:ext cx="786252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1530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12673" y="4800599"/>
            <a:ext cx="786252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1845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24800" y="4267199"/>
            <a:ext cx="786252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rgbClr val="E40524"/>
                </a:solidFill>
              </a:rPr>
              <a:t>2856</a:t>
            </a:r>
          </a:p>
        </p:txBody>
      </p:sp>
      <p:sp>
        <p:nvSpPr>
          <p:cNvPr id="31" name="Oval 30"/>
          <p:cNvSpPr/>
          <p:nvPr/>
        </p:nvSpPr>
        <p:spPr>
          <a:xfrm>
            <a:off x="8001000" y="4267199"/>
            <a:ext cx="685800" cy="4572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2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Chain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/>
              <a:t>Write equation for Chained matrix multiplication using Dynamic programming. Find out optimal sequence for multiplication:</a:t>
            </a:r>
          </a:p>
          <a:p>
            <a:pPr marL="400050" lvl="1" indent="0" algn="l">
              <a:buNone/>
            </a:pPr>
            <a:r>
              <a:rPr lang="en-US" sz="2400" dirty="0">
                <a:solidFill>
                  <a:schemeClr val="accent2"/>
                </a:solidFill>
              </a:rPr>
              <a:t>A1 [18 × 4], A2 [4 × 13], A3 [13 × 7], and A4 [7 × 15]. </a:t>
            </a:r>
          </a:p>
          <a:p>
            <a:pPr marL="400050" lvl="1" indent="0" algn="l">
              <a:buNone/>
            </a:pPr>
            <a:r>
              <a:rPr lang="en-US" sz="2400" dirty="0"/>
              <a:t>Also give the optimal parenthesization of matrices.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49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8457" y="2747963"/>
            <a:ext cx="6839743" cy="757237"/>
          </a:xfrm>
          <a:noFill/>
        </p:spPr>
        <p:txBody>
          <a:bodyPr/>
          <a:lstStyle/>
          <a:p>
            <a:r>
              <a:rPr lang="en-US" cap="none" dirty="0">
                <a:solidFill>
                  <a:srgbClr val="C00000"/>
                </a:solidFill>
              </a:rPr>
              <a:t>Longest Common Subsequence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232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Longest Common Subsequence (LCS)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subsequence is a sequence that appears in the same relative order, </a:t>
                </a:r>
                <a:r>
                  <a:rPr lang="en-US" b="1" dirty="0"/>
                  <a:t>but not necessarily contiguous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Given two sequences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we say that a sequence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is a common subsequence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is a subsequence of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E.g., if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= &lt;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 &lt;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&gt; </m:t>
                    </m:r>
                  </m:oMath>
                </a14:m>
                <a:r>
                  <a:rPr lang="en-US" dirty="0"/>
                  <a:t>is a subsequence.</a:t>
                </a:r>
              </a:p>
              <a:p>
                <a:r>
                  <a:rPr lang="en-US" dirty="0"/>
                  <a:t>Use dynamic programming technique to find </a:t>
                </a:r>
                <a:r>
                  <a:rPr lang="en-US" b="1" dirty="0"/>
                  <a:t>the longest common subsequence.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>
            <a:off x="2895600" y="3581400"/>
            <a:ext cx="27432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705600" y="3581400"/>
            <a:ext cx="27432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276600" y="3581400"/>
            <a:ext cx="274320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7345680" y="3595914"/>
            <a:ext cx="274320" cy="0"/>
          </a:xfrm>
          <a:prstGeom prst="line">
            <a:avLst/>
          </a:prstGeom>
          <a:ln w="3810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191000" y="3581400"/>
            <a:ext cx="27432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8305800" y="3581400"/>
            <a:ext cx="27432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94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Longest Common Subsequence (LCS)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0500" y="990600"/>
                <a:ext cx="8763000" cy="5334000"/>
              </a:xfrm>
            </p:spPr>
            <p:txBody>
              <a:bodyPr/>
              <a:lstStyle/>
              <a:p>
                <a:r>
                  <a:rPr lang="en-US" dirty="0"/>
                  <a:t>We need to generate table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b="1" dirty="0"/>
              </a:p>
              <a:p>
                <a:pPr marL="0" indent="0" algn="ctr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length of string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length of string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To generate table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][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dirty="0"/>
                  <a:t>use following steps:</a:t>
                </a:r>
              </a:p>
              <a:p>
                <a:pPr marL="400050" lvl="1" indent="0">
                  <a:buNone/>
                </a:pPr>
                <a:r>
                  <a:rPr lang="en-US" sz="2400" dirty="0"/>
                  <a:t>Step-1: Make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 err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][0]=0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[0][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]=0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marL="400050" lvl="1" indent="0">
                  <a:buNone/>
                </a:pPr>
                <a:r>
                  <a:rPr lang="en-US" sz="2400" dirty="0"/>
                  <a:t>Step-2: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 ←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−1]+1 </m:t>
                    </m:r>
                  </m:oMath>
                </a14:m>
                <a:endParaRPr lang="en-US" sz="2400" dirty="0"/>
              </a:p>
              <a:p>
                <a:pPr marL="400050" lvl="1" indent="0">
                  <a:buNone/>
                </a:pPr>
                <a:r>
                  <a:rPr lang="en-US" sz="2400" dirty="0"/>
                  <a:t>Step-3: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else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 ← </m:t>
                    </m:r>
                  </m:oMath>
                </a14:m>
                <a:r>
                  <a:rPr lang="en-US" sz="2400" dirty="0"/>
                  <a:t>max(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−1])</m:t>
                    </m:r>
                  </m:oMath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0500" y="990600"/>
                <a:ext cx="8763000" cy="5334000"/>
              </a:xfrm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114800"/>
            <a:ext cx="8125564" cy="1207500"/>
          </a:xfrm>
          <a:prstGeom prst="rect">
            <a:avLst/>
          </a:prstGeom>
          <a:ln>
            <a:solidFill>
              <a:srgbClr val="0066FF"/>
            </a:solidFill>
          </a:ln>
        </p:spPr>
      </p:pic>
    </p:spTree>
    <p:extLst>
      <p:ext uri="{BB962C8B-B14F-4D97-AF65-F5344CB8AC3E}">
        <p14:creationId xmlns:p14="http://schemas.microsoft.com/office/powerpoint/2010/main" val="346685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 &lt;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&gt; 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= &lt;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&gt; </m:t>
                    </m:r>
                  </m:oMath>
                </a14:m>
                <a:endParaRPr lang="en-US" b="1" dirty="0"/>
              </a:p>
              <a:p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8944973"/>
                  </p:ext>
                </p:extLst>
              </p:nvPr>
            </p:nvGraphicFramePr>
            <p:xfrm>
              <a:off x="1676400" y="1600200"/>
              <a:ext cx="6095997" cy="48300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333">
                      <a:extLst>
                        <a:ext uri="{9D8B030D-6E8A-4147-A177-3AD203B41FA5}">
                          <a16:colId xmlns="" xmlns:a16="http://schemas.microsoft.com/office/drawing/2014/main" val="1618390636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341183050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4022224915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4241537447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266217336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348313435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207133113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3783234188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3392199172"/>
                        </a:ext>
                      </a:extLst>
                    </a:gridCol>
                  </a:tblGrid>
                  <a:tr h="63753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4183659342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370153453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218921601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943730524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20403472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784571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83634930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621406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8944973"/>
                  </p:ext>
                </p:extLst>
              </p:nvPr>
            </p:nvGraphicFramePr>
            <p:xfrm>
              <a:off x="1676400" y="1600200"/>
              <a:ext cx="6095997" cy="48300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333">
                      <a:extLst>
                        <a:ext uri="{9D8B030D-6E8A-4147-A177-3AD203B41FA5}">
                          <a16:colId xmlns:a16="http://schemas.microsoft.com/office/drawing/2014/main" val="1618390636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41183050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022224915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241537447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266217336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48313435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207133113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783234188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392199172"/>
                        </a:ext>
                      </a:extLst>
                    </a:gridCol>
                  </a:tblGrid>
                  <a:tr h="63753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802" t="-952" r="-703604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802" t="-952" r="-603604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802" t="-952" r="-503604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8214" t="-952" r="-399107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703" t="-952" r="-302703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2703" t="-952" r="-202703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2703" t="-952" r="-102703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2703" t="-952" r="-2703" b="-67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659342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108163" r="-803604" b="-6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0153453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208163" r="-803604" b="-5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18921601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305051" r="-803604" b="-4202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43730524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409184" r="-803604" b="-32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403472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509184" r="-803604" b="-22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84571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603030" r="-803604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634930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710204" r="-803604" b="-23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14060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667000" y="76200"/>
                <a:ext cx="6286500" cy="86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/>
                        <m:t>then</m:t>
                      </m:r>
                      <m:r>
                        <m:rPr>
                          <m:nor/>
                        </m:rPr>
                        <a:rPr lang="en-US" sz="2400" dirty="0"/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] ←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−1,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−1]+1</m:t>
                      </m:r>
                    </m:oMath>
                  </m:oMathPara>
                </a14:m>
                <a:endParaRPr lang="en-US" sz="2400" dirty="0"/>
              </a:p>
              <a:p>
                <a:pPr marL="0" lvl="1" algn="ctr"/>
                <a:r>
                  <a:rPr lang="en-US" sz="2400" dirty="0"/>
                  <a:t>else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 ← </m:t>
                    </m:r>
                  </m:oMath>
                </a14:m>
                <a:r>
                  <a:rPr lang="en-US" sz="2400" dirty="0"/>
                  <a:t>max(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−1])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76200"/>
                <a:ext cx="6286500" cy="860748"/>
              </a:xfrm>
              <a:prstGeom prst="rect">
                <a:avLst/>
              </a:prstGeom>
              <a:blipFill>
                <a:blip r:embed="rId4"/>
                <a:stretch>
                  <a:fillRect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667000" y="24093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352800" y="24093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034971" y="24093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717142" y="24093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34000" y="24093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087837" y="24093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689274" y="24093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432225" y="24093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667000" y="2993573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673805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667000" y="4174673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352800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034971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717142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334000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087837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689274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7432225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352800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034971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717142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334000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6087837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6689274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7432225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352800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034971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717142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5334000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087837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6689274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7432225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352800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34971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717142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334000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6087837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689274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7432225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3352800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034971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4717142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5334000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6087837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6689274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7432225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3352800" y="30189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4034971" y="30189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4717142" y="30189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5334000" y="30189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6087837" y="30189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6689274" y="30189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7432225" y="30189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2667000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2673805" y="5388427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667000" y="59817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3" name="Rounded Rectangle 62"/>
          <p:cNvSpPr/>
          <p:nvPr/>
        </p:nvSpPr>
        <p:spPr>
          <a:xfrm>
            <a:off x="1832429" y="2881086"/>
            <a:ext cx="323849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ounded Rectangle 63"/>
          <p:cNvSpPr/>
          <p:nvPr/>
        </p:nvSpPr>
        <p:spPr>
          <a:xfrm>
            <a:off x="3181351" y="1672770"/>
            <a:ext cx="323849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3407952" y="2434770"/>
            <a:ext cx="274320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2707638" y="3025320"/>
            <a:ext cx="274320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/>
          <p:cNvCxnSpPr/>
          <p:nvPr/>
        </p:nvCxnSpPr>
        <p:spPr>
          <a:xfrm flipH="1" flipV="1">
            <a:off x="3171372" y="289923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 flipV="1">
            <a:off x="3737080" y="2867575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61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85185E-6 L 5E-6 -0.00046 C 0.00556 -0.00116 0.01129 -0.00139 0.01685 -0.00301 C 0.01893 -0.00324 0.02084 -0.00486 0.0231 -0.00579 L 0.03698 -0.01134 C 0.07483 -0.00579 0.06511 -0.02222 0.0757 -0.00301 L 0.0757 -0.00324 " pathEditMode="relative" rAng="0" ptsTypes="AAAAAAA">
                                      <p:cBhvr>
                                        <p:cTn id="73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85" y="-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53" grpId="0" animBg="1"/>
      <p:bldP spid="54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4" grpId="1" animBg="1"/>
      <p:bldP spid="65" grpId="0" animBg="1"/>
      <p:bldP spid="6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 &lt;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&gt; 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= &lt;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&gt; </m:t>
                    </m:r>
                  </m:oMath>
                </a14:m>
                <a:endParaRPr lang="en-US" b="1" dirty="0"/>
              </a:p>
              <a:p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2333065"/>
                  </p:ext>
                </p:extLst>
              </p:nvPr>
            </p:nvGraphicFramePr>
            <p:xfrm>
              <a:off x="1676400" y="1600200"/>
              <a:ext cx="6095997" cy="48300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333">
                      <a:extLst>
                        <a:ext uri="{9D8B030D-6E8A-4147-A177-3AD203B41FA5}">
                          <a16:colId xmlns="" xmlns:a16="http://schemas.microsoft.com/office/drawing/2014/main" val="1618390636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341183050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4022224915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4241537447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266217336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348313435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207133113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3783234188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3392199172"/>
                        </a:ext>
                      </a:extLst>
                    </a:gridCol>
                  </a:tblGrid>
                  <a:tr h="63753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4183659342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370153453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218921601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943730524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20403472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784571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83634930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621406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2333065"/>
                  </p:ext>
                </p:extLst>
              </p:nvPr>
            </p:nvGraphicFramePr>
            <p:xfrm>
              <a:off x="1676400" y="1600200"/>
              <a:ext cx="6095997" cy="48300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333">
                      <a:extLst>
                        <a:ext uri="{9D8B030D-6E8A-4147-A177-3AD203B41FA5}">
                          <a16:colId xmlns:a16="http://schemas.microsoft.com/office/drawing/2014/main" val="1618390636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41183050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022224915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241537447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266217336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48313435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207133113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783234188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392199172"/>
                        </a:ext>
                      </a:extLst>
                    </a:gridCol>
                  </a:tblGrid>
                  <a:tr h="63753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802" t="-952" r="-703604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802" t="-952" r="-603604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802" t="-952" r="-503604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8214" t="-952" r="-399107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703" t="-952" r="-302703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2703" t="-952" r="-202703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2703" t="-952" r="-102703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2703" t="-952" r="-2703" b="-67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659342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108163" r="-803604" b="-6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0153453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208163" r="-803604" b="-5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18921601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305051" r="-803604" b="-4202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43730524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409184" r="-803604" b="-32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403472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509184" r="-803604" b="-22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84571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603030" r="-803604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634930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710204" r="-803604" b="-23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14060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667000" y="76200"/>
                <a:ext cx="6286500" cy="86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/>
                        <m:t>then</m:t>
                      </m:r>
                      <m:r>
                        <m:rPr>
                          <m:nor/>
                        </m:rPr>
                        <a:rPr lang="en-US" sz="2400" dirty="0"/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] ←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−1,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−1]+1</m:t>
                      </m:r>
                    </m:oMath>
                  </m:oMathPara>
                </a14:m>
                <a:endParaRPr lang="en-US" sz="2400" dirty="0"/>
              </a:p>
              <a:p>
                <a:pPr marL="0" lvl="1" algn="ctr"/>
                <a:r>
                  <a:rPr lang="en-US" sz="2400" dirty="0"/>
                  <a:t>else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 ← </m:t>
                    </m:r>
                  </m:oMath>
                </a14:m>
                <a:r>
                  <a:rPr lang="en-US" sz="2400" dirty="0"/>
                  <a:t>max(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−1])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76200"/>
                <a:ext cx="6286500" cy="860748"/>
              </a:xfrm>
              <a:prstGeom prst="rect">
                <a:avLst/>
              </a:prstGeom>
              <a:blipFill>
                <a:blip r:embed="rId4"/>
                <a:stretch>
                  <a:fillRect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3352800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034971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717142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334000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087837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689274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7432225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352800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034971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717142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334000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6087837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6689274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7432225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352800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034971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717142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5334000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087837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6689274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7432225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352800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34971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717142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334000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6087837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689274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7432225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3352800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034971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4717142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5334000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6087837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6689274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7432225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4717142" y="30189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5334000" y="30189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6087837" y="30189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6689274" y="30189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7432225" y="3018972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3" name="Rounded Rectangle 62"/>
          <p:cNvSpPr/>
          <p:nvPr/>
        </p:nvSpPr>
        <p:spPr>
          <a:xfrm>
            <a:off x="1832429" y="2881086"/>
            <a:ext cx="323849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ounded Rectangle 63"/>
          <p:cNvSpPr/>
          <p:nvPr/>
        </p:nvSpPr>
        <p:spPr>
          <a:xfrm>
            <a:off x="4552951" y="1672770"/>
            <a:ext cx="323849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/>
          <p:cNvCxnSpPr/>
          <p:nvPr/>
        </p:nvCxnSpPr>
        <p:spPr>
          <a:xfrm flipH="1" flipV="1">
            <a:off x="3171372" y="289923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 flipV="1">
            <a:off x="3737080" y="2867575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4754880" y="2434770"/>
            <a:ext cx="274320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4054566" y="3025320"/>
            <a:ext cx="274320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 flipH="1">
            <a:off x="4419600" y="3153228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 flipV="1">
            <a:off x="5076022" y="2895600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5895523" y="1651002"/>
            <a:ext cx="323849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5744028" y="3156858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477000" y="3156858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7230835" y="1647372"/>
            <a:ext cx="323849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Arrow Connector 78"/>
          <p:cNvCxnSpPr/>
          <p:nvPr/>
        </p:nvCxnSpPr>
        <p:spPr>
          <a:xfrm flipH="1" flipV="1">
            <a:off x="7115628" y="2881086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38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1.85185E-6 L 5E-6 -0.00046 C 0.00555 -0.00116 0.01129 -0.00139 0.01685 -0.00301 C 0.01893 -0.00324 0.02083 -0.00486 0.0231 -0.00579 L 0.03698 -0.01134 C 0.07483 -0.00579 0.06511 -0.02222 0.0757 -0.00301 L 0.0757 -0.00324 " pathEditMode="relative" rAng="0" ptsTypes="AAAAAAA">
                                      <p:cBhvr>
                                        <p:cTn id="28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85" y="-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1.11111E-6 L 1.11022E-16 -0.00046 C 0.00556 -0.00116 0.01128 -0.00139 0.01684 -0.00301 C 0.01892 -0.00324 0.02083 -0.00486 0.02309 -0.00579 L 0.03698 -0.01134 C 0.07483 -0.00579 0.0651 -0.02222 0.07569 -0.00301 L 0.07569 -0.00324 " pathEditMode="relative" rAng="0" ptsTypes="AAAAAAA">
                                      <p:cBhvr>
                                        <p:cTn id="57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85" y="-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  <p:bldP spid="59" grpId="0" animBg="1"/>
      <p:bldP spid="64" grpId="0" animBg="1"/>
      <p:bldP spid="64" grpId="1" animBg="1"/>
      <p:bldP spid="64" grpId="2" animBg="1"/>
      <p:bldP spid="71" grpId="0" animBg="1"/>
      <p:bldP spid="72" grpId="0" animBg="1"/>
      <p:bldP spid="75" grpId="0" animBg="1"/>
      <p:bldP spid="75" grpId="1" animBg="1"/>
      <p:bldP spid="75" grpId="2" animBg="1"/>
      <p:bldP spid="7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 &lt;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&gt; 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= &lt;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&gt; </m:t>
                    </m:r>
                  </m:oMath>
                </a14:m>
                <a:endParaRPr lang="en-US" b="1" dirty="0"/>
              </a:p>
              <a:p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9370434"/>
                  </p:ext>
                </p:extLst>
              </p:nvPr>
            </p:nvGraphicFramePr>
            <p:xfrm>
              <a:off x="1676400" y="1600200"/>
              <a:ext cx="6095997" cy="48300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333">
                      <a:extLst>
                        <a:ext uri="{9D8B030D-6E8A-4147-A177-3AD203B41FA5}">
                          <a16:colId xmlns="" xmlns:a16="http://schemas.microsoft.com/office/drawing/2014/main" val="1618390636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341183050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4022224915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4241537447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266217336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348313435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207133113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3783234188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3392199172"/>
                        </a:ext>
                      </a:extLst>
                    </a:gridCol>
                  </a:tblGrid>
                  <a:tr h="63753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4183659342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370153453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218921601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943730524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20403472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784571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83634930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621406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9370434"/>
                  </p:ext>
                </p:extLst>
              </p:nvPr>
            </p:nvGraphicFramePr>
            <p:xfrm>
              <a:off x="1676400" y="1600200"/>
              <a:ext cx="6095997" cy="48300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333">
                      <a:extLst>
                        <a:ext uri="{9D8B030D-6E8A-4147-A177-3AD203B41FA5}">
                          <a16:colId xmlns:a16="http://schemas.microsoft.com/office/drawing/2014/main" val="1618390636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41183050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022224915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241537447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266217336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48313435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207133113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783234188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392199172"/>
                        </a:ext>
                      </a:extLst>
                    </a:gridCol>
                  </a:tblGrid>
                  <a:tr h="63753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802" t="-952" r="-703604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802" t="-952" r="-603604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802" t="-952" r="-503604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8214" t="-952" r="-399107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703" t="-952" r="-302703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2703" t="-952" r="-202703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2703" t="-952" r="-102703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2703" t="-952" r="-2703" b="-67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659342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108163" r="-803604" b="-6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0153453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208163" r="-803604" b="-5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18921601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305051" r="-803604" b="-4202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43730524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409184" r="-803604" b="-32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403472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509184" r="-803604" b="-22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84571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603030" r="-803604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634930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710204" r="-803604" b="-23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14060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667000" y="76200"/>
                <a:ext cx="6286500" cy="86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/>
                        <m:t>then</m:t>
                      </m:r>
                      <m:r>
                        <m:rPr>
                          <m:nor/>
                        </m:rPr>
                        <a:rPr lang="en-US" sz="2400" dirty="0"/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] ←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−1,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−1]+1</m:t>
                      </m:r>
                    </m:oMath>
                  </m:oMathPara>
                </a14:m>
                <a:endParaRPr lang="en-US" sz="2400" dirty="0"/>
              </a:p>
              <a:p>
                <a:pPr marL="0" lvl="1" algn="ctr"/>
                <a:r>
                  <a:rPr lang="en-US" sz="2400" dirty="0"/>
                  <a:t>else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 ← </m:t>
                    </m:r>
                  </m:oMath>
                </a14:m>
                <a:r>
                  <a:rPr lang="en-US" sz="2400" dirty="0"/>
                  <a:t>max(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−1])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76200"/>
                <a:ext cx="6286500" cy="860748"/>
              </a:xfrm>
              <a:prstGeom prst="rect">
                <a:avLst/>
              </a:prstGeom>
              <a:blipFill>
                <a:blip r:embed="rId4"/>
                <a:stretch>
                  <a:fillRect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3352800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034971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717142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334000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087837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689274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7432225" y="5943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352800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034971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717142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334000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6087837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6689274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7432225" y="5334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352800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4034971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717142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5334000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087837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6689274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7432225" y="48006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352800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034971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4717142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5334000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6087837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6689274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7432225" y="41910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3352800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034971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4717142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5334000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6087837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6689274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7432225" y="3581400"/>
            <a:ext cx="304800" cy="381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3" name="Rounded Rectangle 62"/>
          <p:cNvSpPr/>
          <p:nvPr/>
        </p:nvSpPr>
        <p:spPr>
          <a:xfrm>
            <a:off x="1832429" y="3476898"/>
            <a:ext cx="323849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ounded Rectangle 63"/>
          <p:cNvSpPr/>
          <p:nvPr/>
        </p:nvSpPr>
        <p:spPr>
          <a:xfrm>
            <a:off x="3200400" y="1672770"/>
            <a:ext cx="323849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/>
          <p:cNvCxnSpPr/>
          <p:nvPr/>
        </p:nvCxnSpPr>
        <p:spPr>
          <a:xfrm flipH="1" flipV="1">
            <a:off x="3171372" y="289923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 flipV="1">
            <a:off x="3737080" y="2867575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391256" y="3611881"/>
            <a:ext cx="274320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4054566" y="3025320"/>
            <a:ext cx="274320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 flipH="1">
            <a:off x="4405086" y="3153228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 flipV="1">
            <a:off x="5076022" y="2895600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4562473" y="1665204"/>
            <a:ext cx="323849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5744028" y="3156858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447972" y="3156858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5867400" y="1672770"/>
            <a:ext cx="323849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Arrow Connector 78"/>
          <p:cNvCxnSpPr/>
          <p:nvPr/>
        </p:nvCxnSpPr>
        <p:spPr>
          <a:xfrm flipH="1" flipV="1">
            <a:off x="7115628" y="2881086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 flipV="1">
            <a:off x="3185886" y="35052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3846281" y="35052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 flipV="1">
            <a:off x="4521201" y="35179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 flipV="1">
            <a:off x="5196115" y="3520441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 flipV="1">
            <a:off x="5761822" y="3491689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H="1">
            <a:off x="6400800" y="3733800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7255786" y="1656943"/>
            <a:ext cx="323849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Arrow Connector 80"/>
          <p:cNvCxnSpPr/>
          <p:nvPr/>
        </p:nvCxnSpPr>
        <p:spPr>
          <a:xfrm flipH="1">
            <a:off x="7127425" y="3713843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H="1" flipV="1">
            <a:off x="3202062" y="41148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/>
          <p:nvPr/>
        </p:nvCxnSpPr>
        <p:spPr>
          <a:xfrm flipH="1" flipV="1">
            <a:off x="3087137" y="4679544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/>
          <p:nvPr/>
        </p:nvCxnSpPr>
        <p:spPr>
          <a:xfrm flipH="1" flipV="1">
            <a:off x="3051288" y="5861991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flipH="1" flipV="1">
            <a:off x="3181122" y="5296939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 flipH="1" flipV="1">
            <a:off x="3855205" y="47244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 flipH="1" flipV="1">
            <a:off x="3757664" y="5282389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 flipH="1" flipV="1">
            <a:off x="3865699" y="4139389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 flipH="1" flipV="1">
            <a:off x="3853147" y="5942219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flipH="1" flipV="1">
            <a:off x="4396751" y="4069944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 flipH="1" flipV="1">
            <a:off x="4516361" y="5296092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>
          <a:xfrm flipH="1" flipV="1">
            <a:off x="4523618" y="58674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 flipH="1" flipV="1">
            <a:off x="4509155" y="47244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 flipH="1" flipV="1">
            <a:off x="5208663" y="4747986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 flipH="1" flipV="1">
            <a:off x="5112384" y="5296092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 flipH="1">
            <a:off x="5088973" y="4376058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flipH="1" flipV="1">
            <a:off x="5219610" y="5942219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H="1" flipV="1">
            <a:off x="5895346" y="4747986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>
          <a:xfrm flipH="1" flipV="1">
            <a:off x="5882067" y="59436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/>
          <p:nvPr/>
        </p:nvCxnSpPr>
        <p:spPr>
          <a:xfrm flipH="1">
            <a:off x="5773056" y="5545478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 flipH="1" flipV="1">
            <a:off x="5897766" y="4147458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/>
          <p:nvPr/>
        </p:nvCxnSpPr>
        <p:spPr>
          <a:xfrm flipH="1" flipV="1">
            <a:off x="6553200" y="41148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/>
          <p:nvPr/>
        </p:nvCxnSpPr>
        <p:spPr>
          <a:xfrm flipH="1" flipV="1">
            <a:off x="6576835" y="5309603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/>
          <p:nvPr/>
        </p:nvCxnSpPr>
        <p:spPr>
          <a:xfrm flipH="1" flipV="1">
            <a:off x="6476320" y="5861990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/>
          <p:nvPr/>
        </p:nvCxnSpPr>
        <p:spPr>
          <a:xfrm flipH="1" flipV="1">
            <a:off x="6454880" y="4679543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/>
          <p:cNvCxnSpPr/>
          <p:nvPr/>
        </p:nvCxnSpPr>
        <p:spPr>
          <a:xfrm flipH="1" flipV="1">
            <a:off x="7242955" y="4094844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/>
          <p:nvPr/>
        </p:nvCxnSpPr>
        <p:spPr>
          <a:xfrm flipH="1">
            <a:off x="7086600" y="4985658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/>
          <p:nvPr/>
        </p:nvCxnSpPr>
        <p:spPr>
          <a:xfrm flipH="1" flipV="1">
            <a:off x="7101673" y="5296092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/>
          <p:cNvCxnSpPr/>
          <p:nvPr/>
        </p:nvCxnSpPr>
        <p:spPr>
          <a:xfrm flipH="1" flipV="1">
            <a:off x="7239000" y="5934123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767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69 -1.85185E-6 L -0.00469 -0.00046 C 0.00295 -0.00092 0.01094 -0.00139 0.01892 -0.00231 C 0.02309 -0.00278 0.02726 -0.00393 0.0316 -0.0044 C 0.03889 -0.00532 0.04635 -0.00579 0.05364 -0.00671 C 0.06215 -0.00579 0.07066 -0.00555 0.07917 -0.0044 C 0.08125 -0.00416 0.0875 -0.00324 0.08542 -0.00231 C 0.08194 -0.00069 0.07795 -0.00231 0.07413 -0.00231 L 0.07413 -0.00254 " pathEditMode="relative" rAng="0" ptsTypes="AAAAAAAAA">
                                      <p:cBhvr>
                                        <p:cTn id="25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14" y="-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69 -4.44444E-6 L -0.00469 0.00024 C 0.0217 -0.00092 0.04809 -0.00208 0.07465 -0.00208 L 0.07465 -0.00185 L 0.07291 -4.44444E-6 " pathEditMode="relative" rAng="0" ptsTypes="AAAAA">
                                      <p:cBhvr>
                                        <p:cTn id="64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8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0.00625 L 5E-6 -0.00602 C 0.00521 -0.00486 0.0106 -0.0037 0.0158 -0.00208 C 0.01754 -0.00162 0.01893 -0.00046 0.02066 -1.85185E-6 C 0.02275 0.00093 0.02483 0.00139 0.02691 0.00232 C 0.07413 -1.85185E-6 0.0566 -1.85185E-6 0.07952 -1.85185E-6 L 0.07952 0.00023 " pathEditMode="relative" rAng="0" ptsTypes="AAAAAAA">
                                      <p:cBhvr>
                                        <p:cTn id="95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6" y="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63" grpId="0" animBg="1"/>
      <p:bldP spid="64" grpId="0" animBg="1"/>
      <p:bldP spid="64" grpId="1" animBg="1"/>
      <p:bldP spid="64" grpId="2" animBg="1"/>
      <p:bldP spid="71" grpId="0" animBg="1"/>
      <p:bldP spid="72" grpId="0" animBg="1"/>
      <p:bldP spid="75" grpId="0" animBg="1"/>
      <p:bldP spid="75" grpId="1" animBg="1"/>
      <p:bldP spid="75" grpId="2" animBg="1"/>
      <p:bldP spid="78" grpId="0" animBg="1"/>
      <p:bldP spid="78" grpId="1" animBg="1"/>
      <p:bldP spid="78" grpId="2" animBg="1"/>
      <p:bldP spid="8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 &lt;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&gt; 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= &lt;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&gt; </m:t>
                    </m:r>
                  </m:oMath>
                </a14:m>
                <a:endParaRPr lang="en-US" b="1" dirty="0"/>
              </a:p>
              <a:p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3550938"/>
                  </p:ext>
                </p:extLst>
              </p:nvPr>
            </p:nvGraphicFramePr>
            <p:xfrm>
              <a:off x="1676400" y="1600200"/>
              <a:ext cx="6095997" cy="48300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333">
                      <a:extLst>
                        <a:ext uri="{9D8B030D-6E8A-4147-A177-3AD203B41FA5}">
                          <a16:colId xmlns="" xmlns:a16="http://schemas.microsoft.com/office/drawing/2014/main" val="1618390636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341183050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4022224915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4241537447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266217336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348313435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207133113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3783234188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="" xmlns:a16="http://schemas.microsoft.com/office/drawing/2014/main" val="3392199172"/>
                        </a:ext>
                      </a:extLst>
                    </a:gridCol>
                  </a:tblGrid>
                  <a:tr h="63753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4183659342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370153453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218921601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943730524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320403472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784571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83634930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400" b="1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6214060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3550938"/>
                  </p:ext>
                </p:extLst>
              </p:nvPr>
            </p:nvGraphicFramePr>
            <p:xfrm>
              <a:off x="1676400" y="1600200"/>
              <a:ext cx="6095997" cy="483006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333">
                      <a:extLst>
                        <a:ext uri="{9D8B030D-6E8A-4147-A177-3AD203B41FA5}">
                          <a16:colId xmlns:a16="http://schemas.microsoft.com/office/drawing/2014/main" val="1618390636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411830501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022224915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4241537447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266217336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48313435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2071331139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783234188"/>
                        </a:ext>
                      </a:extLst>
                    </a:gridCol>
                    <a:gridCol w="677333">
                      <a:extLst>
                        <a:ext uri="{9D8B030D-6E8A-4147-A177-3AD203B41FA5}">
                          <a16:colId xmlns:a16="http://schemas.microsoft.com/office/drawing/2014/main" val="3392199172"/>
                        </a:ext>
                      </a:extLst>
                    </a:gridCol>
                  </a:tblGrid>
                  <a:tr h="63753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rgbClr val="0066FF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802" t="-952" r="-703604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802" t="-952" r="-603604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802" t="-952" r="-503604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8214" t="-952" r="-399107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2703" t="-952" r="-302703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2703" t="-952" r="-202703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2703" t="-952" r="-102703" b="-67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2703" t="-952" r="-2703" b="-67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3659342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108163" r="-803604" b="-6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70153453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208163" r="-803604" b="-5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18921601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305051" r="-803604" b="-4202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43730524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409184" r="-803604" b="-32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403472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509184" r="-803604" b="-2244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84571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603030" r="-803604" b="-1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6349307"/>
                      </a:ext>
                    </a:extLst>
                  </a:tr>
                  <a:tr h="5989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02" t="-710204" r="-803604" b="-23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b">
                        <a:lnL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2140608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667000" y="76200"/>
                <a:ext cx="6286500" cy="86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/>
                        <m:t>then</m:t>
                      </m:r>
                      <m:r>
                        <m:rPr>
                          <m:nor/>
                        </m:rPr>
                        <a:rPr lang="en-US" sz="2400" dirty="0"/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] ←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−1,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−1]+1</m:t>
                      </m:r>
                    </m:oMath>
                  </m:oMathPara>
                </a14:m>
                <a:endParaRPr lang="en-US" sz="2400" dirty="0"/>
              </a:p>
              <a:p>
                <a:pPr marL="0" lvl="1" algn="ctr"/>
                <a:r>
                  <a:rPr lang="en-US" sz="2400" dirty="0"/>
                  <a:t>else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 ← </m:t>
                    </m:r>
                  </m:oMath>
                </a14:m>
                <a:r>
                  <a:rPr lang="en-US" sz="2400" dirty="0"/>
                  <a:t>max(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−1,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−1])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76200"/>
                <a:ext cx="6286500" cy="860748"/>
              </a:xfrm>
              <a:prstGeom prst="rect">
                <a:avLst/>
              </a:prstGeom>
              <a:blipFill>
                <a:blip r:embed="rId4"/>
                <a:stretch>
                  <a:fillRect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ounded Rectangle 63"/>
          <p:cNvSpPr/>
          <p:nvPr/>
        </p:nvSpPr>
        <p:spPr>
          <a:xfrm>
            <a:off x="5209723" y="1672770"/>
            <a:ext cx="323849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7" name="Straight Arrow Connector 66"/>
          <p:cNvCxnSpPr/>
          <p:nvPr/>
        </p:nvCxnSpPr>
        <p:spPr>
          <a:xfrm flipH="1" flipV="1">
            <a:off x="3171372" y="289923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H="1" flipV="1">
            <a:off x="3737080" y="2867575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4054566" y="3025320"/>
            <a:ext cx="274320" cy="3657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 flipH="1">
            <a:off x="4405086" y="3153228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 flipV="1">
            <a:off x="5076022" y="2895600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5895523" y="1665204"/>
            <a:ext cx="323849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 flipH="1">
            <a:off x="5744028" y="3156858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6447972" y="3156858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6595837" y="1672770"/>
            <a:ext cx="323849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Arrow Connector 78"/>
          <p:cNvCxnSpPr/>
          <p:nvPr/>
        </p:nvCxnSpPr>
        <p:spPr>
          <a:xfrm flipH="1" flipV="1">
            <a:off x="7115628" y="2881086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 flipV="1">
            <a:off x="3185886" y="35052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H="1" flipV="1">
            <a:off x="3846281" y="35052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H="1" flipV="1">
            <a:off x="4521201" y="35179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 flipV="1">
            <a:off x="5196115" y="3520441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 flipV="1">
            <a:off x="5761822" y="3491689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H="1">
            <a:off x="6400800" y="3733800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7255786" y="1656943"/>
            <a:ext cx="323849" cy="365760"/>
          </a:xfrm>
          <a:prstGeom prst="roundRect">
            <a:avLst/>
          </a:prstGeom>
          <a:noFill/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Arrow Connector 80"/>
          <p:cNvCxnSpPr/>
          <p:nvPr/>
        </p:nvCxnSpPr>
        <p:spPr>
          <a:xfrm flipH="1">
            <a:off x="7127425" y="3713843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H="1" flipV="1">
            <a:off x="3202062" y="41148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H="1" flipV="1">
            <a:off x="6553200" y="41148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flipH="1" flipV="1">
            <a:off x="5893250" y="41148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 flipH="1" flipV="1">
            <a:off x="7242955" y="4094844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/>
          <p:nvPr/>
        </p:nvCxnSpPr>
        <p:spPr>
          <a:xfrm flipH="1" flipV="1">
            <a:off x="4396751" y="4069944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 flipH="1" flipV="1">
            <a:off x="3855205" y="47244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H="1" flipV="1">
            <a:off x="5208663" y="4747986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 flipH="1" flipV="1">
            <a:off x="5895346" y="4747986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flipH="1" flipV="1">
            <a:off x="3087137" y="4679544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 flipH="1" flipV="1">
            <a:off x="6451299" y="4676451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H="1" flipV="1">
            <a:off x="3757664" y="5282389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 flipH="1" flipV="1">
            <a:off x="5112384" y="5296092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/>
          <p:nvPr/>
        </p:nvCxnSpPr>
        <p:spPr>
          <a:xfrm flipH="1" flipV="1">
            <a:off x="7126797" y="5273352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 flipH="1" flipV="1">
            <a:off x="4516361" y="5296092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 flipH="1" flipV="1">
            <a:off x="6576835" y="5309603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/>
          <p:nvPr/>
        </p:nvCxnSpPr>
        <p:spPr>
          <a:xfrm flipH="1" flipV="1">
            <a:off x="4523618" y="58674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 flipH="1" flipV="1">
            <a:off x="5882067" y="5872289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 flipH="1" flipV="1">
            <a:off x="7235244" y="5921052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 flipH="1" flipV="1">
            <a:off x="3051288" y="5861991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H="1" flipV="1">
            <a:off x="6476320" y="5861990"/>
            <a:ext cx="257978" cy="2421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15628" y="5834742"/>
            <a:ext cx="656772" cy="594360"/>
          </a:xfrm>
          <a:prstGeom prst="rect">
            <a:avLst/>
          </a:prstGeom>
          <a:solidFill>
            <a:srgbClr val="00B0F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9" name="TextBox 108"/>
          <p:cNvSpPr txBox="1"/>
          <p:nvPr/>
        </p:nvSpPr>
        <p:spPr>
          <a:xfrm>
            <a:off x="7097610" y="5248298"/>
            <a:ext cx="656772" cy="594360"/>
          </a:xfrm>
          <a:prstGeom prst="rect">
            <a:avLst/>
          </a:prstGeom>
          <a:solidFill>
            <a:srgbClr val="00B0F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0" name="TextBox 109"/>
          <p:cNvSpPr txBox="1"/>
          <p:nvPr/>
        </p:nvSpPr>
        <p:spPr>
          <a:xfrm>
            <a:off x="6439181" y="4638402"/>
            <a:ext cx="656772" cy="594360"/>
          </a:xfrm>
          <a:prstGeom prst="rect">
            <a:avLst/>
          </a:prstGeom>
          <a:solidFill>
            <a:srgbClr val="00B0F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1" name="TextBox 110"/>
          <p:cNvSpPr txBox="1"/>
          <p:nvPr/>
        </p:nvSpPr>
        <p:spPr>
          <a:xfrm>
            <a:off x="5749470" y="4039670"/>
            <a:ext cx="656772" cy="594360"/>
          </a:xfrm>
          <a:prstGeom prst="rect">
            <a:avLst/>
          </a:prstGeom>
          <a:solidFill>
            <a:srgbClr val="00B0F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2" name="TextBox 111"/>
          <p:cNvSpPr txBox="1"/>
          <p:nvPr/>
        </p:nvSpPr>
        <p:spPr>
          <a:xfrm>
            <a:off x="5750378" y="3420112"/>
            <a:ext cx="656772" cy="594360"/>
          </a:xfrm>
          <a:prstGeom prst="rect">
            <a:avLst/>
          </a:prstGeom>
          <a:solidFill>
            <a:srgbClr val="00B0F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3" name="TextBox 112"/>
          <p:cNvSpPr txBox="1"/>
          <p:nvPr/>
        </p:nvSpPr>
        <p:spPr>
          <a:xfrm>
            <a:off x="5078186" y="2841534"/>
            <a:ext cx="656772" cy="594360"/>
          </a:xfrm>
          <a:prstGeom prst="rect">
            <a:avLst/>
          </a:prstGeom>
          <a:solidFill>
            <a:srgbClr val="00B0F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4" name="TextBox 113"/>
          <p:cNvSpPr txBox="1"/>
          <p:nvPr/>
        </p:nvSpPr>
        <p:spPr>
          <a:xfrm>
            <a:off x="4390572" y="2255712"/>
            <a:ext cx="656772" cy="594360"/>
          </a:xfrm>
          <a:prstGeom prst="rect">
            <a:avLst/>
          </a:prstGeom>
          <a:solidFill>
            <a:srgbClr val="00B0F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9" name="Straight Connector 8"/>
          <p:cNvCxnSpPr>
            <a:endCxn id="80" idx="2"/>
          </p:cNvCxnSpPr>
          <p:nvPr/>
        </p:nvCxnSpPr>
        <p:spPr>
          <a:xfrm flipH="1" flipV="1">
            <a:off x="7417711" y="2022703"/>
            <a:ext cx="14514" cy="32100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78" idx="2"/>
          </p:cNvCxnSpPr>
          <p:nvPr/>
        </p:nvCxnSpPr>
        <p:spPr>
          <a:xfrm flipH="1" flipV="1">
            <a:off x="6757762" y="2038530"/>
            <a:ext cx="21093" cy="25955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64" idx="2"/>
          </p:cNvCxnSpPr>
          <p:nvPr/>
        </p:nvCxnSpPr>
        <p:spPr>
          <a:xfrm flipH="1">
            <a:off x="5370362" y="2038530"/>
            <a:ext cx="1286" cy="8229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 flipH="1">
            <a:off x="6058996" y="2030964"/>
            <a:ext cx="1286" cy="1371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/>
          <p:nvPr/>
        </p:nvCxnSpPr>
        <p:spPr>
          <a:xfrm flipH="1" flipV="1">
            <a:off x="3181122" y="5296939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H="1" flipV="1">
            <a:off x="3865699" y="4139389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 flipH="1">
            <a:off x="5088973" y="4376058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 flipH="1" flipV="1">
            <a:off x="4509155" y="4724400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flipH="1">
            <a:off x="7086600" y="4985658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 flipH="1">
            <a:off x="5773056" y="5545478"/>
            <a:ext cx="3048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>
          <a:xfrm flipH="1" flipV="1">
            <a:off x="3853147" y="5942219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 flipH="1" flipV="1">
            <a:off x="5219610" y="5942219"/>
            <a:ext cx="4840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853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75" grpId="0" animBg="1"/>
      <p:bldP spid="78" grpId="0" animBg="1"/>
      <p:bldP spid="80" grpId="0" animBg="1"/>
      <p:bldP spid="6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LCS -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Find any one Longest Common Subsequence of given two strings using Dynamic Programming.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S1=</a:t>
            </a:r>
            <a:r>
              <a:rPr lang="en-US" dirty="0" err="1">
                <a:solidFill>
                  <a:srgbClr val="FF0000"/>
                </a:solidFill>
              </a:rPr>
              <a:t>abbacdcba</a:t>
            </a:r>
            <a:r>
              <a:rPr lang="en-US" dirty="0">
                <a:solidFill>
                  <a:srgbClr val="FF0000"/>
                </a:solidFill>
              </a:rPr>
              <a:t>    S2=</a:t>
            </a:r>
            <a:r>
              <a:rPr lang="en-US" dirty="0" err="1">
                <a:solidFill>
                  <a:srgbClr val="FF0000"/>
                </a:solidFill>
              </a:rPr>
              <a:t>bcdbbcaa</a:t>
            </a:r>
            <a:endParaRPr lang="en-US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dirty="0"/>
              <a:t>Determine an LCS of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A = [ 0; 0; 1; 0; 1; 0; 1] and B =[ 1; 0; 1; 1; 0; 1; 1; 0].</a:t>
            </a:r>
          </a:p>
        </p:txBody>
      </p:sp>
    </p:spTree>
    <p:extLst>
      <p:ext uri="{BB962C8B-B14F-4D97-AF65-F5344CB8AC3E}">
        <p14:creationId xmlns:p14="http://schemas.microsoft.com/office/powerpoint/2010/main" val="426514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LCS – Example 1 Solution</a:t>
            </a:r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0001621"/>
              </p:ext>
            </p:extLst>
          </p:nvPr>
        </p:nvGraphicFramePr>
        <p:xfrm>
          <a:off x="1142998" y="1200912"/>
          <a:ext cx="7078665" cy="5047488"/>
        </p:xfrm>
        <a:graphic>
          <a:graphicData uri="http://schemas.openxmlformats.org/drawingml/2006/table">
            <a:tbl>
              <a:tblPr firstRow="1" firstCol="1" bandRow="1">
                <a:tableStyleId>{5FD0F851-EC5A-4D38-B0AD-8093EC10F338}</a:tableStyleId>
              </a:tblPr>
              <a:tblGrid>
                <a:gridCol w="643515">
                  <a:extLst>
                    <a:ext uri="{9D8B030D-6E8A-4147-A177-3AD203B41FA5}">
                      <a16:colId xmlns="" xmlns:a16="http://schemas.microsoft.com/office/drawing/2014/main" val="3488596746"/>
                    </a:ext>
                  </a:extLst>
                </a:gridCol>
                <a:gridCol w="643515">
                  <a:extLst>
                    <a:ext uri="{9D8B030D-6E8A-4147-A177-3AD203B41FA5}">
                      <a16:colId xmlns="" xmlns:a16="http://schemas.microsoft.com/office/drawing/2014/main" val="2071742072"/>
                    </a:ext>
                  </a:extLst>
                </a:gridCol>
                <a:gridCol w="643515">
                  <a:extLst>
                    <a:ext uri="{9D8B030D-6E8A-4147-A177-3AD203B41FA5}">
                      <a16:colId xmlns="" xmlns:a16="http://schemas.microsoft.com/office/drawing/2014/main" val="3040890759"/>
                    </a:ext>
                  </a:extLst>
                </a:gridCol>
                <a:gridCol w="643515">
                  <a:extLst>
                    <a:ext uri="{9D8B030D-6E8A-4147-A177-3AD203B41FA5}">
                      <a16:colId xmlns="" xmlns:a16="http://schemas.microsoft.com/office/drawing/2014/main" val="1232261759"/>
                    </a:ext>
                  </a:extLst>
                </a:gridCol>
                <a:gridCol w="643515">
                  <a:extLst>
                    <a:ext uri="{9D8B030D-6E8A-4147-A177-3AD203B41FA5}">
                      <a16:colId xmlns="" xmlns:a16="http://schemas.microsoft.com/office/drawing/2014/main" val="3105326882"/>
                    </a:ext>
                  </a:extLst>
                </a:gridCol>
                <a:gridCol w="643515">
                  <a:extLst>
                    <a:ext uri="{9D8B030D-6E8A-4147-A177-3AD203B41FA5}">
                      <a16:colId xmlns="" xmlns:a16="http://schemas.microsoft.com/office/drawing/2014/main" val="4236611989"/>
                    </a:ext>
                  </a:extLst>
                </a:gridCol>
                <a:gridCol w="643515">
                  <a:extLst>
                    <a:ext uri="{9D8B030D-6E8A-4147-A177-3AD203B41FA5}">
                      <a16:colId xmlns="" xmlns:a16="http://schemas.microsoft.com/office/drawing/2014/main" val="1720421185"/>
                    </a:ext>
                  </a:extLst>
                </a:gridCol>
                <a:gridCol w="643515">
                  <a:extLst>
                    <a:ext uri="{9D8B030D-6E8A-4147-A177-3AD203B41FA5}">
                      <a16:colId xmlns="" xmlns:a16="http://schemas.microsoft.com/office/drawing/2014/main" val="2349576818"/>
                    </a:ext>
                  </a:extLst>
                </a:gridCol>
                <a:gridCol w="643515">
                  <a:extLst>
                    <a:ext uri="{9D8B030D-6E8A-4147-A177-3AD203B41FA5}">
                      <a16:colId xmlns="" xmlns:a16="http://schemas.microsoft.com/office/drawing/2014/main" val="3555714534"/>
                    </a:ext>
                  </a:extLst>
                </a:gridCol>
                <a:gridCol w="643515">
                  <a:extLst>
                    <a:ext uri="{9D8B030D-6E8A-4147-A177-3AD203B41FA5}">
                      <a16:colId xmlns="" xmlns:a16="http://schemas.microsoft.com/office/drawing/2014/main" val="1205179773"/>
                    </a:ext>
                  </a:extLst>
                </a:gridCol>
                <a:gridCol w="643515">
                  <a:extLst>
                    <a:ext uri="{9D8B030D-6E8A-4147-A177-3AD203B41FA5}">
                      <a16:colId xmlns="" xmlns:a16="http://schemas.microsoft.com/office/drawing/2014/main" val="3153053693"/>
                    </a:ext>
                  </a:extLst>
                </a:gridCol>
              </a:tblGrid>
              <a:tr h="3973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8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2645227328"/>
                  </a:ext>
                </a:extLst>
              </a:tr>
              <a:tr h="3973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 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Yj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d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3895636583"/>
                  </a:ext>
                </a:extLst>
              </a:tr>
              <a:tr h="3973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Xi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939551830"/>
                  </a:ext>
                </a:extLst>
              </a:tr>
              <a:tr h="3973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0↑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↖1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↖1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887835743"/>
                  </a:ext>
                </a:extLst>
              </a:tr>
              <a:tr h="3973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↖1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1←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1←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↖1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↖1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1←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397398320"/>
                  </a:ext>
                </a:extLst>
              </a:tr>
              <a:tr h="3973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↖1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1↑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↖2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↖2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2←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2←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2←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9126422"/>
                  </a:ext>
                </a:extLst>
              </a:tr>
              <a:tr h="3973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1↑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2↑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2↑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↖3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↖3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4202013529"/>
                  </a:ext>
                </a:extLst>
              </a:tr>
              <a:tr h="3973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↖2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2←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2↑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↖3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3241179727"/>
                  </a:ext>
                </a:extLst>
              </a:tr>
              <a:tr h="3973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d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↖3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3←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3←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3↑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3↑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2590325241"/>
                  </a:ext>
                </a:extLst>
              </a:tr>
              <a:tr h="3973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c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↖2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↖4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4←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4←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555640150"/>
                  </a:ext>
                </a:extLst>
              </a:tr>
              <a:tr h="3973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8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↖1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↖4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↖4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4↑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591687804"/>
                  </a:ext>
                </a:extLst>
              </a:tr>
              <a:tr h="3973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9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3↑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4↑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↖5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↖5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2867212013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3162300" y="3285595"/>
            <a:ext cx="533400" cy="457200"/>
          </a:xfrm>
          <a:prstGeom prst="ellipse">
            <a:avLst/>
          </a:prstGeom>
          <a:solidFill>
            <a:schemeClr val="tx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810000" y="4158431"/>
            <a:ext cx="457200" cy="457200"/>
          </a:xfrm>
          <a:prstGeom prst="ellipse">
            <a:avLst/>
          </a:prstGeom>
          <a:solidFill>
            <a:schemeClr val="tx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19600" y="4539429"/>
            <a:ext cx="533400" cy="457202"/>
          </a:xfrm>
          <a:prstGeom prst="ellipse">
            <a:avLst/>
          </a:prstGeom>
          <a:solidFill>
            <a:schemeClr val="tx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6400800" y="4955067"/>
            <a:ext cx="514350" cy="422564"/>
          </a:xfrm>
          <a:prstGeom prst="ellipse">
            <a:avLst/>
          </a:prstGeom>
          <a:solidFill>
            <a:schemeClr val="tx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696200" y="5796731"/>
            <a:ext cx="457200" cy="419100"/>
          </a:xfrm>
          <a:prstGeom prst="ellipse">
            <a:avLst/>
          </a:prstGeom>
          <a:solidFill>
            <a:schemeClr val="tx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3247572" y="1643831"/>
            <a:ext cx="304800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3886200" y="1665605"/>
            <a:ext cx="304800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4542972" y="1646790"/>
            <a:ext cx="304800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6477000" y="1665605"/>
            <a:ext cx="304800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7761516" y="1651091"/>
            <a:ext cx="304800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719552" y="5796731"/>
            <a:ext cx="457200" cy="4572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049115" y="5384391"/>
            <a:ext cx="457200" cy="4572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044224" y="4977582"/>
            <a:ext cx="457200" cy="4572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6429375" y="4937749"/>
            <a:ext cx="457200" cy="4572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750923" y="4563621"/>
            <a:ext cx="457200" cy="4572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082075" y="4563621"/>
            <a:ext cx="457200" cy="4572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4448425" y="4520382"/>
            <a:ext cx="457200" cy="4572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811344" y="4158431"/>
            <a:ext cx="457200" cy="4572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3200400" y="3724656"/>
            <a:ext cx="457200" cy="4572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200400" y="3285595"/>
            <a:ext cx="457200" cy="457200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endCxn id="15" idx="2"/>
          </p:cNvCxnSpPr>
          <p:nvPr/>
        </p:nvCxnSpPr>
        <p:spPr>
          <a:xfrm flipV="1">
            <a:off x="7906191" y="2032091"/>
            <a:ext cx="7725" cy="372961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6648891" y="2046605"/>
            <a:ext cx="9084" cy="287382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0"/>
          </p:cNvCxnSpPr>
          <p:nvPr/>
        </p:nvCxnSpPr>
        <p:spPr>
          <a:xfrm flipV="1">
            <a:off x="4677025" y="2032091"/>
            <a:ext cx="23131" cy="248829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0"/>
            <a:endCxn id="12" idx="2"/>
          </p:cNvCxnSpPr>
          <p:nvPr/>
        </p:nvCxnSpPr>
        <p:spPr>
          <a:xfrm flipV="1">
            <a:off x="4038600" y="2046605"/>
            <a:ext cx="0" cy="2111826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4" idx="0"/>
          </p:cNvCxnSpPr>
          <p:nvPr/>
        </p:nvCxnSpPr>
        <p:spPr>
          <a:xfrm flipH="1" flipV="1">
            <a:off x="3406577" y="2024831"/>
            <a:ext cx="22423" cy="126076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96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8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8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8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8180</TotalTime>
  <Words>7842</Words>
  <Application>Microsoft Office PowerPoint</Application>
  <PresentationFormat>On-screen Show (4:3)</PresentationFormat>
  <Paragraphs>1817</Paragraphs>
  <Slides>70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2" baseType="lpstr">
      <vt:lpstr>Office Theme</vt:lpstr>
      <vt:lpstr>Equation</vt:lpstr>
      <vt:lpstr>PowerPoint Presentation</vt:lpstr>
      <vt:lpstr>Introduction </vt:lpstr>
      <vt:lpstr>Introduction </vt:lpstr>
      <vt:lpstr>The Principle of Optimality</vt:lpstr>
      <vt:lpstr>Binomial Coefficient </vt:lpstr>
      <vt:lpstr>Binomial Coefficient </vt:lpstr>
      <vt:lpstr>Binomial Coefficient </vt:lpstr>
      <vt:lpstr>Binomial Coefficient </vt:lpstr>
      <vt:lpstr>Generalized Solution using Dynamic Programming</vt:lpstr>
      <vt:lpstr>Make a Change Problem</vt:lpstr>
      <vt:lpstr>Make Change Problem - Definition </vt:lpstr>
      <vt:lpstr>Make Change - Example </vt:lpstr>
      <vt:lpstr>Make Change - Example </vt:lpstr>
      <vt:lpstr>Make Change - Example </vt:lpstr>
      <vt:lpstr>0/1 Knapsack Problem</vt:lpstr>
      <vt:lpstr>0/1 Knapsack Problem - Definition </vt:lpstr>
      <vt:lpstr>0/1 Knapsack Problem - Example</vt:lpstr>
      <vt:lpstr>0/1 Knapsack Problem - Example</vt:lpstr>
      <vt:lpstr>0/1 Knapsack Problem - Example</vt:lpstr>
      <vt:lpstr>0/1 Knapsack Problem - Example</vt:lpstr>
      <vt:lpstr>0/1 Knapsack Problem - Example</vt:lpstr>
      <vt:lpstr>0/1 Knapsack Problem - Example</vt:lpstr>
      <vt:lpstr>0/1 Knapsack Problem - Example</vt:lpstr>
      <vt:lpstr>All Pair Shortest Path – Floyd’s Algorithm </vt:lpstr>
      <vt:lpstr>Floyd Algorithm - Example</vt:lpstr>
      <vt:lpstr>Floyd Algorithm - Example</vt:lpstr>
      <vt:lpstr>Floyd Algorithm - Example</vt:lpstr>
      <vt:lpstr>Floyd Algorithm - Example</vt:lpstr>
      <vt:lpstr>Floyd Algorithm - Example</vt:lpstr>
      <vt:lpstr>Floyd Algorithm - Example</vt:lpstr>
      <vt:lpstr>Floyd Algorithm - Example</vt:lpstr>
      <vt:lpstr>Floyd Algorithm - Example</vt:lpstr>
      <vt:lpstr>Floyd Algorithm - Example</vt:lpstr>
      <vt:lpstr>Floyd Algorithm - Example</vt:lpstr>
      <vt:lpstr>Floyd’s Algorithm</vt:lpstr>
      <vt:lpstr>Assembly Line Scheduling</vt:lpstr>
      <vt:lpstr>Assembly Line Scheduling</vt:lpstr>
      <vt:lpstr>Assembly Line Scheduling</vt:lpstr>
      <vt:lpstr>Assembly Line Scheduling</vt:lpstr>
      <vt:lpstr>Assembly Line Scheduling - Example</vt:lpstr>
      <vt:lpstr>Optimal Substructure</vt:lpstr>
      <vt:lpstr>Optimal Substructure</vt:lpstr>
      <vt:lpstr>Assembly Line Scheduling - Example</vt:lpstr>
      <vt:lpstr>Assembly Line Scheduling - Example</vt:lpstr>
      <vt:lpstr>Assembly Line Scheduling - Example</vt:lpstr>
      <vt:lpstr>Assembly Line Scheduling - Example</vt:lpstr>
      <vt:lpstr>Assembly Line Scheduling - Example</vt:lpstr>
      <vt:lpstr>Chain Matrix Multiplication </vt:lpstr>
      <vt:lpstr>Matrix Chain Multiplication</vt:lpstr>
      <vt:lpstr>Matrix Chain Multiplication</vt:lpstr>
      <vt:lpstr>Matrix Chain Multiplication</vt:lpstr>
      <vt:lpstr>Matrix Chain Multiplication - Example</vt:lpstr>
      <vt:lpstr>Matrix Chain Multiplication - Example</vt:lpstr>
      <vt:lpstr>Matrix Chain Multiplication - Example</vt:lpstr>
      <vt:lpstr>Matrix Chain Multiplication - Example</vt:lpstr>
      <vt:lpstr>Matrix Chain Multiplication - Example</vt:lpstr>
      <vt:lpstr>Matrix Chain Multiplication</vt:lpstr>
      <vt:lpstr>Matrix Chain Multiplication</vt:lpstr>
      <vt:lpstr>Matrix Chain Multiplication</vt:lpstr>
      <vt:lpstr>Matrix Chain Multiplication</vt:lpstr>
      <vt:lpstr>Matrix Chain Multiplication</vt:lpstr>
      <vt:lpstr>Longest Common Subsequence</vt:lpstr>
      <vt:lpstr>Longest Common Subsequence (LCS) </vt:lpstr>
      <vt:lpstr>Longest Common Subsequence (LCS) </vt:lpstr>
      <vt:lpstr>LCS </vt:lpstr>
      <vt:lpstr>LCS </vt:lpstr>
      <vt:lpstr>LCS </vt:lpstr>
      <vt:lpstr>LCS </vt:lpstr>
      <vt:lpstr>LCS - Examples</vt:lpstr>
      <vt:lpstr>LCS – Example 1 Solution</vt:lpstr>
    </vt:vector>
  </TitlesOfParts>
  <Company>Darshan Institute of Engg. &amp; Tech.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W5 of Computer Engineering (Why, What, When, Where, How)</dc:title>
  <dc:creator>Darshan Institute of Engg. &amp; Tech.</dc:creator>
  <cp:lastModifiedBy>Meet</cp:lastModifiedBy>
  <cp:revision>1540</cp:revision>
  <dcterms:created xsi:type="dcterms:W3CDTF">2013-05-17T03:00:03Z</dcterms:created>
  <dcterms:modified xsi:type="dcterms:W3CDTF">2020-08-13T06:47:37Z</dcterms:modified>
</cp:coreProperties>
</file>