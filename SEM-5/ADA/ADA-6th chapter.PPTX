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1"/>
  </p:notesMasterIdLst>
  <p:sldIdLst>
    <p:sldId id="418" r:id="rId3"/>
    <p:sldId id="420" r:id="rId4"/>
    <p:sldId id="419" r:id="rId5"/>
    <p:sldId id="402" r:id="rId6"/>
    <p:sldId id="406" r:id="rId7"/>
    <p:sldId id="403" r:id="rId8"/>
    <p:sldId id="404" r:id="rId9"/>
    <p:sldId id="405" r:id="rId10"/>
    <p:sldId id="407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7" r:id="rId19"/>
    <p:sldId id="41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00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9EDF4"/>
    <a:srgbClr val="C0C0C0"/>
    <a:srgbClr val="D3D2D2"/>
    <a:srgbClr val="008000"/>
    <a:srgbClr val="4D4C4D"/>
    <a:srgbClr val="66FF66"/>
    <a:srgbClr val="E40524"/>
    <a:srgbClr val="385D8A"/>
    <a:srgbClr val="344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5" autoAdjust="0"/>
    <p:restoredTop sz="93615" autoAdjust="0"/>
  </p:normalViewPr>
  <p:slideViewPr>
    <p:cSldViewPr>
      <p:cViewPr varScale="1">
        <p:scale>
          <a:sx n="74" d="100"/>
          <a:sy n="74" d="100"/>
        </p:scale>
        <p:origin x="-1248" y="-90"/>
      </p:cViewPr>
      <p:guideLst>
        <p:guide orient="horz" pos="100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22-Sep-20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4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IN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Exploring Graphs                           </a:t>
            </a:r>
            <a:fld id="{6E8469F3-9EE8-43CF-BEDC-475B89412D1D}" type="slidenum">
              <a:rPr lang="da-DK" sz="18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747963"/>
            <a:ext cx="7772400" cy="1362075"/>
          </a:xfrm>
        </p:spPr>
        <p:txBody>
          <a:bodyPr anchor="t"/>
          <a:lstStyle>
            <a:lvl1pPr algn="l">
              <a:defRPr sz="4000" b="1" cap="none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ktangel 11"/>
          <p:cNvSpPr/>
          <p:nvPr userDrawn="1"/>
        </p:nvSpPr>
        <p:spPr>
          <a:xfrm>
            <a:off x="0" y="6434613"/>
            <a:ext cx="9144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Unit-7                                                      </a:t>
            </a:r>
            <a:r>
              <a:rPr lang="da-DK" sz="1600" baseline="0" noProof="1">
                <a:solidFill>
                  <a:srgbClr val="F8F8F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F9BC18-5F67-48C8-AE19-74C8DD218351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42CAB-82AF-48CC-9F29-41124BD4446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9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BC1A9-3026-4393-A80E-70E36827A4AD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2ED1F-C8F3-43E9-AED7-01176710CDF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63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C2276D-4A96-46EF-8F4E-3E4A2C9240C2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E09EA-C0CE-4BED-A47A-07C359C9080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0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8817AE-1559-4AEF-BDB3-5BD030A59C90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B8AA6-F314-4771-A41D-9756F3A4364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343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9B86E4-7AE4-4E85-B048-146AB3044B18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2A09A-456B-44E8-9ED5-46638CA9FA8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303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5C2BFF-42B3-4937-97A6-34550EFA0AC8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DDFA1-3E15-497A-AF8D-C26CAC16521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96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D0F898-BE90-4F85-B1AC-FCBAACABB1BA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EFCD8-9014-49B2-92DF-8F1FF273850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63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BB57F4-4871-4F37-A6AB-98EE80D5FFB9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32BB8-7F9C-4026-BEDA-6D71BD117CA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105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B9B514-8B20-4D90-9E0B-3B5555402639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2F591-EF32-4442-8DCE-923FCAC4D1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532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145F6A-67EF-4769-A964-C31A00AB2601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75CBD-765C-459E-85B5-505902757CC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20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C31762-40F3-409E-A80A-6F1776BEEA3B}" type="datetime1">
              <a:rPr lang="en-US" altLang="en-US">
                <a:solidFill>
                  <a:srgbClr val="000000"/>
                </a:solidFill>
              </a:rPr>
              <a:pPr/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0CCF3-82BA-4617-9267-681E7274A6B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0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8FDA55D-4A49-4130-AC9C-7CCB25CEAAA8}" type="datetime1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22-Sep-20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FFAF6E-EE6E-41BB-AB95-2D225EDB63A8}" type="slidenum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50535" name="Picture 7" descr="1347-395_08_TTslid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58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4418" y="2528900"/>
            <a:ext cx="8969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Unit-6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Exploring Graphs</a:t>
            </a:r>
            <a:endParaRPr lang="en-US" sz="3600" b="1" dirty="0">
              <a:solidFill>
                <a:srgbClr val="FF0000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04943" y="4487341"/>
            <a:ext cx="405675" cy="29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4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-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graph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G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"/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, </m:t>
                        </m:r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consists of a non-empty set </a:t>
                </a:r>
                <a:r>
                  <a:rPr lang="en-US" dirty="0">
                    <a:solidFill>
                      <a:srgbClr val="FF0000"/>
                    </a:solidFill>
                  </a:rPr>
                  <a:t>𝑵</a:t>
                </a:r>
                <a:r>
                  <a:rPr lang="en-US" dirty="0"/>
                  <a:t> called the set of nodes (vertices) of the graph, a set </a:t>
                </a:r>
                <a:r>
                  <a:rPr lang="en-US" dirty="0">
                    <a:solidFill>
                      <a:srgbClr val="FF0000"/>
                    </a:solidFill>
                  </a:rPr>
                  <a:t>𝑨</a:t>
                </a:r>
                <a:r>
                  <a:rPr lang="en-US" dirty="0"/>
                  <a:t> called the set of edges that also represents a mapping from the set of edges </a:t>
                </a:r>
                <a:r>
                  <a:rPr lang="en-US" dirty="0">
                    <a:solidFill>
                      <a:srgbClr val="FF0000"/>
                    </a:solidFill>
                  </a:rPr>
                  <a:t>𝑨</a:t>
                </a:r>
                <a:r>
                  <a:rPr lang="en-US" dirty="0"/>
                  <a:t> to a set of pairs of elements </a:t>
                </a:r>
                <a:r>
                  <a:rPr lang="en-US" dirty="0">
                    <a:solidFill>
                      <a:srgbClr val="FF0000"/>
                    </a:solidFill>
                  </a:rPr>
                  <a:t>𝑵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108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090130" y="3911189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3614130" y="5594215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Oval 5"/>
          <p:cNvSpPr/>
          <p:nvPr/>
        </p:nvSpPr>
        <p:spPr>
          <a:xfrm>
            <a:off x="3309330" y="4520789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480530" y="5365615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4528530" y="3536815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6281130" y="4215989"/>
            <a:ext cx="6096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1" name="Straight Connector 10"/>
          <p:cNvCxnSpPr>
            <a:stCxn id="4" idx="6"/>
            <a:endCxn id="8" idx="2"/>
          </p:cNvCxnSpPr>
          <p:nvPr/>
        </p:nvCxnSpPr>
        <p:spPr>
          <a:xfrm flipV="1">
            <a:off x="2699730" y="3841615"/>
            <a:ext cx="1828800" cy="374374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3"/>
          </p:cNvCxnSpPr>
          <p:nvPr/>
        </p:nvCxnSpPr>
        <p:spPr>
          <a:xfrm flipV="1">
            <a:off x="2090130" y="5041115"/>
            <a:ext cx="1308474" cy="55310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4"/>
            <a:endCxn id="7" idx="0"/>
          </p:cNvCxnSpPr>
          <p:nvPr/>
        </p:nvCxnSpPr>
        <p:spPr>
          <a:xfrm flipH="1">
            <a:off x="1785330" y="4520789"/>
            <a:ext cx="609600" cy="844826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5"/>
            <a:endCxn id="5" idx="2"/>
          </p:cNvCxnSpPr>
          <p:nvPr/>
        </p:nvCxnSpPr>
        <p:spPr>
          <a:xfrm>
            <a:off x="2000856" y="5885941"/>
            <a:ext cx="1613274" cy="13074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1"/>
          </p:cNvCxnSpPr>
          <p:nvPr/>
        </p:nvCxnSpPr>
        <p:spPr>
          <a:xfrm>
            <a:off x="5138130" y="3841615"/>
            <a:ext cx="1232274" cy="463648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6" idx="7"/>
            <a:endCxn id="8" idx="3"/>
          </p:cNvCxnSpPr>
          <p:nvPr/>
        </p:nvCxnSpPr>
        <p:spPr>
          <a:xfrm flipV="1">
            <a:off x="3829656" y="4057141"/>
            <a:ext cx="788148" cy="552922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5" idx="6"/>
            <a:endCxn id="9" idx="3"/>
          </p:cNvCxnSpPr>
          <p:nvPr/>
        </p:nvCxnSpPr>
        <p:spPr>
          <a:xfrm flipV="1">
            <a:off x="4223730" y="4736315"/>
            <a:ext cx="2146674" cy="116270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6" idx="5"/>
            <a:endCxn id="5" idx="0"/>
          </p:cNvCxnSpPr>
          <p:nvPr/>
        </p:nvCxnSpPr>
        <p:spPr>
          <a:xfrm>
            <a:off x="3829656" y="5041115"/>
            <a:ext cx="89274" cy="55310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14430" y="5709446"/>
            <a:ext cx="1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nodes</a:t>
            </a:r>
          </a:p>
          <a:p>
            <a:pPr algn="ctr"/>
            <a:r>
              <a:rPr lang="en-US" sz="2000" b="1" dirty="0"/>
              <a:t>(or vertices)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254" y="2828929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edges</a:t>
            </a:r>
          </a:p>
          <a:p>
            <a:pPr algn="ctr"/>
            <a:r>
              <a:rPr lang="en-US" sz="2000" b="1" dirty="0"/>
              <a:t>(or links) </a:t>
            </a:r>
          </a:p>
        </p:txBody>
      </p:sp>
      <p:cxnSp>
        <p:nvCxnSpPr>
          <p:cNvPr id="33" name="Straight Arrow Connector 32"/>
          <p:cNvCxnSpPr>
            <a:stCxn id="30" idx="1"/>
          </p:cNvCxnSpPr>
          <p:nvPr/>
        </p:nvCxnSpPr>
        <p:spPr>
          <a:xfrm flipH="1">
            <a:off x="4020156" y="6063389"/>
            <a:ext cx="1994274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0" idx="1"/>
            <a:endCxn id="8" idx="5"/>
          </p:cNvCxnSpPr>
          <p:nvPr/>
        </p:nvCxnSpPr>
        <p:spPr>
          <a:xfrm flipH="1" flipV="1">
            <a:off x="5048856" y="4057141"/>
            <a:ext cx="965574" cy="200624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0" idx="1"/>
            <a:endCxn id="9" idx="4"/>
          </p:cNvCxnSpPr>
          <p:nvPr/>
        </p:nvCxnSpPr>
        <p:spPr>
          <a:xfrm flipV="1">
            <a:off x="6014430" y="4825589"/>
            <a:ext cx="571500" cy="12378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1" idx="1"/>
          </p:cNvCxnSpPr>
          <p:nvPr/>
        </p:nvCxnSpPr>
        <p:spPr>
          <a:xfrm flipH="1">
            <a:off x="5633430" y="3182872"/>
            <a:ext cx="871824" cy="845930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31" idx="1"/>
          </p:cNvCxnSpPr>
          <p:nvPr/>
        </p:nvCxnSpPr>
        <p:spPr>
          <a:xfrm flipH="1">
            <a:off x="5197518" y="3182872"/>
            <a:ext cx="1307736" cy="2134793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3442120" y="3182872"/>
            <a:ext cx="3063134" cy="845930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76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&amp; Undirected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857372"/>
            <a:ext cx="8763000" cy="5334000"/>
          </a:xfrm>
        </p:spPr>
        <p:txBody>
          <a:bodyPr/>
          <a:lstStyle/>
          <a:p>
            <a:r>
              <a:rPr lang="en-US" b="1" dirty="0"/>
              <a:t>Directed Graph</a:t>
            </a:r>
            <a:r>
              <a:rPr lang="en-US" dirty="0"/>
              <a:t>:  A graph in which </a:t>
            </a:r>
            <a:r>
              <a:rPr lang="en-US" b="1" dirty="0"/>
              <a:t>every edge is directed</a:t>
            </a:r>
            <a:r>
              <a:rPr lang="en-US" dirty="0"/>
              <a:t> from one node to another is called a directed graph or digraph.</a:t>
            </a:r>
          </a:p>
          <a:p>
            <a:r>
              <a:rPr lang="en-US" b="1" dirty="0"/>
              <a:t>Undirected Graph</a:t>
            </a:r>
            <a:r>
              <a:rPr lang="en-US" dirty="0"/>
              <a:t>: A graph in which </a:t>
            </a:r>
            <a:r>
              <a:rPr lang="en-US" b="1" dirty="0"/>
              <a:t>every edge is undirected and no direction is associated with them </a:t>
            </a:r>
            <a:r>
              <a:rPr lang="en-US" dirty="0"/>
              <a:t>is called an undirected graph.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1144656" y="3969061"/>
            <a:ext cx="2977101" cy="2164386"/>
            <a:chOff x="838200" y="4651513"/>
            <a:chExt cx="2117035" cy="1509019"/>
          </a:xfrm>
        </p:grpSpPr>
        <p:sp>
          <p:nvSpPr>
            <p:cNvPr id="4" name="Oval 3"/>
            <p:cNvSpPr/>
            <p:nvPr/>
          </p:nvSpPr>
          <p:spPr>
            <a:xfrm>
              <a:off x="838200" y="4724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1583635" y="4896678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126435" y="5420139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123661" y="52611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438400" y="46515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4" idx="6"/>
              <a:endCxn id="5" idx="1"/>
            </p:cNvCxnSpPr>
            <p:nvPr/>
          </p:nvCxnSpPr>
          <p:spPr>
            <a:xfrm>
              <a:off x="1143000" y="4876800"/>
              <a:ext cx="485272" cy="64515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5" idx="5"/>
              <a:endCxn id="8" idx="2"/>
            </p:cNvCxnSpPr>
            <p:nvPr/>
          </p:nvCxnSpPr>
          <p:spPr>
            <a:xfrm>
              <a:off x="1843798" y="5156841"/>
              <a:ext cx="279863" cy="256672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0"/>
              <a:endCxn id="9" idx="3"/>
            </p:cNvCxnSpPr>
            <p:nvPr/>
          </p:nvCxnSpPr>
          <p:spPr>
            <a:xfrm flipV="1">
              <a:off x="2276061" y="4911676"/>
              <a:ext cx="206976" cy="349437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6" idx="1"/>
              <a:endCxn id="4" idx="5"/>
            </p:cNvCxnSpPr>
            <p:nvPr/>
          </p:nvCxnSpPr>
          <p:spPr>
            <a:xfrm flipH="1" flipV="1">
              <a:off x="1098363" y="4984563"/>
              <a:ext cx="72709" cy="480213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5" idx="7"/>
              <a:endCxn id="9" idx="2"/>
            </p:cNvCxnSpPr>
            <p:nvPr/>
          </p:nvCxnSpPr>
          <p:spPr>
            <a:xfrm flipV="1">
              <a:off x="1843798" y="4803913"/>
              <a:ext cx="594602" cy="137402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8" idx="2"/>
            </p:cNvCxnSpPr>
            <p:nvPr/>
          </p:nvCxnSpPr>
          <p:spPr>
            <a:xfrm flipH="1">
              <a:off x="1431235" y="5413513"/>
              <a:ext cx="692426" cy="159026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278835" y="5791200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Directed Graph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997062" y="3753036"/>
            <a:ext cx="3391361" cy="2427665"/>
            <a:chOff x="4800600" y="4346713"/>
            <a:chExt cx="2286000" cy="1845221"/>
          </a:xfrm>
        </p:grpSpPr>
        <p:sp>
          <p:nvSpPr>
            <p:cNvPr id="27" name="Oval 26"/>
            <p:cNvSpPr/>
            <p:nvPr/>
          </p:nvSpPr>
          <p:spPr>
            <a:xfrm>
              <a:off x="5638800" y="44991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6155634" y="4885866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486400" y="5194852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586331" y="52611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6420678" y="43467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4800600" y="4956313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2" idx="7"/>
              <a:endCxn id="27" idx="2"/>
            </p:cNvCxnSpPr>
            <p:nvPr/>
          </p:nvCxnSpPr>
          <p:spPr>
            <a:xfrm flipV="1">
              <a:off x="5060763" y="4651513"/>
              <a:ext cx="578037" cy="3494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32" idx="5"/>
              <a:endCxn id="29" idx="2"/>
            </p:cNvCxnSpPr>
            <p:nvPr/>
          </p:nvCxnSpPr>
          <p:spPr>
            <a:xfrm>
              <a:off x="5060763" y="5216476"/>
              <a:ext cx="425637" cy="1307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8" idx="7"/>
              <a:endCxn id="31" idx="4"/>
            </p:cNvCxnSpPr>
            <p:nvPr/>
          </p:nvCxnSpPr>
          <p:spPr>
            <a:xfrm flipV="1">
              <a:off x="6415797" y="4651513"/>
              <a:ext cx="157281" cy="278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7" idx="6"/>
              <a:endCxn id="31" idx="2"/>
            </p:cNvCxnSpPr>
            <p:nvPr/>
          </p:nvCxnSpPr>
          <p:spPr>
            <a:xfrm flipV="1">
              <a:off x="5943600" y="4499113"/>
              <a:ext cx="477078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27" idx="4"/>
              <a:endCxn id="29" idx="6"/>
            </p:cNvCxnSpPr>
            <p:nvPr/>
          </p:nvCxnSpPr>
          <p:spPr>
            <a:xfrm>
              <a:off x="5791200" y="4803913"/>
              <a:ext cx="0" cy="5433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27" idx="5"/>
              <a:endCxn id="28" idx="2"/>
            </p:cNvCxnSpPr>
            <p:nvPr/>
          </p:nvCxnSpPr>
          <p:spPr>
            <a:xfrm>
              <a:off x="5898963" y="4759276"/>
              <a:ext cx="256671" cy="278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9" idx="6"/>
              <a:endCxn id="30" idx="2"/>
            </p:cNvCxnSpPr>
            <p:nvPr/>
          </p:nvCxnSpPr>
          <p:spPr>
            <a:xfrm>
              <a:off x="5791200" y="5347252"/>
              <a:ext cx="795131" cy="662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1" idx="4"/>
              <a:endCxn id="30" idx="1"/>
            </p:cNvCxnSpPr>
            <p:nvPr/>
          </p:nvCxnSpPr>
          <p:spPr>
            <a:xfrm>
              <a:off x="6573078" y="4651513"/>
              <a:ext cx="57890" cy="6542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128591" y="5822602"/>
              <a:ext cx="195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Undirected 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45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Traversing Graph/Tree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Preorder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Visit the </a:t>
            </a:r>
            <a:r>
              <a:rPr lang="en-US" b="1" dirty="0"/>
              <a:t>root</a:t>
            </a:r>
            <a:r>
              <a:rPr lang="en-US" dirty="0"/>
              <a:t>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left sub tree </a:t>
            </a:r>
            <a:r>
              <a:rPr lang="en-US" dirty="0"/>
              <a:t>in preorder.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right sub tree </a:t>
            </a:r>
            <a:r>
              <a:rPr lang="en-US" dirty="0"/>
              <a:t>in preorder.</a:t>
            </a:r>
          </a:p>
          <a:p>
            <a:r>
              <a:rPr lang="en-US" b="1" dirty="0"/>
              <a:t>In order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left sub tree </a:t>
            </a:r>
            <a:r>
              <a:rPr lang="en-US" dirty="0"/>
              <a:t>in in order.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Visit the </a:t>
            </a:r>
            <a:r>
              <a:rPr lang="en-US" b="1" dirty="0"/>
              <a:t>root</a:t>
            </a:r>
            <a:r>
              <a:rPr lang="en-US" dirty="0"/>
              <a:t>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right sub tree </a:t>
            </a:r>
            <a:r>
              <a:rPr lang="en-US" dirty="0"/>
              <a:t>in in order.</a:t>
            </a:r>
          </a:p>
          <a:p>
            <a:r>
              <a:rPr lang="en-US" b="1" dirty="0"/>
              <a:t>Post order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left sub tree </a:t>
            </a:r>
            <a:r>
              <a:rPr lang="en-US" dirty="0"/>
              <a:t>in post order.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Traverse the </a:t>
            </a:r>
            <a:r>
              <a:rPr lang="en-US" b="1" dirty="0"/>
              <a:t>right sub tree </a:t>
            </a:r>
            <a:r>
              <a:rPr lang="en-US" dirty="0"/>
              <a:t>in post order.</a:t>
            </a:r>
          </a:p>
          <a:p>
            <a:pPr marL="808038" indent="-450850">
              <a:buFont typeface="+mj-lt"/>
              <a:buAutoNum type="romanLcPeriod"/>
            </a:pPr>
            <a:r>
              <a:rPr lang="en-US" dirty="0"/>
              <a:t>Visit the </a:t>
            </a:r>
            <a:r>
              <a:rPr lang="en-US" b="1" dirty="0"/>
              <a:t>root.</a:t>
            </a:r>
          </a:p>
        </p:txBody>
      </p:sp>
    </p:spTree>
    <p:extLst>
      <p:ext uri="{BB962C8B-B14F-4D97-AF65-F5344CB8AC3E}">
        <p14:creationId xmlns:p14="http://schemas.microsoft.com/office/powerpoint/2010/main" val="200897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Depth-First Search / Traversal</a:t>
            </a:r>
          </a:p>
        </p:txBody>
      </p:sp>
      <p:sp>
        <p:nvSpPr>
          <p:cNvPr id="4" name="Oval 3"/>
          <p:cNvSpPr/>
          <p:nvPr/>
        </p:nvSpPr>
        <p:spPr>
          <a:xfrm>
            <a:off x="1348894" y="102172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1348894" y="209897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196766" y="21024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348894" y="31769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6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196766" y="31804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9" name="Oval 8"/>
          <p:cNvSpPr/>
          <p:nvPr/>
        </p:nvSpPr>
        <p:spPr>
          <a:xfrm>
            <a:off x="2495236" y="21024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10" name="Oval 9"/>
          <p:cNvSpPr/>
          <p:nvPr/>
        </p:nvSpPr>
        <p:spPr>
          <a:xfrm>
            <a:off x="3647364" y="31769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8</a:t>
            </a:r>
            <a:endParaRPr lang="en-IN" b="1" dirty="0"/>
          </a:p>
        </p:txBody>
      </p:sp>
      <p:sp>
        <p:nvSpPr>
          <p:cNvPr id="11" name="Oval 10"/>
          <p:cNvSpPr/>
          <p:nvPr/>
        </p:nvSpPr>
        <p:spPr>
          <a:xfrm>
            <a:off x="2495236" y="31804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</a:t>
            </a:r>
            <a:endParaRPr lang="en-IN" b="1" dirty="0"/>
          </a:p>
        </p:txBody>
      </p:sp>
      <p:cxnSp>
        <p:nvCxnSpPr>
          <p:cNvPr id="15" name="Straight Connector 14"/>
          <p:cNvCxnSpPr>
            <a:stCxn id="4" idx="4"/>
            <a:endCxn id="5" idx="0"/>
          </p:cNvCxnSpPr>
          <p:nvPr/>
        </p:nvCxnSpPr>
        <p:spPr>
          <a:xfrm>
            <a:off x="1618894" y="1561729"/>
            <a:ext cx="0" cy="537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0"/>
            <a:endCxn id="4" idx="2"/>
          </p:cNvCxnSpPr>
          <p:nvPr/>
        </p:nvCxnSpPr>
        <p:spPr>
          <a:xfrm flipV="1">
            <a:off x="466766" y="1291729"/>
            <a:ext cx="882128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" idx="6"/>
            <a:endCxn id="9" idx="0"/>
          </p:cNvCxnSpPr>
          <p:nvPr/>
        </p:nvCxnSpPr>
        <p:spPr>
          <a:xfrm>
            <a:off x="1888894" y="1291729"/>
            <a:ext cx="876342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5" idx="4"/>
            <a:endCxn id="7" idx="0"/>
          </p:cNvCxnSpPr>
          <p:nvPr/>
        </p:nvCxnSpPr>
        <p:spPr>
          <a:xfrm>
            <a:off x="1618894" y="2638979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6" idx="4"/>
            <a:endCxn id="8" idx="0"/>
          </p:cNvCxnSpPr>
          <p:nvPr/>
        </p:nvCxnSpPr>
        <p:spPr>
          <a:xfrm>
            <a:off x="466766" y="26424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6" idx="5"/>
            <a:endCxn id="7" idx="1"/>
          </p:cNvCxnSpPr>
          <p:nvPr/>
        </p:nvCxnSpPr>
        <p:spPr>
          <a:xfrm>
            <a:off x="657685" y="2563391"/>
            <a:ext cx="770290" cy="6926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6" idx="6"/>
            <a:endCxn id="5" idx="2"/>
          </p:cNvCxnSpPr>
          <p:nvPr/>
        </p:nvCxnSpPr>
        <p:spPr>
          <a:xfrm flipV="1">
            <a:off x="736766" y="2368979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8" idx="6"/>
            <a:endCxn id="7" idx="2"/>
          </p:cNvCxnSpPr>
          <p:nvPr/>
        </p:nvCxnSpPr>
        <p:spPr>
          <a:xfrm flipV="1">
            <a:off x="736766" y="34469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6"/>
            <a:endCxn id="10" idx="2"/>
          </p:cNvCxnSpPr>
          <p:nvPr/>
        </p:nvCxnSpPr>
        <p:spPr>
          <a:xfrm flipV="1">
            <a:off x="3035236" y="34469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9" idx="4"/>
            <a:endCxn id="11" idx="0"/>
          </p:cNvCxnSpPr>
          <p:nvPr/>
        </p:nvCxnSpPr>
        <p:spPr>
          <a:xfrm>
            <a:off x="2765236" y="26424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9" idx="6"/>
            <a:endCxn id="10" idx="0"/>
          </p:cNvCxnSpPr>
          <p:nvPr/>
        </p:nvCxnSpPr>
        <p:spPr>
          <a:xfrm>
            <a:off x="3035236" y="2372472"/>
            <a:ext cx="882128" cy="804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463988" y="982465"/>
                <a:ext cx="4495057" cy="9194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400" dirty="0"/>
                  <a:t>Select any node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as starting point mark that node as visited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988" y="982465"/>
                <a:ext cx="4495057" cy="919401"/>
              </a:xfrm>
              <a:prstGeom prst="roundRect">
                <a:avLst/>
              </a:prstGeom>
              <a:blipFill>
                <a:blip r:embed="rId2"/>
                <a:stretch>
                  <a:fillRect l="-1084" r="-949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4458443" y="2010472"/>
            <a:ext cx="4495057" cy="17366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Select one of the unvisited adjacent of current node.</a:t>
            </a:r>
          </a:p>
          <a:p>
            <a:pPr algn="just"/>
            <a:r>
              <a:rPr lang="en-IN" sz="2400" dirty="0"/>
              <a:t>Make it new starting point and mark it as visited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430" y="3855724"/>
            <a:ext cx="4495057" cy="13280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If new node has no unvisited adjacent then move to parent and make it starting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43" y="5754301"/>
            <a:ext cx="4675077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Visited :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95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27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2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059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3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491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6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923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55886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4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786014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7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218014" y="578693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8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99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0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8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0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4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5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7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3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0" grpId="1" animBg="1"/>
      <p:bldP spid="1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 – </a:t>
            </a:r>
            <a:r>
              <a:rPr lang="en-US" dirty="0" err="1"/>
              <a:t>Cont</a:t>
            </a:r>
            <a:r>
              <a:rPr lang="en-US" dirty="0"/>
              <a:t>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be an undirected graph all of whose nodes we wish to visit. </a:t>
                </a:r>
              </a:p>
              <a:p>
                <a:pPr lvl="0"/>
                <a:r>
                  <a:rPr lang="en-US" dirty="0"/>
                  <a:t>It is somehow possible </a:t>
                </a:r>
                <a:r>
                  <a:rPr lang="en-US" b="1" dirty="0"/>
                  <a:t>to mark a node </a:t>
                </a:r>
                <a:r>
                  <a:rPr lang="en-US" dirty="0"/>
                  <a:t>to show it has already been visited.</a:t>
                </a:r>
              </a:p>
              <a:p>
                <a:pPr lvl="0"/>
                <a:r>
                  <a:rPr lang="en-US" dirty="0"/>
                  <a:t>To carry out a </a:t>
                </a:r>
                <a:r>
                  <a:rPr lang="en-US" b="1" dirty="0"/>
                  <a:t>depth-first traversal </a:t>
                </a:r>
                <a:r>
                  <a:rPr lang="en-US" dirty="0"/>
                  <a:t>of the graph, choose any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 the starting point.</a:t>
                </a:r>
              </a:p>
              <a:p>
                <a:pPr lvl="0"/>
                <a:r>
                  <a:rPr lang="en-US" dirty="0"/>
                  <a:t>Mark this node to show it has been </a:t>
                </a:r>
                <a:r>
                  <a:rPr lang="en-US" b="1" dirty="0"/>
                  <a:t>visited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If there is a node adjacent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that has not yet been visited, choose this node as a new starting point and call the depth-first search procedure </a:t>
                </a:r>
                <a:r>
                  <a:rPr lang="en-US" b="1" dirty="0"/>
                  <a:t>recursively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When all the nodes adjacent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marked</a:t>
                </a:r>
                <a:r>
                  <a:rPr lang="en-US" dirty="0"/>
                  <a:t>, the search starting at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finished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If there remain any nodes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that </a:t>
                </a:r>
                <a:r>
                  <a:rPr lang="en-US" b="1" dirty="0"/>
                  <a:t>have not been visited</a:t>
                </a:r>
                <a:r>
                  <a:rPr lang="en-US" dirty="0"/>
                  <a:t>, choose any one of them as a </a:t>
                </a:r>
                <a:r>
                  <a:rPr lang="en-US" b="1" dirty="0"/>
                  <a:t>new starting point</a:t>
                </a:r>
                <a:r>
                  <a:rPr lang="en-US" dirty="0"/>
                  <a:t>, and call the procedure again.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1143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16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28000" y="979944"/>
            <a:ext cx="74880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procedure </a:t>
            </a:r>
            <a:r>
              <a:rPr lang="en-US" sz="2400" b="1" dirty="0" err="1">
                <a:latin typeface="Consolas" panose="020B0609020204030204" pitchFamily="49" charset="0"/>
              </a:rPr>
              <a:t>dfsearch</a:t>
            </a:r>
            <a:r>
              <a:rPr lang="en-US" sz="2400" b="1" dirty="0">
                <a:latin typeface="Consolas" panose="020B0609020204030204" pitchFamily="49" charset="0"/>
              </a:rPr>
              <a:t>(G)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each v Є N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do</a:t>
            </a:r>
            <a:r>
              <a:rPr lang="en-US" sz="2400" dirty="0">
                <a:latin typeface="Consolas" panose="020B0609020204030204" pitchFamily="49" charset="0"/>
              </a:rPr>
              <a:t> mark[v] ← not-visited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each v Є N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do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mark[v] ≠ visited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   then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i="1" dirty="0" err="1">
                <a:latin typeface="Consolas" panose="020B0609020204030204" pitchFamily="49" charset="0"/>
              </a:rPr>
              <a:t>dfs</a:t>
            </a:r>
            <a:r>
              <a:rPr lang="en-US" sz="2400" dirty="0">
                <a:latin typeface="Consolas" panose="020B0609020204030204" pitchFamily="49" charset="0"/>
              </a:rPr>
              <a:t>(v)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3370148"/>
            <a:ext cx="7488832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procedure </a:t>
            </a:r>
            <a:r>
              <a:rPr lang="en-US" sz="2400" b="1" dirty="0" err="1">
                <a:latin typeface="Consolas" panose="020B0609020204030204" pitchFamily="49" charset="0"/>
              </a:rPr>
              <a:t>dfs</a:t>
            </a:r>
            <a:r>
              <a:rPr lang="en-US" sz="2400" b="1" dirty="0">
                <a:latin typeface="Consolas" panose="020B0609020204030204" pitchFamily="49" charset="0"/>
              </a:rPr>
              <a:t>(v)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{Node v has not previously been visited}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mark[v] ← visited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for </a:t>
            </a:r>
            <a:r>
              <a:rPr lang="en-US" sz="2400" dirty="0">
                <a:latin typeface="Consolas" panose="020B0609020204030204" pitchFamily="49" charset="0"/>
              </a:rPr>
              <a:t>each node w adjacent to v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do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mark[w] ≠ visited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   then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i="1" dirty="0" err="1">
                <a:latin typeface="Consolas" panose="020B0609020204030204" pitchFamily="49" charset="0"/>
              </a:rPr>
              <a:t>dfs</a:t>
            </a:r>
            <a:r>
              <a:rPr lang="en-US" sz="2400" dirty="0">
                <a:latin typeface="Consolas" panose="020B0609020204030204" pitchFamily="49" charset="0"/>
              </a:rPr>
              <a:t>(w)</a:t>
            </a:r>
          </a:p>
        </p:txBody>
      </p:sp>
    </p:spTree>
    <p:extLst>
      <p:ext uri="{BB962C8B-B14F-4D97-AF65-F5344CB8AC3E}">
        <p14:creationId xmlns:p14="http://schemas.microsoft.com/office/powerpoint/2010/main" val="214195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6269" y="757731"/>
            <a:ext cx="91502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(1)         Initial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(2)       recursive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(3)     recursive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  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(6)   recursive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    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(5) recursive call; progress is blocked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(4)       a neighbour of node1 has not been visited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(7)     recursive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      </a:t>
            </a:r>
            <a:r>
              <a:rPr lang="en-IN" sz="2200" dirty="0" err="1">
                <a:latin typeface="Consolas" panose="020B0609020204030204" pitchFamily="49" charset="0"/>
              </a:rPr>
              <a:t>dfs</a:t>
            </a:r>
            <a:r>
              <a:rPr lang="en-IN" sz="2200" dirty="0">
                <a:latin typeface="Consolas" panose="020B0609020204030204" pitchFamily="49" charset="0"/>
              </a:rPr>
              <a:t>(8)   recursive call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Consolas" panose="020B0609020204030204" pitchFamily="49" charset="0"/>
              </a:rPr>
              <a:t>There are no more nodes to visit</a:t>
            </a:r>
          </a:p>
        </p:txBody>
      </p:sp>
      <p:sp>
        <p:nvSpPr>
          <p:cNvPr id="50" name="Oval 49"/>
          <p:cNvSpPr/>
          <p:nvPr/>
        </p:nvSpPr>
        <p:spPr>
          <a:xfrm>
            <a:off x="1302754" y="389252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52" name="Oval 51"/>
          <p:cNvSpPr/>
          <p:nvPr/>
        </p:nvSpPr>
        <p:spPr>
          <a:xfrm>
            <a:off x="1302754" y="496977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53" name="Oval 52"/>
          <p:cNvSpPr/>
          <p:nvPr/>
        </p:nvSpPr>
        <p:spPr>
          <a:xfrm>
            <a:off x="150626" y="49732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</a:p>
        </p:txBody>
      </p:sp>
      <p:sp>
        <p:nvSpPr>
          <p:cNvPr id="54" name="Oval 53"/>
          <p:cNvSpPr/>
          <p:nvPr/>
        </p:nvSpPr>
        <p:spPr>
          <a:xfrm>
            <a:off x="1302754" y="60477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6</a:t>
            </a:r>
            <a:endParaRPr lang="en-IN" b="1" dirty="0"/>
          </a:p>
        </p:txBody>
      </p:sp>
      <p:sp>
        <p:nvSpPr>
          <p:cNvPr id="56" name="Oval 55"/>
          <p:cNvSpPr/>
          <p:nvPr/>
        </p:nvSpPr>
        <p:spPr>
          <a:xfrm>
            <a:off x="150626" y="60512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57" name="Oval 56"/>
          <p:cNvSpPr/>
          <p:nvPr/>
        </p:nvSpPr>
        <p:spPr>
          <a:xfrm>
            <a:off x="2449096" y="49732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58" name="Oval 57"/>
          <p:cNvSpPr/>
          <p:nvPr/>
        </p:nvSpPr>
        <p:spPr>
          <a:xfrm>
            <a:off x="3601224" y="60477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8</a:t>
            </a:r>
            <a:endParaRPr lang="en-IN" b="1" dirty="0"/>
          </a:p>
        </p:txBody>
      </p:sp>
      <p:sp>
        <p:nvSpPr>
          <p:cNvPr id="59" name="Oval 58"/>
          <p:cNvSpPr/>
          <p:nvPr/>
        </p:nvSpPr>
        <p:spPr>
          <a:xfrm>
            <a:off x="2449096" y="60512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</a:t>
            </a:r>
            <a:endParaRPr lang="en-IN" b="1" dirty="0"/>
          </a:p>
        </p:txBody>
      </p:sp>
      <p:cxnSp>
        <p:nvCxnSpPr>
          <p:cNvPr id="60" name="Straight Connector 59"/>
          <p:cNvCxnSpPr>
            <a:stCxn id="50" idx="4"/>
            <a:endCxn id="52" idx="0"/>
          </p:cNvCxnSpPr>
          <p:nvPr/>
        </p:nvCxnSpPr>
        <p:spPr>
          <a:xfrm>
            <a:off x="1572754" y="4432529"/>
            <a:ext cx="0" cy="537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3" idx="0"/>
            <a:endCxn id="50" idx="2"/>
          </p:cNvCxnSpPr>
          <p:nvPr/>
        </p:nvCxnSpPr>
        <p:spPr>
          <a:xfrm flipV="1">
            <a:off x="420626" y="4162529"/>
            <a:ext cx="882128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0" idx="6"/>
            <a:endCxn id="57" idx="0"/>
          </p:cNvCxnSpPr>
          <p:nvPr/>
        </p:nvCxnSpPr>
        <p:spPr>
          <a:xfrm>
            <a:off x="1842754" y="4162529"/>
            <a:ext cx="876342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2" idx="4"/>
            <a:endCxn id="54" idx="0"/>
          </p:cNvCxnSpPr>
          <p:nvPr/>
        </p:nvCxnSpPr>
        <p:spPr>
          <a:xfrm>
            <a:off x="1572754" y="5509779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53" idx="4"/>
            <a:endCxn id="56" idx="0"/>
          </p:cNvCxnSpPr>
          <p:nvPr/>
        </p:nvCxnSpPr>
        <p:spPr>
          <a:xfrm>
            <a:off x="420626" y="55132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3" idx="5"/>
            <a:endCxn id="54" idx="1"/>
          </p:cNvCxnSpPr>
          <p:nvPr/>
        </p:nvCxnSpPr>
        <p:spPr>
          <a:xfrm>
            <a:off x="611545" y="5434191"/>
            <a:ext cx="770290" cy="6926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53" idx="6"/>
            <a:endCxn id="52" idx="2"/>
          </p:cNvCxnSpPr>
          <p:nvPr/>
        </p:nvCxnSpPr>
        <p:spPr>
          <a:xfrm flipV="1">
            <a:off x="690626" y="5239779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56" idx="6"/>
            <a:endCxn id="54" idx="2"/>
          </p:cNvCxnSpPr>
          <p:nvPr/>
        </p:nvCxnSpPr>
        <p:spPr>
          <a:xfrm flipV="1">
            <a:off x="690626" y="63177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59" idx="6"/>
            <a:endCxn id="58" idx="2"/>
          </p:cNvCxnSpPr>
          <p:nvPr/>
        </p:nvCxnSpPr>
        <p:spPr>
          <a:xfrm flipV="1">
            <a:off x="2989096" y="63177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57" idx="4"/>
            <a:endCxn id="59" idx="0"/>
          </p:cNvCxnSpPr>
          <p:nvPr/>
        </p:nvCxnSpPr>
        <p:spPr>
          <a:xfrm>
            <a:off x="2719096" y="55132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57" idx="6"/>
            <a:endCxn id="58" idx="0"/>
          </p:cNvCxnSpPr>
          <p:nvPr/>
        </p:nvCxnSpPr>
        <p:spPr>
          <a:xfrm>
            <a:off x="2989096" y="5243272"/>
            <a:ext cx="882128" cy="804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381500" y="4976501"/>
            <a:ext cx="4657308" cy="163121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procedure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dfs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(v)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mark[v] ← visited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for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each node w adjacent to v 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    do if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mark[w] ≠ visited 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then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dfs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(w)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190500" y="106363"/>
            <a:ext cx="8595360" cy="6400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Depth-First Search - Algorithm</a:t>
            </a:r>
          </a:p>
        </p:txBody>
      </p:sp>
    </p:spTree>
    <p:extLst>
      <p:ext uri="{BB962C8B-B14F-4D97-AF65-F5344CB8AC3E}">
        <p14:creationId xmlns:p14="http://schemas.microsoft.com/office/powerpoint/2010/main" val="217683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9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Breadth First Search / Traversal</a:t>
            </a:r>
          </a:p>
        </p:txBody>
      </p:sp>
      <p:sp>
        <p:nvSpPr>
          <p:cNvPr id="4" name="Oval 3"/>
          <p:cNvSpPr/>
          <p:nvPr/>
        </p:nvSpPr>
        <p:spPr>
          <a:xfrm>
            <a:off x="1348894" y="102172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1348894" y="209897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196766" y="21024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348894" y="31769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6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196766" y="31804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9" name="Oval 8"/>
          <p:cNvSpPr/>
          <p:nvPr/>
        </p:nvSpPr>
        <p:spPr>
          <a:xfrm>
            <a:off x="2495236" y="21024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10" name="Oval 9"/>
          <p:cNvSpPr/>
          <p:nvPr/>
        </p:nvSpPr>
        <p:spPr>
          <a:xfrm>
            <a:off x="3647364" y="317697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8</a:t>
            </a:r>
            <a:endParaRPr lang="en-IN" b="1" dirty="0"/>
          </a:p>
        </p:txBody>
      </p:sp>
      <p:sp>
        <p:nvSpPr>
          <p:cNvPr id="11" name="Oval 10"/>
          <p:cNvSpPr/>
          <p:nvPr/>
        </p:nvSpPr>
        <p:spPr>
          <a:xfrm>
            <a:off x="2495236" y="31804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</a:t>
            </a:r>
            <a:endParaRPr lang="en-IN" b="1" dirty="0"/>
          </a:p>
        </p:txBody>
      </p:sp>
      <p:cxnSp>
        <p:nvCxnSpPr>
          <p:cNvPr id="12" name="Straight Connector 11"/>
          <p:cNvCxnSpPr>
            <a:stCxn id="4" idx="4"/>
            <a:endCxn id="5" idx="0"/>
          </p:cNvCxnSpPr>
          <p:nvPr/>
        </p:nvCxnSpPr>
        <p:spPr>
          <a:xfrm>
            <a:off x="1618894" y="1561729"/>
            <a:ext cx="0" cy="537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0"/>
            <a:endCxn id="4" idx="2"/>
          </p:cNvCxnSpPr>
          <p:nvPr/>
        </p:nvCxnSpPr>
        <p:spPr>
          <a:xfrm flipV="1">
            <a:off x="466766" y="1291729"/>
            <a:ext cx="882128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6"/>
            <a:endCxn id="9" idx="0"/>
          </p:cNvCxnSpPr>
          <p:nvPr/>
        </p:nvCxnSpPr>
        <p:spPr>
          <a:xfrm>
            <a:off x="1888894" y="1291729"/>
            <a:ext cx="876342" cy="8107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4"/>
            <a:endCxn id="7" idx="0"/>
          </p:cNvCxnSpPr>
          <p:nvPr/>
        </p:nvCxnSpPr>
        <p:spPr>
          <a:xfrm>
            <a:off x="1618894" y="2638979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466766" y="26424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5"/>
            <a:endCxn id="7" idx="1"/>
          </p:cNvCxnSpPr>
          <p:nvPr/>
        </p:nvCxnSpPr>
        <p:spPr>
          <a:xfrm>
            <a:off x="657685" y="2563391"/>
            <a:ext cx="770290" cy="6926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6"/>
            <a:endCxn id="5" idx="2"/>
          </p:cNvCxnSpPr>
          <p:nvPr/>
        </p:nvCxnSpPr>
        <p:spPr>
          <a:xfrm flipV="1">
            <a:off x="736766" y="2368979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6"/>
            <a:endCxn id="7" idx="2"/>
          </p:cNvCxnSpPr>
          <p:nvPr/>
        </p:nvCxnSpPr>
        <p:spPr>
          <a:xfrm flipV="1">
            <a:off x="736766" y="34469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6"/>
            <a:endCxn id="10" idx="2"/>
          </p:cNvCxnSpPr>
          <p:nvPr/>
        </p:nvCxnSpPr>
        <p:spPr>
          <a:xfrm flipV="1">
            <a:off x="3035236" y="3446972"/>
            <a:ext cx="612128" cy="3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4"/>
            <a:endCxn id="11" idx="0"/>
          </p:cNvCxnSpPr>
          <p:nvPr/>
        </p:nvCxnSpPr>
        <p:spPr>
          <a:xfrm>
            <a:off x="2765236" y="2642472"/>
            <a:ext cx="0" cy="537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6"/>
            <a:endCxn id="10" idx="0"/>
          </p:cNvCxnSpPr>
          <p:nvPr/>
        </p:nvCxnSpPr>
        <p:spPr>
          <a:xfrm>
            <a:off x="3035236" y="2372472"/>
            <a:ext cx="882128" cy="804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58443" y="957295"/>
            <a:ext cx="4495057" cy="919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Select any node v ∈ N as starting point mark that node as visited.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9791" y="1915730"/>
            <a:ext cx="4495057" cy="919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Enqueue visited v node into queue Q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0028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518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454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7652" y="5871408"/>
            <a:ext cx="12240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Queue 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8721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8211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72147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83094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2584" y="5243954"/>
            <a:ext cx="57606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53332" y="5133703"/>
            <a:ext cx="496855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3935" y="5819875"/>
            <a:ext cx="496855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457364" y="2882175"/>
            <a:ext cx="4495057" cy="21452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Dequeue a node from the front of queue.</a:t>
            </a:r>
          </a:p>
          <a:p>
            <a:pPr algn="just"/>
            <a:r>
              <a:rPr lang="en-IN" sz="2400" dirty="0"/>
              <a:t>Find it’s all unvisited adjacent nodes, mark as visited, enqueue into queue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2187" y="5886634"/>
            <a:ext cx="4675077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Visited :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1130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23130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2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55130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3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542886" y="592602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6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19130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83008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4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981258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7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413258" y="591926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8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93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7" presetClass="emph" presetSubtype="0" repeatCount="indefinite" fill="remov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5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7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7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2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3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2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8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9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3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0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23" grpId="0" animBg="1"/>
      <p:bldP spid="25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42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6850" y="990600"/>
            <a:ext cx="8806650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procedure </a:t>
            </a:r>
            <a:r>
              <a:rPr lang="en-US" sz="2400" b="1" dirty="0" err="1">
                <a:latin typeface="Consolas" panose="020B0609020204030204" pitchFamily="49" charset="0"/>
              </a:rPr>
              <a:t>bfs</a:t>
            </a:r>
            <a:r>
              <a:rPr lang="en-US" sz="2400" b="1" dirty="0">
                <a:latin typeface="Consolas" panose="020B0609020204030204" pitchFamily="49" charset="0"/>
              </a:rPr>
              <a:t>(v)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IN" sz="2400" dirty="0">
                <a:latin typeface="Consolas" panose="020B0609020204030204" pitchFamily="49" charset="0"/>
              </a:rPr>
              <a:t>   </a:t>
            </a:r>
            <a:r>
              <a:rPr lang="en-US" sz="2400" dirty="0">
                <a:latin typeface="Consolas" panose="020B0609020204030204" pitchFamily="49" charset="0"/>
              </a:rPr>
              <a:t>Q ← empty-queue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mark[v] ← visited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enqueue</a:t>
            </a:r>
            <a:r>
              <a:rPr lang="en-US" sz="2400" dirty="0">
                <a:latin typeface="Consolas" panose="020B0609020204030204" pitchFamily="49" charset="0"/>
              </a:rPr>
              <a:t> v into Q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while</a:t>
            </a:r>
            <a:r>
              <a:rPr lang="en-US" sz="2400" dirty="0">
                <a:latin typeface="Consolas" panose="020B0609020204030204" pitchFamily="49" charset="0"/>
              </a:rPr>
              <a:t> Q is not empty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do </a:t>
            </a:r>
            <a:r>
              <a:rPr lang="en-US" sz="2400" dirty="0">
                <a:latin typeface="Consolas" panose="020B0609020204030204" pitchFamily="49" charset="0"/>
              </a:rPr>
              <a:t>u ← first(Q)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b="1" dirty="0" err="1">
                <a:latin typeface="Consolas" panose="020B0609020204030204" pitchFamily="49" charset="0"/>
              </a:rPr>
              <a:t>dequeue</a:t>
            </a:r>
            <a:r>
              <a:rPr lang="en-US" sz="2400" dirty="0">
                <a:latin typeface="Consolas" panose="020B0609020204030204" pitchFamily="49" charset="0"/>
              </a:rPr>
              <a:t> u from Q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for each</a:t>
            </a:r>
            <a:r>
              <a:rPr lang="en-US" sz="2400" dirty="0">
                <a:latin typeface="Consolas" panose="020B0609020204030204" pitchFamily="49" charset="0"/>
              </a:rPr>
              <a:t> node w adjacent to u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  do if </a:t>
            </a:r>
            <a:r>
              <a:rPr lang="en-US" sz="2400" dirty="0">
                <a:latin typeface="Consolas" panose="020B0609020204030204" pitchFamily="49" charset="0"/>
              </a:rPr>
              <a:t>mark[w] ≠ visited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     then</a:t>
            </a:r>
            <a:r>
              <a:rPr lang="en-US" sz="2400" dirty="0">
                <a:latin typeface="Consolas" panose="020B0609020204030204" pitchFamily="49" charset="0"/>
              </a:rPr>
              <a:t> mark[w] ← visited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  </a:t>
            </a:r>
            <a:r>
              <a:rPr lang="en-US" sz="2400" b="1" dirty="0">
                <a:latin typeface="Consolas" panose="020B0609020204030204" pitchFamily="49" charset="0"/>
              </a:rPr>
              <a:t>enqueue</a:t>
            </a:r>
            <a:r>
              <a:rPr lang="en-US" sz="2400" dirty="0">
                <a:latin typeface="Consolas" panose="020B0609020204030204" pitchFamily="49" charset="0"/>
              </a:rPr>
              <a:t> w into Q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5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0500" y="995980"/>
            <a:ext cx="8676964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procedure search(G)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each v Є N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do</a:t>
            </a:r>
            <a:r>
              <a:rPr lang="en-US" sz="2400" dirty="0">
                <a:latin typeface="Consolas" panose="020B0609020204030204" pitchFamily="49" charset="0"/>
              </a:rPr>
              <a:t> mark[v] ← not visited</a:t>
            </a:r>
            <a:endParaRPr lang="en-IN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each v Є N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do if </a:t>
            </a:r>
            <a:r>
              <a:rPr lang="en-US" sz="2400" dirty="0">
                <a:latin typeface="Consolas" panose="020B0609020204030204" pitchFamily="49" charset="0"/>
              </a:rPr>
              <a:t>mark[v] ≠ visited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  then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bfs</a:t>
            </a:r>
            <a:r>
              <a:rPr lang="en-US" sz="2400" dirty="0">
                <a:latin typeface="Consolas" panose="020B0609020204030204" pitchFamily="49" charset="0"/>
              </a:rPr>
              <a:t>(v)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11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Traverse Graph using DFS and BFS</a:t>
            </a:r>
          </a:p>
        </p:txBody>
      </p:sp>
      <p:sp>
        <p:nvSpPr>
          <p:cNvPr id="4" name="Oval 3"/>
          <p:cNvSpPr/>
          <p:nvPr/>
        </p:nvSpPr>
        <p:spPr>
          <a:xfrm>
            <a:off x="3627384" y="123275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2727284" y="21688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627384" y="30689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4526596" y="21688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5498704" y="30689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</a:t>
            </a:r>
            <a:endParaRPr lang="en-IN" b="1" dirty="0"/>
          </a:p>
        </p:txBody>
      </p:sp>
      <p:sp>
        <p:nvSpPr>
          <p:cNvPr id="9" name="Oval 8"/>
          <p:cNvSpPr/>
          <p:nvPr/>
        </p:nvSpPr>
        <p:spPr>
          <a:xfrm>
            <a:off x="6259412" y="21688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</a:t>
            </a:r>
            <a:endParaRPr lang="en-IN" b="1" dirty="0"/>
          </a:p>
        </p:txBody>
      </p:sp>
      <p:cxnSp>
        <p:nvCxnSpPr>
          <p:cNvPr id="11" name="Straight Connector 10"/>
          <p:cNvCxnSpPr>
            <a:stCxn id="4" idx="2"/>
            <a:endCxn id="5" idx="0"/>
          </p:cNvCxnSpPr>
          <p:nvPr/>
        </p:nvCxnSpPr>
        <p:spPr>
          <a:xfrm flipH="1">
            <a:off x="2997284" y="1502757"/>
            <a:ext cx="630100" cy="66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4"/>
            <a:endCxn id="6" idx="2"/>
          </p:cNvCxnSpPr>
          <p:nvPr/>
        </p:nvCxnSpPr>
        <p:spPr>
          <a:xfrm>
            <a:off x="2997284" y="2708861"/>
            <a:ext cx="630100" cy="630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4"/>
          </p:cNvCxnSpPr>
          <p:nvPr/>
        </p:nvCxnSpPr>
        <p:spPr>
          <a:xfrm flipV="1">
            <a:off x="4167384" y="2708861"/>
            <a:ext cx="629212" cy="630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6"/>
            <a:endCxn id="7" idx="0"/>
          </p:cNvCxnSpPr>
          <p:nvPr/>
        </p:nvCxnSpPr>
        <p:spPr>
          <a:xfrm>
            <a:off x="4167384" y="1502757"/>
            <a:ext cx="629212" cy="66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5"/>
            <a:endCxn id="8" idx="2"/>
          </p:cNvCxnSpPr>
          <p:nvPr/>
        </p:nvCxnSpPr>
        <p:spPr>
          <a:xfrm>
            <a:off x="4987515" y="2629780"/>
            <a:ext cx="511189" cy="7091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9" idx="4"/>
          </p:cNvCxnSpPr>
          <p:nvPr/>
        </p:nvCxnSpPr>
        <p:spPr>
          <a:xfrm flipV="1">
            <a:off x="6038704" y="2708861"/>
            <a:ext cx="490708" cy="630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7" idx="6"/>
            <a:endCxn id="9" idx="2"/>
          </p:cNvCxnSpPr>
          <p:nvPr/>
        </p:nvCxnSpPr>
        <p:spPr>
          <a:xfrm>
            <a:off x="5066596" y="2438861"/>
            <a:ext cx="119281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47864" y="4070660"/>
            <a:ext cx="2268252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DFS : A B D C E 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352" y="4736765"/>
            <a:ext cx="2268252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BFS : A B C D E F</a:t>
            </a:r>
          </a:p>
        </p:txBody>
      </p:sp>
    </p:spTree>
    <p:extLst>
      <p:ext uri="{BB962C8B-B14F-4D97-AF65-F5344CB8AC3E}">
        <p14:creationId xmlns:p14="http://schemas.microsoft.com/office/powerpoint/2010/main" val="267376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</a:t>
                </a:r>
                <a:r>
                  <a:rPr lang="en-IN" b="1" dirty="0">
                    <a:solidFill>
                      <a:srgbClr val="FF0000"/>
                    </a:solidFill>
                  </a:rPr>
                  <a:t>topological sort </a:t>
                </a:r>
                <a:r>
                  <a:rPr lang="en-IN" dirty="0"/>
                  <a:t>or </a:t>
                </a:r>
                <a:r>
                  <a:rPr lang="en-IN" b="1" dirty="0">
                    <a:solidFill>
                      <a:srgbClr val="FF0000"/>
                    </a:solidFill>
                  </a:rPr>
                  <a:t>topological ordering</a:t>
                </a:r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  <a:r>
                  <a:rPr lang="en-IN" dirty="0"/>
                  <a:t>of a directed acyclic graph is a linear ordering of its vertices such that for every directed edge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IN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from vertex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IN" dirty="0"/>
                  <a:t> to vertex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I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comes before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IN" dirty="0"/>
                  <a:t> in the ordering.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../_images/pan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4301113" y="3889078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 cup mix</a:t>
            </a:r>
          </a:p>
        </p:txBody>
      </p:sp>
      <p:sp>
        <p:nvSpPr>
          <p:cNvPr id="7" name="Oval 6"/>
          <p:cNvSpPr/>
          <p:nvPr/>
        </p:nvSpPr>
        <p:spPr>
          <a:xfrm>
            <a:off x="2536917" y="2865512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¾ cup milk</a:t>
            </a:r>
          </a:p>
        </p:txBody>
      </p:sp>
      <p:sp>
        <p:nvSpPr>
          <p:cNvPr id="8" name="Oval 7"/>
          <p:cNvSpPr/>
          <p:nvPr/>
        </p:nvSpPr>
        <p:spPr>
          <a:xfrm>
            <a:off x="2536917" y="3888392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 egg</a:t>
            </a:r>
          </a:p>
        </p:txBody>
      </p:sp>
      <p:sp>
        <p:nvSpPr>
          <p:cNvPr id="9" name="Oval 8"/>
          <p:cNvSpPr/>
          <p:nvPr/>
        </p:nvSpPr>
        <p:spPr>
          <a:xfrm>
            <a:off x="2536917" y="5105055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 </a:t>
            </a:r>
            <a:r>
              <a:rPr lang="en-IN" sz="2000" dirty="0" err="1"/>
              <a:t>Tbl</a:t>
            </a:r>
            <a:r>
              <a:rPr lang="en-IN" sz="2000" dirty="0"/>
              <a:t> oil</a:t>
            </a:r>
          </a:p>
        </p:txBody>
      </p:sp>
      <p:sp>
        <p:nvSpPr>
          <p:cNvPr id="10" name="Oval 9"/>
          <p:cNvSpPr/>
          <p:nvPr/>
        </p:nvSpPr>
        <p:spPr>
          <a:xfrm>
            <a:off x="5992926" y="2528900"/>
            <a:ext cx="133214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Heat griddle</a:t>
            </a:r>
          </a:p>
        </p:txBody>
      </p:sp>
      <p:sp>
        <p:nvSpPr>
          <p:cNvPr id="11" name="Oval 10"/>
          <p:cNvSpPr/>
          <p:nvPr/>
        </p:nvSpPr>
        <p:spPr>
          <a:xfrm>
            <a:off x="6082936" y="3589239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Pour ¼ cup</a:t>
            </a:r>
          </a:p>
        </p:txBody>
      </p:sp>
      <p:sp>
        <p:nvSpPr>
          <p:cNvPr id="12" name="Oval 11"/>
          <p:cNvSpPr/>
          <p:nvPr/>
        </p:nvSpPr>
        <p:spPr>
          <a:xfrm>
            <a:off x="5805025" y="4676851"/>
            <a:ext cx="1707950" cy="6579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Turn when bubbly</a:t>
            </a:r>
          </a:p>
        </p:txBody>
      </p:sp>
      <p:sp>
        <p:nvSpPr>
          <p:cNvPr id="13" name="Oval 12"/>
          <p:cNvSpPr/>
          <p:nvPr/>
        </p:nvSpPr>
        <p:spPr>
          <a:xfrm>
            <a:off x="6082936" y="5501099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eat</a:t>
            </a:r>
          </a:p>
        </p:txBody>
      </p:sp>
      <p:sp>
        <p:nvSpPr>
          <p:cNvPr id="14" name="Oval 13"/>
          <p:cNvSpPr/>
          <p:nvPr/>
        </p:nvSpPr>
        <p:spPr>
          <a:xfrm>
            <a:off x="4288887" y="5357979"/>
            <a:ext cx="1152128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Heat syrup</a:t>
            </a:r>
          </a:p>
        </p:txBody>
      </p:sp>
      <p:cxnSp>
        <p:nvCxnSpPr>
          <p:cNvPr id="15" name="Straight Arrow Connector 14"/>
          <p:cNvCxnSpPr>
            <a:stCxn id="7" idx="6"/>
            <a:endCxn id="5" idx="1"/>
          </p:cNvCxnSpPr>
          <p:nvPr/>
        </p:nvCxnSpPr>
        <p:spPr>
          <a:xfrm>
            <a:off x="3689045" y="3261556"/>
            <a:ext cx="780793" cy="74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6"/>
            <a:endCxn id="5" idx="2"/>
          </p:cNvCxnSpPr>
          <p:nvPr/>
        </p:nvCxnSpPr>
        <p:spPr>
          <a:xfrm>
            <a:off x="3689045" y="4284436"/>
            <a:ext cx="612068" cy="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6"/>
            <a:endCxn id="5" idx="3"/>
          </p:cNvCxnSpPr>
          <p:nvPr/>
        </p:nvCxnSpPr>
        <p:spPr>
          <a:xfrm flipV="1">
            <a:off x="3689045" y="4565167"/>
            <a:ext cx="780793" cy="935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4"/>
            <a:endCxn id="14" idx="0"/>
          </p:cNvCxnSpPr>
          <p:nvPr/>
        </p:nvCxnSpPr>
        <p:spPr>
          <a:xfrm flipH="1">
            <a:off x="4864951" y="4681166"/>
            <a:ext cx="12226" cy="676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4"/>
            <a:endCxn id="11" idx="0"/>
          </p:cNvCxnSpPr>
          <p:nvPr/>
        </p:nvCxnSpPr>
        <p:spPr>
          <a:xfrm>
            <a:off x="6659000" y="3320988"/>
            <a:ext cx="0" cy="268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1" idx="4"/>
            <a:endCxn id="12" idx="0"/>
          </p:cNvCxnSpPr>
          <p:nvPr/>
        </p:nvCxnSpPr>
        <p:spPr>
          <a:xfrm>
            <a:off x="6659000" y="4381327"/>
            <a:ext cx="0" cy="29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4"/>
            <a:endCxn id="13" idx="0"/>
          </p:cNvCxnSpPr>
          <p:nvPr/>
        </p:nvCxnSpPr>
        <p:spPr>
          <a:xfrm>
            <a:off x="6659000" y="5334795"/>
            <a:ext cx="0" cy="16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6"/>
            <a:endCxn id="13" idx="2"/>
          </p:cNvCxnSpPr>
          <p:nvPr/>
        </p:nvCxnSpPr>
        <p:spPr>
          <a:xfrm>
            <a:off x="5441015" y="5754023"/>
            <a:ext cx="641921" cy="143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11" idx="2"/>
          </p:cNvCxnSpPr>
          <p:nvPr/>
        </p:nvCxnSpPr>
        <p:spPr>
          <a:xfrm flipV="1">
            <a:off x="5453241" y="3985283"/>
            <a:ext cx="629695" cy="299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67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Sorting -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201893" y="188082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1331640" y="104478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1331640" y="278306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2879812" y="104478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2876710" y="278306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</a:t>
            </a:r>
            <a:endParaRPr lang="en-IN" b="1" dirty="0"/>
          </a:p>
        </p:txBody>
      </p:sp>
      <p:sp>
        <p:nvSpPr>
          <p:cNvPr id="9" name="Oval 8"/>
          <p:cNvSpPr/>
          <p:nvPr/>
        </p:nvSpPr>
        <p:spPr>
          <a:xfrm>
            <a:off x="3652015" y="191392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</a:t>
            </a:r>
            <a:endParaRPr lang="en-IN" b="1" dirty="0"/>
          </a:p>
        </p:txBody>
      </p:sp>
      <p:cxnSp>
        <p:nvCxnSpPr>
          <p:cNvPr id="11" name="Straight Arrow Connector 10"/>
          <p:cNvCxnSpPr>
            <a:stCxn id="4" idx="0"/>
            <a:endCxn id="5" idx="2"/>
          </p:cNvCxnSpPr>
          <p:nvPr/>
        </p:nvCxnSpPr>
        <p:spPr>
          <a:xfrm flipV="1">
            <a:off x="471893" y="1314780"/>
            <a:ext cx="859747" cy="56604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4"/>
            <a:endCxn id="6" idx="2"/>
          </p:cNvCxnSpPr>
          <p:nvPr/>
        </p:nvCxnSpPr>
        <p:spPr>
          <a:xfrm>
            <a:off x="471893" y="2420828"/>
            <a:ext cx="859747" cy="63223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6"/>
            <a:endCxn id="7" idx="2"/>
          </p:cNvCxnSpPr>
          <p:nvPr/>
        </p:nvCxnSpPr>
        <p:spPr>
          <a:xfrm>
            <a:off x="1871640" y="1314780"/>
            <a:ext cx="100817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6"/>
            <a:endCxn id="8" idx="2"/>
          </p:cNvCxnSpPr>
          <p:nvPr/>
        </p:nvCxnSpPr>
        <p:spPr>
          <a:xfrm>
            <a:off x="1871640" y="3053064"/>
            <a:ext cx="1005070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4"/>
            <a:endCxn id="8" idx="0"/>
          </p:cNvCxnSpPr>
          <p:nvPr/>
        </p:nvCxnSpPr>
        <p:spPr>
          <a:xfrm flipH="1">
            <a:off x="3146710" y="1584780"/>
            <a:ext cx="3102" cy="119828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3"/>
            <a:endCxn id="6" idx="7"/>
          </p:cNvCxnSpPr>
          <p:nvPr/>
        </p:nvCxnSpPr>
        <p:spPr>
          <a:xfrm flipH="1">
            <a:off x="1792559" y="1505699"/>
            <a:ext cx="1166334" cy="135644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8443" y="957295"/>
            <a:ext cx="4495057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Identify nodes having </a:t>
            </a:r>
            <a:r>
              <a:rPr lang="en-IN" sz="2400" dirty="0">
                <a:solidFill>
                  <a:srgbClr val="FF0000"/>
                </a:solidFill>
              </a:rPr>
              <a:t>in degree </a:t>
            </a:r>
            <a:r>
              <a:rPr lang="en-IN" sz="2400" dirty="0"/>
              <a:t>‘0’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8442" y="1631706"/>
            <a:ext cx="4495057" cy="919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Select a node and delete it with its edges then add node to 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1041361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  <a:endParaRPr lang="en-IN" b="1" dirty="0"/>
          </a:p>
        </p:txBody>
      </p:sp>
      <p:sp>
        <p:nvSpPr>
          <p:cNvPr id="28" name="Oval 27"/>
          <p:cNvSpPr/>
          <p:nvPr/>
        </p:nvSpPr>
        <p:spPr>
          <a:xfrm>
            <a:off x="2281235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  <a:endParaRPr lang="en-IN" b="1" dirty="0"/>
          </a:p>
        </p:txBody>
      </p:sp>
      <p:sp>
        <p:nvSpPr>
          <p:cNvPr id="29" name="Oval 28"/>
          <p:cNvSpPr/>
          <p:nvPr/>
        </p:nvSpPr>
        <p:spPr>
          <a:xfrm>
            <a:off x="3506945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  <a:endParaRPr lang="en-IN" b="1" dirty="0"/>
          </a:p>
        </p:txBody>
      </p:sp>
      <p:sp>
        <p:nvSpPr>
          <p:cNvPr id="30" name="Oval 29"/>
          <p:cNvSpPr/>
          <p:nvPr/>
        </p:nvSpPr>
        <p:spPr>
          <a:xfrm>
            <a:off x="4746819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</a:t>
            </a:r>
            <a:endParaRPr lang="en-IN" b="1" dirty="0"/>
          </a:p>
        </p:txBody>
      </p:sp>
      <p:sp>
        <p:nvSpPr>
          <p:cNvPr id="31" name="Oval 30"/>
          <p:cNvSpPr/>
          <p:nvPr/>
        </p:nvSpPr>
        <p:spPr>
          <a:xfrm>
            <a:off x="5960418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</a:t>
            </a:r>
            <a:endParaRPr lang="en-IN" b="1" dirty="0"/>
          </a:p>
        </p:txBody>
      </p:sp>
      <p:sp>
        <p:nvSpPr>
          <p:cNvPr id="32" name="Oval 31"/>
          <p:cNvSpPr/>
          <p:nvPr/>
        </p:nvSpPr>
        <p:spPr>
          <a:xfrm>
            <a:off x="7200292" y="510775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</a:t>
            </a:r>
            <a:endParaRPr lang="en-IN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3602" y="4257092"/>
            <a:ext cx="123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Output: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27" idx="6"/>
            <a:endCxn id="28" idx="2"/>
          </p:cNvCxnSpPr>
          <p:nvPr/>
        </p:nvCxnSpPr>
        <p:spPr>
          <a:xfrm>
            <a:off x="1581361" y="5377755"/>
            <a:ext cx="699874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7" idx="4"/>
            <a:endCxn id="30" idx="4"/>
          </p:cNvCxnSpPr>
          <p:nvPr/>
        </p:nvCxnSpPr>
        <p:spPr>
          <a:xfrm rot="16200000" flipH="1">
            <a:off x="3164090" y="3795026"/>
            <a:ext cx="12700" cy="3705458"/>
          </a:xfrm>
          <a:prstGeom prst="curvedConnector3">
            <a:avLst>
              <a:gd name="adj1" fmla="val 4613244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6"/>
            <a:endCxn id="29" idx="2"/>
          </p:cNvCxnSpPr>
          <p:nvPr/>
        </p:nvCxnSpPr>
        <p:spPr>
          <a:xfrm>
            <a:off x="2821235" y="5377755"/>
            <a:ext cx="68571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9" idx="6"/>
            <a:endCxn id="30" idx="2"/>
          </p:cNvCxnSpPr>
          <p:nvPr/>
        </p:nvCxnSpPr>
        <p:spPr>
          <a:xfrm>
            <a:off x="4046945" y="5377755"/>
            <a:ext cx="699874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29" idx="0"/>
            <a:endCxn id="31" idx="0"/>
          </p:cNvCxnSpPr>
          <p:nvPr/>
        </p:nvCxnSpPr>
        <p:spPr>
          <a:xfrm rot="5400000" flipH="1" flipV="1">
            <a:off x="5003681" y="3881019"/>
            <a:ext cx="12700" cy="2453473"/>
          </a:xfrm>
          <a:prstGeom prst="curvedConnector3">
            <a:avLst>
              <a:gd name="adj1" fmla="val 318275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0" idx="6"/>
            <a:endCxn id="31" idx="2"/>
          </p:cNvCxnSpPr>
          <p:nvPr/>
        </p:nvCxnSpPr>
        <p:spPr>
          <a:xfrm>
            <a:off x="5286819" y="5377755"/>
            <a:ext cx="673599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29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4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5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repeatCount="indefinite" fill="remove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7" presetClass="emph" presetSubtype="0" repeatCount="indefinite" fill="remove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9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Sorting -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2397307" y="211810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3261403" y="121800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3261403" y="309021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4233511" y="211810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0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5277627" y="121800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9" name="Oval 8"/>
          <p:cNvSpPr/>
          <p:nvPr/>
        </p:nvSpPr>
        <p:spPr>
          <a:xfrm>
            <a:off x="6285739" y="211810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cxnSp>
        <p:nvCxnSpPr>
          <p:cNvPr id="11" name="Straight Arrow Connector 10"/>
          <p:cNvCxnSpPr>
            <a:stCxn id="5" idx="2"/>
            <a:endCxn id="4" idx="0"/>
          </p:cNvCxnSpPr>
          <p:nvPr/>
        </p:nvCxnSpPr>
        <p:spPr>
          <a:xfrm flipH="1">
            <a:off x="2667307" y="1488003"/>
            <a:ext cx="594096" cy="63010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6"/>
            <a:endCxn id="7" idx="1"/>
          </p:cNvCxnSpPr>
          <p:nvPr/>
        </p:nvCxnSpPr>
        <p:spPr>
          <a:xfrm>
            <a:off x="3801403" y="1488003"/>
            <a:ext cx="511189" cy="70918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4"/>
            <a:endCxn id="6" idx="2"/>
          </p:cNvCxnSpPr>
          <p:nvPr/>
        </p:nvCxnSpPr>
        <p:spPr>
          <a:xfrm>
            <a:off x="2667307" y="2658103"/>
            <a:ext cx="594096" cy="7021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9" idx="3"/>
          </p:cNvCxnSpPr>
          <p:nvPr/>
        </p:nvCxnSpPr>
        <p:spPr>
          <a:xfrm flipV="1">
            <a:off x="3801403" y="2579022"/>
            <a:ext cx="2563417" cy="7811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2"/>
            <a:endCxn id="7" idx="7"/>
          </p:cNvCxnSpPr>
          <p:nvPr/>
        </p:nvCxnSpPr>
        <p:spPr>
          <a:xfrm flipH="1">
            <a:off x="4694430" y="1488003"/>
            <a:ext cx="583197" cy="70918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6"/>
            <a:endCxn id="9" idx="0"/>
          </p:cNvCxnSpPr>
          <p:nvPr/>
        </p:nvCxnSpPr>
        <p:spPr>
          <a:xfrm>
            <a:off x="5817627" y="1488003"/>
            <a:ext cx="738112" cy="63010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401401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26" name="Oval 25"/>
          <p:cNvSpPr/>
          <p:nvPr/>
        </p:nvSpPr>
        <p:spPr>
          <a:xfrm>
            <a:off x="2641275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27" name="Oval 26"/>
          <p:cNvSpPr/>
          <p:nvPr/>
        </p:nvSpPr>
        <p:spPr>
          <a:xfrm>
            <a:off x="3866985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0</a:t>
            </a:r>
            <a:endParaRPr lang="en-IN" b="1" dirty="0"/>
          </a:p>
        </p:txBody>
      </p:sp>
      <p:sp>
        <p:nvSpPr>
          <p:cNvPr id="28" name="Oval 27"/>
          <p:cNvSpPr/>
          <p:nvPr/>
        </p:nvSpPr>
        <p:spPr>
          <a:xfrm>
            <a:off x="5106859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IN" b="1" dirty="0"/>
          </a:p>
        </p:txBody>
      </p:sp>
      <p:sp>
        <p:nvSpPr>
          <p:cNvPr id="29" name="Oval 28"/>
          <p:cNvSpPr/>
          <p:nvPr/>
        </p:nvSpPr>
        <p:spPr>
          <a:xfrm>
            <a:off x="6320458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30" name="Oval 29"/>
          <p:cNvSpPr/>
          <p:nvPr/>
        </p:nvSpPr>
        <p:spPr>
          <a:xfrm>
            <a:off x="7560332" y="490684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33642" y="4056180"/>
            <a:ext cx="123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Output:</a:t>
            </a:r>
            <a:endParaRPr lang="en-IN" dirty="0"/>
          </a:p>
        </p:txBody>
      </p:sp>
      <p:cxnSp>
        <p:nvCxnSpPr>
          <p:cNvPr id="42" name="Curved Connector 41"/>
          <p:cNvCxnSpPr>
            <a:stCxn id="25" idx="0"/>
            <a:endCxn id="30" idx="0"/>
          </p:cNvCxnSpPr>
          <p:nvPr/>
        </p:nvCxnSpPr>
        <p:spPr>
          <a:xfrm rot="5400000" flipH="1" flipV="1">
            <a:off x="4750866" y="1827378"/>
            <a:ext cx="12700" cy="6158931"/>
          </a:xfrm>
          <a:prstGeom prst="curvedConnector3">
            <a:avLst>
              <a:gd name="adj1" fmla="val 408874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25" idx="4"/>
            <a:endCxn id="27" idx="4"/>
          </p:cNvCxnSpPr>
          <p:nvPr/>
        </p:nvCxnSpPr>
        <p:spPr>
          <a:xfrm rot="16200000" flipH="1">
            <a:off x="2904193" y="4214051"/>
            <a:ext cx="12700" cy="2465584"/>
          </a:xfrm>
          <a:prstGeom prst="curvedConnector3">
            <a:avLst>
              <a:gd name="adj1" fmla="val 408874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6" idx="6"/>
            <a:endCxn id="27" idx="2"/>
          </p:cNvCxnSpPr>
          <p:nvPr/>
        </p:nvCxnSpPr>
        <p:spPr>
          <a:xfrm>
            <a:off x="3181275" y="5176843"/>
            <a:ext cx="6857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8" idx="6"/>
            <a:endCxn id="29" idx="2"/>
          </p:cNvCxnSpPr>
          <p:nvPr/>
        </p:nvCxnSpPr>
        <p:spPr>
          <a:xfrm>
            <a:off x="5646859" y="5176843"/>
            <a:ext cx="6735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9" idx="6"/>
            <a:endCxn id="30" idx="2"/>
          </p:cNvCxnSpPr>
          <p:nvPr/>
        </p:nvCxnSpPr>
        <p:spPr>
          <a:xfrm>
            <a:off x="6860458" y="5176843"/>
            <a:ext cx="6998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26" idx="0"/>
            <a:endCxn id="28" idx="0"/>
          </p:cNvCxnSpPr>
          <p:nvPr/>
        </p:nvCxnSpPr>
        <p:spPr>
          <a:xfrm rot="5400000" flipH="1" flipV="1">
            <a:off x="4144067" y="3674051"/>
            <a:ext cx="12700" cy="2465584"/>
          </a:xfrm>
          <a:prstGeom prst="curvedConnector3">
            <a:avLst>
              <a:gd name="adj1" fmla="val 26105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07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FF0000"/>
                </a:solidFill>
              </a:rPr>
              <a:t>connected component </a:t>
            </a:r>
            <a:r>
              <a:rPr lang="en-IN" dirty="0"/>
              <a:t>(or just component) of an undirected graph is </a:t>
            </a:r>
            <a:r>
              <a:rPr lang="en-IN" b="1" dirty="0"/>
              <a:t>a subgraph in which any two vertices are connected </a:t>
            </a:r>
            <a:r>
              <a:rPr lang="en-IN" dirty="0"/>
              <a:t>to each other by paths.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There are two connected components in the above undirected graph. </a:t>
            </a:r>
            <a:r>
              <a:rPr lang="en-IN" dirty="0">
                <a:solidFill>
                  <a:srgbClr val="FF0000"/>
                </a:solidFill>
              </a:rPr>
              <a:t>0 1 2 </a:t>
            </a:r>
            <a:r>
              <a:rPr lang="en-IN" dirty="0"/>
              <a:t>and </a:t>
            </a:r>
            <a:r>
              <a:rPr lang="en-IN" dirty="0">
                <a:solidFill>
                  <a:srgbClr val="FF0000"/>
                </a:solidFill>
              </a:rPr>
              <a:t>3 4</a:t>
            </a:r>
          </a:p>
        </p:txBody>
      </p:sp>
      <p:sp>
        <p:nvSpPr>
          <p:cNvPr id="4" name="Oval 3"/>
          <p:cNvSpPr/>
          <p:nvPr/>
        </p:nvSpPr>
        <p:spPr>
          <a:xfrm>
            <a:off x="3411292" y="2890696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1763688" y="2910939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63688" y="4500540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750348" y="2910939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5750348" y="4221088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12" name="Straight Connector 11"/>
          <p:cNvCxnSpPr>
            <a:stCxn id="6" idx="4"/>
            <a:endCxn id="7" idx="0"/>
          </p:cNvCxnSpPr>
          <p:nvPr/>
        </p:nvCxnSpPr>
        <p:spPr>
          <a:xfrm>
            <a:off x="2038008" y="3459579"/>
            <a:ext cx="0" cy="10409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6"/>
            <a:endCxn id="4" idx="2"/>
          </p:cNvCxnSpPr>
          <p:nvPr/>
        </p:nvCxnSpPr>
        <p:spPr>
          <a:xfrm flipV="1">
            <a:off x="2312328" y="3165016"/>
            <a:ext cx="1098964" cy="202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8" idx="4"/>
            <a:endCxn id="9" idx="0"/>
          </p:cNvCxnSpPr>
          <p:nvPr/>
        </p:nvCxnSpPr>
        <p:spPr>
          <a:xfrm>
            <a:off x="6024668" y="3459579"/>
            <a:ext cx="0" cy="761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331640" y="2564904"/>
            <a:ext cx="2772308" cy="27003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5544108" y="2672916"/>
            <a:ext cx="1188132" cy="23762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>
            <a:stCxn id="4" idx="6"/>
          </p:cNvCxnSpPr>
          <p:nvPr/>
        </p:nvCxnSpPr>
        <p:spPr>
          <a:xfrm flipV="1">
            <a:off x="3959931" y="3152632"/>
            <a:ext cx="178308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3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Components</a:t>
            </a:r>
          </a:p>
        </p:txBody>
      </p:sp>
      <p:pic>
        <p:nvPicPr>
          <p:cNvPr id="1026" name="Picture 2" descr="Image result for connected components in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203" y="1179095"/>
            <a:ext cx="5477594" cy="484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351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Articulation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b="1" dirty="0">
                <a:solidFill>
                  <a:srgbClr val="FF0000"/>
                </a:solidFill>
              </a:rPr>
              <a:t>articulation point </a:t>
            </a:r>
            <a:r>
              <a:rPr lang="en-IN" dirty="0"/>
              <a:t>in a connected graph is a vertex , that if deleted then disconnects the graph.</a:t>
            </a:r>
          </a:p>
          <a:p>
            <a:r>
              <a:rPr lang="en-IN" b="1" dirty="0"/>
              <a:t>It</a:t>
            </a:r>
            <a:r>
              <a:rPr lang="en-IN" b="1" dirty="0">
                <a:solidFill>
                  <a:schemeClr val="tx2"/>
                </a:solidFill>
              </a:rPr>
              <a:t> </a:t>
            </a:r>
            <a:r>
              <a:rPr lang="en-IN" dirty="0"/>
              <a:t>represent vulnerabilities in a connected network, single points whose failure would split network into two or more disconnected components.</a:t>
            </a:r>
          </a:p>
        </p:txBody>
      </p:sp>
      <p:sp>
        <p:nvSpPr>
          <p:cNvPr id="4" name="Oval 3"/>
          <p:cNvSpPr/>
          <p:nvPr/>
        </p:nvSpPr>
        <p:spPr>
          <a:xfrm>
            <a:off x="395536" y="365992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395536" y="479715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1655676" y="365992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2915816" y="365992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2918186" y="479715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cxnSp>
        <p:nvCxnSpPr>
          <p:cNvPr id="10" name="Straight Connector 9"/>
          <p:cNvCxnSpPr>
            <a:stCxn id="4" idx="6"/>
            <a:endCxn id="6" idx="2"/>
          </p:cNvCxnSpPr>
          <p:nvPr/>
        </p:nvCxnSpPr>
        <p:spPr>
          <a:xfrm>
            <a:off x="935536" y="3929923"/>
            <a:ext cx="720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6"/>
            <a:endCxn id="7" idx="2"/>
          </p:cNvCxnSpPr>
          <p:nvPr/>
        </p:nvCxnSpPr>
        <p:spPr>
          <a:xfrm>
            <a:off x="2195676" y="3929923"/>
            <a:ext cx="720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4"/>
            <a:endCxn id="5" idx="0"/>
          </p:cNvCxnSpPr>
          <p:nvPr/>
        </p:nvCxnSpPr>
        <p:spPr>
          <a:xfrm>
            <a:off x="665536" y="4199923"/>
            <a:ext cx="0" cy="5972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5" idx="6"/>
            <a:endCxn id="6" idx="3"/>
          </p:cNvCxnSpPr>
          <p:nvPr/>
        </p:nvCxnSpPr>
        <p:spPr>
          <a:xfrm flipV="1">
            <a:off x="935536" y="4120842"/>
            <a:ext cx="799221" cy="9463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8" idx="0"/>
          </p:cNvCxnSpPr>
          <p:nvPr/>
        </p:nvCxnSpPr>
        <p:spPr>
          <a:xfrm>
            <a:off x="3185816" y="4199923"/>
            <a:ext cx="2370" cy="5972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991442" y="340931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IN" b="1" dirty="0"/>
          </a:p>
        </p:txBody>
      </p:sp>
      <p:sp>
        <p:nvSpPr>
          <p:cNvPr id="21" name="Oval 20"/>
          <p:cNvSpPr/>
          <p:nvPr/>
        </p:nvSpPr>
        <p:spPr>
          <a:xfrm>
            <a:off x="4991442" y="454886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IN" b="1" dirty="0"/>
          </a:p>
        </p:txBody>
      </p:sp>
      <p:sp>
        <p:nvSpPr>
          <p:cNvPr id="22" name="Oval 21"/>
          <p:cNvSpPr/>
          <p:nvPr/>
        </p:nvSpPr>
        <p:spPr>
          <a:xfrm>
            <a:off x="6076582" y="401997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IN" b="1" dirty="0"/>
          </a:p>
        </p:txBody>
      </p:sp>
      <p:sp>
        <p:nvSpPr>
          <p:cNvPr id="23" name="Oval 22"/>
          <p:cNvSpPr/>
          <p:nvPr/>
        </p:nvSpPr>
        <p:spPr>
          <a:xfrm>
            <a:off x="7072674" y="340931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</a:t>
            </a:r>
            <a:endParaRPr lang="en-IN" b="1" dirty="0"/>
          </a:p>
        </p:txBody>
      </p:sp>
      <p:sp>
        <p:nvSpPr>
          <p:cNvPr id="24" name="Oval 23"/>
          <p:cNvSpPr/>
          <p:nvPr/>
        </p:nvSpPr>
        <p:spPr>
          <a:xfrm>
            <a:off x="8051945" y="401997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</a:t>
            </a:r>
            <a:endParaRPr lang="en-IN" b="1" dirty="0"/>
          </a:p>
        </p:txBody>
      </p:sp>
      <p:sp>
        <p:nvSpPr>
          <p:cNvPr id="25" name="Oval 24"/>
          <p:cNvSpPr/>
          <p:nvPr/>
        </p:nvSpPr>
        <p:spPr>
          <a:xfrm>
            <a:off x="7072674" y="462087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6</a:t>
            </a:r>
            <a:endParaRPr lang="en-IN" b="1" dirty="0"/>
          </a:p>
        </p:txBody>
      </p:sp>
      <p:sp>
        <p:nvSpPr>
          <p:cNvPr id="26" name="Oval 25"/>
          <p:cNvSpPr/>
          <p:nvPr/>
        </p:nvSpPr>
        <p:spPr>
          <a:xfrm>
            <a:off x="6076582" y="541296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</a:t>
            </a:r>
            <a:endParaRPr lang="en-IN" b="1" dirty="0"/>
          </a:p>
        </p:txBody>
      </p:sp>
      <p:cxnSp>
        <p:nvCxnSpPr>
          <p:cNvPr id="28" name="Straight Connector 27"/>
          <p:cNvCxnSpPr>
            <a:stCxn id="20" idx="6"/>
            <a:endCxn id="22" idx="1"/>
          </p:cNvCxnSpPr>
          <p:nvPr/>
        </p:nvCxnSpPr>
        <p:spPr>
          <a:xfrm>
            <a:off x="5531442" y="3679316"/>
            <a:ext cx="624221" cy="4197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0" idx="4"/>
            <a:endCxn id="21" idx="0"/>
          </p:cNvCxnSpPr>
          <p:nvPr/>
        </p:nvCxnSpPr>
        <p:spPr>
          <a:xfrm>
            <a:off x="5261442" y="3949316"/>
            <a:ext cx="0" cy="5995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1" idx="6"/>
            <a:endCxn id="22" idx="3"/>
          </p:cNvCxnSpPr>
          <p:nvPr/>
        </p:nvCxnSpPr>
        <p:spPr>
          <a:xfrm flipV="1">
            <a:off x="5531442" y="4480894"/>
            <a:ext cx="624221" cy="3379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2" idx="7"/>
            <a:endCxn id="23" idx="2"/>
          </p:cNvCxnSpPr>
          <p:nvPr/>
        </p:nvCxnSpPr>
        <p:spPr>
          <a:xfrm flipV="1">
            <a:off x="6537501" y="3679316"/>
            <a:ext cx="535173" cy="4197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2" idx="5"/>
            <a:endCxn id="25" idx="2"/>
          </p:cNvCxnSpPr>
          <p:nvPr/>
        </p:nvCxnSpPr>
        <p:spPr>
          <a:xfrm>
            <a:off x="6537501" y="4480894"/>
            <a:ext cx="535173" cy="409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2" idx="4"/>
            <a:endCxn id="26" idx="0"/>
          </p:cNvCxnSpPr>
          <p:nvPr/>
        </p:nvCxnSpPr>
        <p:spPr>
          <a:xfrm>
            <a:off x="6346582" y="4559975"/>
            <a:ext cx="0" cy="8529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3" idx="6"/>
            <a:endCxn id="24" idx="1"/>
          </p:cNvCxnSpPr>
          <p:nvPr/>
        </p:nvCxnSpPr>
        <p:spPr>
          <a:xfrm>
            <a:off x="7612674" y="3679316"/>
            <a:ext cx="518352" cy="4197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5" idx="6"/>
            <a:endCxn id="24" idx="3"/>
          </p:cNvCxnSpPr>
          <p:nvPr/>
        </p:nvCxnSpPr>
        <p:spPr>
          <a:xfrm flipV="1">
            <a:off x="7612674" y="4480894"/>
            <a:ext cx="518352" cy="409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13508" y="5661248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Articulation Points: 2,3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4972503" y="6002917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Articulation Points: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68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20" grpId="0" animBg="1"/>
      <p:bldP spid="21" grpId="0" animBg="1"/>
      <p:bldP spid="22" grpId="0" animBg="1"/>
      <p:bldP spid="22" grpId="1" animBg="1"/>
      <p:bldP spid="22" grpId="2" animBg="1"/>
      <p:bldP spid="23" grpId="0" animBg="1"/>
      <p:bldP spid="24" grpId="0" animBg="1"/>
      <p:bldP spid="25" grpId="0" animBg="1"/>
      <p:bldP spid="26" grpId="0" animBg="1"/>
      <p:bldP spid="47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15748</TotalTime>
  <Words>1016</Words>
  <Application>Microsoft Office PowerPoint</Application>
  <PresentationFormat>On-screen Show (4:3)</PresentationFormat>
  <Paragraphs>244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Custom Design</vt:lpstr>
      <vt:lpstr>PowerPoint Presentation</vt:lpstr>
      <vt:lpstr>Graph - Definition</vt:lpstr>
      <vt:lpstr>Directed &amp; Undirected Graph</vt:lpstr>
      <vt:lpstr>Traversing Graph/Tree</vt:lpstr>
      <vt:lpstr>Depth-First Search / Traversal</vt:lpstr>
      <vt:lpstr>Depth-First Search – Cont… </vt:lpstr>
      <vt:lpstr>Depth-First Search Algorithm</vt:lpstr>
      <vt:lpstr>PowerPoint Presentation</vt:lpstr>
      <vt:lpstr>Breadth First Search / Traversal</vt:lpstr>
      <vt:lpstr>Breadth First Search - Algorithm</vt:lpstr>
      <vt:lpstr>Breadth First Search - Algorithm</vt:lpstr>
      <vt:lpstr>Traverse Graph using DFS and BFS</vt:lpstr>
      <vt:lpstr>Topological Sorting</vt:lpstr>
      <vt:lpstr>Topological Sorting - Example</vt:lpstr>
      <vt:lpstr>Topological Sorting - Example</vt:lpstr>
      <vt:lpstr>Connected Components</vt:lpstr>
      <vt:lpstr>Connected Components</vt:lpstr>
      <vt:lpstr>Articulation Point</vt:lpstr>
    </vt:vector>
  </TitlesOfParts>
  <Company>Darshan Institute of Engg. &amp; Tech.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OOPC++ UNIT-1</dc:title>
  <dc:creator>Darshan Institute of Engg. &amp; Tech.</dc:creator>
  <cp:lastModifiedBy>Meet</cp:lastModifiedBy>
  <cp:revision>3272</cp:revision>
  <dcterms:created xsi:type="dcterms:W3CDTF">2013-05-17T03:00:03Z</dcterms:created>
  <dcterms:modified xsi:type="dcterms:W3CDTF">2020-09-22T04:20:28Z</dcterms:modified>
</cp:coreProperties>
</file>