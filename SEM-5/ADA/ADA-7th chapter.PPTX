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2"/>
  </p:notesMasterIdLst>
  <p:sldIdLst>
    <p:sldId id="419" r:id="rId3"/>
    <p:sldId id="400" r:id="rId4"/>
    <p:sldId id="401" r:id="rId5"/>
    <p:sldId id="406" r:id="rId6"/>
    <p:sldId id="403" r:id="rId7"/>
    <p:sldId id="417" r:id="rId8"/>
    <p:sldId id="405" r:id="rId9"/>
    <p:sldId id="404" r:id="rId10"/>
    <p:sldId id="408" r:id="rId11"/>
    <p:sldId id="407" r:id="rId12"/>
    <p:sldId id="409" r:id="rId13"/>
    <p:sldId id="410" r:id="rId14"/>
    <p:sldId id="411" r:id="rId15"/>
    <p:sldId id="418" r:id="rId16"/>
    <p:sldId id="412" r:id="rId17"/>
    <p:sldId id="413" r:id="rId18"/>
    <p:sldId id="414" r:id="rId19"/>
    <p:sldId id="415" r:id="rId20"/>
    <p:sldId id="41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0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9EDF4"/>
    <a:srgbClr val="C0C0C0"/>
    <a:srgbClr val="D3D2D2"/>
    <a:srgbClr val="008000"/>
    <a:srgbClr val="4D4C4D"/>
    <a:srgbClr val="66FF66"/>
    <a:srgbClr val="E40524"/>
    <a:srgbClr val="385D8A"/>
    <a:srgbClr val="344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3201" autoAdjust="0"/>
  </p:normalViewPr>
  <p:slideViewPr>
    <p:cSldViewPr>
      <p:cViewPr varScale="1">
        <p:scale>
          <a:sx n="68" d="100"/>
          <a:sy n="68" d="100"/>
        </p:scale>
        <p:origin x="-1428" y="-108"/>
      </p:cViewPr>
      <p:guideLst>
        <p:guide orient="horz" pos="100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08-Oct-20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2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90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http://www.techiedelight.com/travelling-salesman-problem-using-branch-and-bound/</a:t>
            </a:r>
          </a:p>
          <a:p>
            <a:r>
              <a:rPr lang="en-IN" dirty="0"/>
              <a:t>https://www.youtube.com/watch?v=RR7GXoWiUw4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7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l">
              <a:defRPr/>
            </a:pPr>
            <a:r>
              <a:rPr lang="en-IN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Back Tracking &amp; Branch &amp;</a:t>
            </a:r>
            <a:r>
              <a:rPr lang="en-IN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Bound</a:t>
            </a:r>
            <a:r>
              <a:rPr lang="en-IN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                </a:t>
            </a:r>
            <a:fld id="{6E8469F3-9EE8-43CF-BEDC-475B89412D1D}" type="slidenum">
              <a:rPr lang="da-DK" sz="18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l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747963"/>
            <a:ext cx="7772400" cy="1362075"/>
          </a:xfrm>
        </p:spPr>
        <p:txBody>
          <a:bodyPr anchor="t"/>
          <a:lstStyle>
            <a:lvl1pPr algn="l">
              <a:defRPr sz="4000" b="1" cap="none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ktangel 11"/>
          <p:cNvSpPr/>
          <p:nvPr userDrawn="1"/>
        </p:nvSpPr>
        <p:spPr>
          <a:xfrm>
            <a:off x="0" y="6434613"/>
            <a:ext cx="9144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Unit-7                                                      </a:t>
            </a:r>
            <a:r>
              <a:rPr lang="da-DK" sz="1600" baseline="0" noProof="1">
                <a:solidFill>
                  <a:srgbClr val="F8F8F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F9BC18-5F67-48C8-AE19-74C8DD218351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42CAB-82AF-48CC-9F29-41124BD4446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9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BC1A9-3026-4393-A80E-70E36827A4AD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2ED1F-C8F3-43E9-AED7-01176710CDF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63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C2276D-4A96-46EF-8F4E-3E4A2C9240C2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E09EA-C0CE-4BED-A47A-07C359C9080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0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8817AE-1559-4AEF-BDB3-5BD030A59C90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B8AA6-F314-4771-A41D-9756F3A4364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343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9B86E4-7AE4-4E85-B048-146AB3044B18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2A09A-456B-44E8-9ED5-46638CA9FA8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303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5C2BFF-42B3-4937-97A6-34550EFA0AC8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DDFA1-3E15-497A-AF8D-C26CAC16521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96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D0F898-BE90-4F85-B1AC-FCBAACABB1BA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EFCD8-9014-49B2-92DF-8F1FF273850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63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BB57F4-4871-4F37-A6AB-98EE80D5FFB9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32BB8-7F9C-4026-BEDA-6D71BD117CA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105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B9B514-8B20-4D90-9E0B-3B5555402639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2F591-EF32-4442-8DCE-923FCAC4D1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532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145F6A-67EF-4769-A964-C31A00AB2601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75CBD-765C-459E-85B5-505902757CC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320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C31762-40F3-409E-A80A-6F1776BEEA3B}" type="datetime1">
              <a:rPr lang="en-US" altLang="en-US">
                <a:solidFill>
                  <a:srgbClr val="000000"/>
                </a:solidFill>
              </a:rPr>
              <a:pPr/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0CCF3-82BA-4617-9267-681E7274A6B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0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8FDA55D-4A49-4130-AC9C-7CCB25CEAAA8}" type="datetime1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08-Oct-20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FFAF6E-EE6E-41BB-AB95-2D225EDB63A8}" type="slidenum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50535" name="Picture 7" descr="1347-395_08_TTslid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58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4418" y="2420888"/>
            <a:ext cx="8430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Unit-7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Back Tracking and Branch &amp; Bound</a:t>
            </a:r>
            <a:endParaRPr lang="en-US" sz="3600" b="1" dirty="0">
              <a:solidFill>
                <a:srgbClr val="FF0000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04943" y="4487341"/>
            <a:ext cx="405675" cy="29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Backtracking</a:t>
            </a:r>
            <a:r>
              <a:rPr lang="en-US" dirty="0"/>
              <a:t> can be defined as a general algorithmic technique that considers searching every possible combination in order to solve an optimization problem</a:t>
            </a:r>
            <a:r>
              <a:rPr lang="en-US" i="1" dirty="0"/>
              <a:t>.</a:t>
            </a:r>
          </a:p>
          <a:p>
            <a:r>
              <a:rPr lang="en-IN" dirty="0"/>
              <a:t>It is a </a:t>
            </a:r>
            <a:r>
              <a:rPr lang="en-IN" b="1" dirty="0"/>
              <a:t>recursive </a:t>
            </a:r>
            <a:r>
              <a:rPr lang="en-IN" dirty="0"/>
              <a:t>technique.</a:t>
            </a:r>
          </a:p>
          <a:p>
            <a:r>
              <a:rPr lang="en-IN" dirty="0"/>
              <a:t>It generates </a:t>
            </a:r>
            <a:r>
              <a:rPr lang="en-IN" b="1" dirty="0"/>
              <a:t>state space tree </a:t>
            </a:r>
            <a:r>
              <a:rPr lang="en-IN" dirty="0"/>
              <a:t>for all possible solutions.</a:t>
            </a:r>
          </a:p>
          <a:p>
            <a:r>
              <a:rPr lang="en-IN" dirty="0"/>
              <a:t>It traverse state space tree in the </a:t>
            </a:r>
            <a:r>
              <a:rPr lang="en-IN" b="1" dirty="0"/>
              <a:t>depth first order.</a:t>
            </a:r>
          </a:p>
          <a:p>
            <a:r>
              <a:rPr lang="en-US" dirty="0"/>
              <a:t>So, in a backtracking we attempt </a:t>
            </a:r>
            <a:r>
              <a:rPr lang="en-US" b="1" dirty="0"/>
              <a:t>solving a sub-problem</a:t>
            </a:r>
            <a:r>
              <a:rPr lang="en-US" dirty="0"/>
              <a:t>, and if we </a:t>
            </a:r>
            <a:r>
              <a:rPr lang="en-US" b="1" dirty="0"/>
              <a:t>don't reach the desired solution</a:t>
            </a:r>
            <a:r>
              <a:rPr lang="en-US" dirty="0"/>
              <a:t>, then undo whatever we did for solving that sub-problem, and </a:t>
            </a:r>
            <a:r>
              <a:rPr lang="en-US" b="1" dirty="0"/>
              <a:t>try solving another sub-problem</a:t>
            </a:r>
            <a:r>
              <a:rPr lang="en-US" dirty="0"/>
              <a:t>.</a:t>
            </a:r>
          </a:p>
          <a:p>
            <a:r>
              <a:rPr lang="en-US" dirty="0"/>
              <a:t>All the solutions require a set of constraints divided into two categories: </a:t>
            </a:r>
            <a:r>
              <a:rPr lang="en-US" b="1" dirty="0"/>
              <a:t>explicit and implicit constraints.</a:t>
            </a:r>
            <a:endParaRPr lang="en-US" b="1" i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01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N - Queens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- queen is the problem of </a:t>
                </a:r>
                <a:r>
                  <a:rPr lang="en-US" b="1" dirty="0"/>
                  <a:t>placing N chess queens </a:t>
                </a:r>
                <a:r>
                  <a:rPr lang="en-US" dirty="0"/>
                  <a:t>on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chessboard so that </a:t>
                </a:r>
                <a:r>
                  <a:rPr lang="en-US" b="1" dirty="0"/>
                  <a:t>no two queens attack each other</a:t>
                </a:r>
                <a:r>
                  <a:rPr lang="en-US" dirty="0"/>
                  <a:t>.</a:t>
                </a:r>
                <a:endParaRPr lang="en-IN" dirty="0"/>
              </a:p>
              <a:p>
                <a:pPr marL="300038"/>
                <a:r>
                  <a:rPr lang="en-IN" dirty="0"/>
                  <a:t>Two queens of </a:t>
                </a:r>
                <a:r>
                  <a:rPr lang="en-IN" b="1" dirty="0"/>
                  <a:t>same row, same column or the same diagonal </a:t>
                </a:r>
                <a:r>
                  <a:rPr lang="en-IN" dirty="0"/>
                  <a:t>can attack each other.</a:t>
                </a:r>
              </a:p>
              <a:p>
                <a:pPr marL="300038"/>
                <a:r>
                  <a:rPr lang="en-IN" b="1" dirty="0"/>
                  <a:t>K-Promising solution: </a:t>
                </a:r>
                <a:r>
                  <a:rPr lang="en-IN" dirty="0"/>
                  <a:t>A solution is called </a:t>
                </a:r>
                <a:r>
                  <a:rPr lang="en-IN" b="1" dirty="0"/>
                  <a:t>k-promising</a:t>
                </a:r>
                <a:r>
                  <a:rPr lang="en-IN" dirty="0"/>
                  <a:t> if it arranges the </a:t>
                </a:r>
                <a:r>
                  <a:rPr lang="en-IN" b="1" dirty="0"/>
                  <a:t>k - queens</a:t>
                </a:r>
                <a:r>
                  <a:rPr lang="en-IN" dirty="0"/>
                  <a:t> such a way that, they can not threat each other.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300038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15209"/>
              </p:ext>
            </p:extLst>
          </p:nvPr>
        </p:nvGraphicFramePr>
        <p:xfrm>
          <a:off x="754205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=""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=""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8681" y="5575883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1 - Promising Solution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556893"/>
              </p:ext>
            </p:extLst>
          </p:nvPr>
        </p:nvGraphicFramePr>
        <p:xfrm>
          <a:off x="7187784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=""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=""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2260" y="5575883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1095"/>
              </p:ext>
            </p:extLst>
          </p:nvPr>
        </p:nvGraphicFramePr>
        <p:xfrm>
          <a:off x="2806214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=""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=""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30690" y="5575883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276239"/>
              </p:ext>
            </p:extLst>
          </p:nvPr>
        </p:nvGraphicFramePr>
        <p:xfrm>
          <a:off x="5000543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=""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=""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25019" y="5575883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</p:spTree>
    <p:extLst>
      <p:ext uri="{BB962C8B-B14F-4D97-AF65-F5344CB8AC3E}">
        <p14:creationId xmlns:p14="http://schemas.microsoft.com/office/powerpoint/2010/main" val="6611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4 - queen Problem 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503492"/>
              </p:ext>
            </p:extLst>
          </p:nvPr>
        </p:nvGraphicFramePr>
        <p:xfrm>
          <a:off x="119426" y="939681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9592" y="3292008"/>
            <a:ext cx="1679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1 - Promising</a:t>
            </a:r>
          </a:p>
        </p:txBody>
      </p:sp>
      <p:graphicFrame>
        <p:nvGraphicFramePr>
          <p:cNvPr id="3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375876"/>
              </p:ext>
            </p:extLst>
          </p:nvPr>
        </p:nvGraphicFramePr>
        <p:xfrm>
          <a:off x="2993411" y="972845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599892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"/>
          <p:cNvSpPr/>
          <p:nvPr/>
        </p:nvSpPr>
        <p:spPr>
          <a:xfrm>
            <a:off x="4178865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4"/>
          <p:cNvSpPr/>
          <p:nvPr/>
        </p:nvSpPr>
        <p:spPr>
          <a:xfrm>
            <a:off x="4757838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Multiply 1"/>
          <p:cNvSpPr/>
          <p:nvPr/>
        </p:nvSpPr>
        <p:spPr>
          <a:xfrm>
            <a:off x="3662899" y="1927555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Multiply 2"/>
          <p:cNvSpPr/>
          <p:nvPr/>
        </p:nvSpPr>
        <p:spPr>
          <a:xfrm>
            <a:off x="4237430" y="1927554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3851920" y="3313137"/>
            <a:ext cx="1679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2 - Promising</a:t>
            </a:r>
          </a:p>
        </p:txBody>
      </p:sp>
      <p:sp>
        <p:nvSpPr>
          <p:cNvPr id="37" name="Rectangle 5"/>
          <p:cNvSpPr/>
          <p:nvPr/>
        </p:nvSpPr>
        <p:spPr>
          <a:xfrm>
            <a:off x="3596795" y="2379204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6"/>
          <p:cNvSpPr/>
          <p:nvPr/>
        </p:nvSpPr>
        <p:spPr>
          <a:xfrm>
            <a:off x="4174423" y="2385305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7"/>
          <p:cNvSpPr/>
          <p:nvPr/>
        </p:nvSpPr>
        <p:spPr>
          <a:xfrm>
            <a:off x="4764466" y="2389816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8"/>
          <p:cNvSpPr/>
          <p:nvPr/>
        </p:nvSpPr>
        <p:spPr>
          <a:xfrm>
            <a:off x="5336549" y="2389816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Multiply 3"/>
          <p:cNvSpPr/>
          <p:nvPr/>
        </p:nvSpPr>
        <p:spPr>
          <a:xfrm>
            <a:off x="3659802" y="2372525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Multiply 4"/>
          <p:cNvSpPr/>
          <p:nvPr/>
        </p:nvSpPr>
        <p:spPr>
          <a:xfrm>
            <a:off x="4237430" y="2384808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ultiply 5"/>
          <p:cNvSpPr/>
          <p:nvPr/>
        </p:nvSpPr>
        <p:spPr>
          <a:xfrm>
            <a:off x="4827810" y="2382974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Multiply 6"/>
          <p:cNvSpPr/>
          <p:nvPr/>
        </p:nvSpPr>
        <p:spPr>
          <a:xfrm>
            <a:off x="5402723" y="2367375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812093"/>
              </p:ext>
            </p:extLst>
          </p:nvPr>
        </p:nvGraphicFramePr>
        <p:xfrm>
          <a:off x="5840605" y="974459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68" name="Rectangle 9"/>
          <p:cNvSpPr/>
          <p:nvPr/>
        </p:nvSpPr>
        <p:spPr>
          <a:xfrm>
            <a:off x="6441487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10"/>
          <p:cNvSpPr/>
          <p:nvPr/>
        </p:nvSpPr>
        <p:spPr>
          <a:xfrm>
            <a:off x="6448758" y="2367375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11"/>
          <p:cNvSpPr/>
          <p:nvPr/>
        </p:nvSpPr>
        <p:spPr>
          <a:xfrm>
            <a:off x="7031683" y="2388407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12"/>
          <p:cNvSpPr/>
          <p:nvPr/>
        </p:nvSpPr>
        <p:spPr>
          <a:xfrm>
            <a:off x="7602930" y="2384603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13"/>
          <p:cNvSpPr/>
          <p:nvPr/>
        </p:nvSpPr>
        <p:spPr>
          <a:xfrm>
            <a:off x="8175004" y="2376519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Multiply 8"/>
          <p:cNvSpPr/>
          <p:nvPr/>
        </p:nvSpPr>
        <p:spPr>
          <a:xfrm>
            <a:off x="6506872" y="2393646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Multiply 9"/>
          <p:cNvSpPr/>
          <p:nvPr/>
        </p:nvSpPr>
        <p:spPr>
          <a:xfrm>
            <a:off x="7094537" y="2388407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Multiply 10"/>
          <p:cNvSpPr/>
          <p:nvPr/>
        </p:nvSpPr>
        <p:spPr>
          <a:xfrm>
            <a:off x="7666090" y="2384782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13"/>
          <p:cNvSpPr/>
          <p:nvPr/>
        </p:nvSpPr>
        <p:spPr>
          <a:xfrm>
            <a:off x="6449351" y="2837257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14"/>
          <p:cNvSpPr/>
          <p:nvPr/>
        </p:nvSpPr>
        <p:spPr>
          <a:xfrm>
            <a:off x="7019656" y="2833158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Multiply 9"/>
          <p:cNvSpPr/>
          <p:nvPr/>
        </p:nvSpPr>
        <p:spPr>
          <a:xfrm>
            <a:off x="6513259" y="2833866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/>
          <p:cNvSpPr txBox="1"/>
          <p:nvPr/>
        </p:nvSpPr>
        <p:spPr>
          <a:xfrm>
            <a:off x="6359200" y="3305996"/>
            <a:ext cx="2319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4 – Promising</a:t>
            </a:r>
          </a:p>
          <a:p>
            <a:pPr algn="ctr"/>
            <a:r>
              <a:rPr lang="en-IN" sz="2200" b="1" dirty="0"/>
              <a:t>&lt;3, 1, 4, 2&gt;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47697" y="4058058"/>
            <a:ext cx="51733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Above 4-promising solution can be written as 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                    </a:t>
            </a:r>
            <a:r>
              <a:rPr lang="en-IN" sz="2400" b="1" dirty="0">
                <a:solidFill>
                  <a:srgbClr val="FF0000"/>
                </a:solidFill>
              </a:rPr>
              <a:t>&lt;3, 1, 4, 2&gt;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Another possible solution is </a:t>
            </a:r>
          </a:p>
          <a:p>
            <a:r>
              <a:rPr lang="en-IN" sz="2400" dirty="0"/>
              <a:t>                   </a:t>
            </a:r>
            <a:r>
              <a:rPr lang="en-IN" sz="2400" b="1" dirty="0">
                <a:solidFill>
                  <a:srgbClr val="FF0000"/>
                </a:solidFill>
              </a:rPr>
              <a:t>&lt;2, 4, 1, 3&gt;</a:t>
            </a:r>
          </a:p>
        </p:txBody>
      </p:sp>
      <p:graphicFrame>
        <p:nvGraphicFramePr>
          <p:cNvPr id="8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678257"/>
              </p:ext>
            </p:extLst>
          </p:nvPr>
        </p:nvGraphicFramePr>
        <p:xfrm>
          <a:off x="119426" y="3657572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97221" y="5985284"/>
            <a:ext cx="30844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4 – Promising </a:t>
            </a:r>
            <a:r>
              <a:rPr lang="en-IN" sz="2200" b="1" dirty="0"/>
              <a:t>&lt;2, 4, 1, 3&gt;</a:t>
            </a:r>
          </a:p>
        </p:txBody>
      </p:sp>
    </p:spTree>
    <p:extLst>
      <p:ext uri="{BB962C8B-B14F-4D97-AF65-F5344CB8AC3E}">
        <p14:creationId xmlns:p14="http://schemas.microsoft.com/office/powerpoint/2010/main" val="26486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3" grpId="1" animBg="1"/>
      <p:bldP spid="32" grpId="0" animBg="1"/>
      <p:bldP spid="32" grpId="1" animBg="1"/>
      <p:bldP spid="33" grpId="0" animBg="1"/>
      <p:bldP spid="4" grpId="0" animBg="1"/>
      <p:bldP spid="4" grpId="1" animBg="1"/>
      <p:bldP spid="35" grpId="0" animBg="1"/>
      <p:bldP spid="35" grpId="1" animBg="1"/>
      <p:bldP spid="36" grpId="0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3" grpId="1" animBg="1"/>
      <p:bldP spid="53" grpId="0" animBg="1"/>
      <p:bldP spid="53" grpId="1" animBg="1"/>
      <p:bldP spid="61" grpId="0" animBg="1"/>
      <p:bldP spid="61" grpId="1" animBg="1"/>
      <p:bldP spid="68" grpId="0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1" grpId="1" animBg="1"/>
      <p:bldP spid="83" grpId="0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 - Queen Problem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388667"/>
              </p:ext>
            </p:extLst>
          </p:nvPr>
        </p:nvGraphicFramePr>
        <p:xfrm>
          <a:off x="2309242" y="990600"/>
          <a:ext cx="452551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758">
                  <a:extLst>
                    <a:ext uri="{9D8B030D-6E8A-4147-A177-3AD203B41FA5}">
                      <a16:colId xmlns="" xmlns:a16="http://schemas.microsoft.com/office/drawing/2014/main" val="3447454615"/>
                    </a:ext>
                  </a:extLst>
                </a:gridCol>
                <a:gridCol w="2262758">
                  <a:extLst>
                    <a:ext uri="{9D8B030D-6E8A-4147-A177-3AD203B41FA5}">
                      <a16:colId xmlns="" xmlns:a16="http://schemas.microsoft.com/office/drawing/2014/main" val="3929746018"/>
                    </a:ext>
                  </a:extLst>
                </a:gridCol>
              </a:tblGrid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C00000"/>
                          </a:solidFill>
                        </a:rPr>
                        <a:t>Number</a:t>
                      </a:r>
                      <a:r>
                        <a:rPr lang="en-IN" sz="2400" baseline="0" dirty="0">
                          <a:solidFill>
                            <a:srgbClr val="C00000"/>
                          </a:solidFill>
                        </a:rPr>
                        <a:t> of Queens</a:t>
                      </a:r>
                      <a:endParaRPr lang="en-IN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C00000"/>
                          </a:solidFill>
                        </a:rPr>
                        <a:t>Possible Solutions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07579888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59491248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3664996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29208249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49352217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6575059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7111852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52643001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76774889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352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215281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724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0748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14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 - Queen Problem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5461620" cy="5334000"/>
              </a:xfrm>
            </p:spPr>
            <p:txBody>
              <a:bodyPr/>
              <a:lstStyle/>
              <a:p>
                <a:r>
                  <a:rPr lang="en-US" dirty="0"/>
                  <a:t>Here, queen position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(2, 3)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identify the positions that can not be chosen, so that the queen does not attack.</a:t>
                </a:r>
              </a:p>
              <a:p>
                <a:r>
                  <a:rPr lang="en-US" dirty="0"/>
                  <a:t>The diagonal positions which are under attack are denoted as,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5461620" cy="5334000"/>
              </a:xfrm>
              <a:blipFill>
                <a:blip r:embed="rId2"/>
                <a:stretch>
                  <a:fillRect l="-1451" t="-457" r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340888"/>
              </p:ext>
            </p:extLst>
          </p:nvPr>
        </p:nvGraphicFramePr>
        <p:xfrm>
          <a:off x="5796136" y="1160748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677757"/>
                  </p:ext>
                </p:extLst>
              </p:nvPr>
            </p:nvGraphicFramePr>
            <p:xfrm>
              <a:off x="539552" y="3969060"/>
              <a:ext cx="4789154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162">
                      <a:extLst>
                        <a:ext uri="{9D8B030D-6E8A-4147-A177-3AD203B41FA5}">
                          <a16:colId xmlns="" xmlns:a16="http://schemas.microsoft.com/office/drawing/2014/main" val="3324478005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="" xmlns:a16="http://schemas.microsoft.com/office/drawing/2014/main" val="1096266728"/>
                        </a:ext>
                      </a:extLst>
                    </a:gridCol>
                    <a:gridCol w="1152750">
                      <a:extLst>
                        <a:ext uri="{9D8B030D-6E8A-4147-A177-3AD203B41FA5}">
                          <a16:colId xmlns="" xmlns:a16="http://schemas.microsoft.com/office/drawing/2014/main" val="3148696663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="" xmlns:a16="http://schemas.microsoft.com/office/drawing/2014/main" val="42798746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Row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Col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Diagonal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506176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(2, 1)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111903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</m:t>
                                </m:r>
                                <m:r>
                                  <a:rPr lang="en-US" sz="2200" i="1" baseline="0" dirty="0" smtClean="0">
                                    <a:latin typeface="Cambria Math" panose="02040503050406030204" pitchFamily="18" charset="0"/>
                                  </a:rPr>
                                  <m:t>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00726404"/>
                      </a:ext>
                    </a:extLst>
                  </a:tr>
                  <a:tr h="2916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(4, 3)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(4, 1)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00612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677757"/>
                  </p:ext>
                </p:extLst>
              </p:nvPr>
            </p:nvGraphicFramePr>
            <p:xfrm>
              <a:off x="539552" y="3969060"/>
              <a:ext cx="4789154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162">
                      <a:extLst>
                        <a:ext uri="{9D8B030D-6E8A-4147-A177-3AD203B41FA5}">
                          <a16:colId xmlns:a16="http://schemas.microsoft.com/office/drawing/2014/main" val="3324478005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096266728"/>
                        </a:ext>
                      </a:extLst>
                    </a:gridCol>
                    <a:gridCol w="1152750">
                      <a:extLst>
                        <a:ext uri="{9D8B030D-6E8A-4147-A177-3AD203B41FA5}">
                          <a16:colId xmlns:a16="http://schemas.microsoft.com/office/drawing/2014/main" val="3148696663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27987461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Same Row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Same Col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Same Diagonal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061763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108451" r="-228750" b="-212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108451" r="-154167" b="-212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108451" r="-76190" b="-212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4930" t="-108451" r="-1408" b="-212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190396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211429" r="-228750" b="-1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211429" r="-154167" b="-1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211429" r="-76190" b="-1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4930" t="-211429" r="-1408" b="-1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72640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311429" r="-228750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311429" r="-154167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311429" r="-76190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006120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3599892" y="5949280"/>
                <a:ext cx="1728814" cy="360040"/>
              </a:xfrm>
              <a:prstGeom prst="wedgeRectCallout">
                <a:avLst>
                  <a:gd name="adj1" fmla="val -26860"/>
                  <a:gd name="adj2" fmla="val -11716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𝐶𝑜𝑙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92" y="5949280"/>
                <a:ext cx="1728814" cy="360040"/>
              </a:xfrm>
              <a:prstGeom prst="wedgeRectCallout">
                <a:avLst>
                  <a:gd name="adj1" fmla="val -26860"/>
                  <a:gd name="adj2" fmla="val -117168"/>
                </a:avLst>
              </a:prstGeom>
              <a:blipFill>
                <a:blip r:embed="rId4"/>
                <a:stretch>
                  <a:fillRect l="-1742" b="-291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8"/>
              <p:cNvSpPr/>
              <p:nvPr/>
            </p:nvSpPr>
            <p:spPr>
              <a:xfrm>
                <a:off x="5521850" y="4539301"/>
                <a:ext cx="1732394" cy="457200"/>
              </a:xfrm>
              <a:prstGeom prst="wedgeRectCallout">
                <a:avLst>
                  <a:gd name="adj1" fmla="val -63394"/>
                  <a:gd name="adj2" fmla="val -9169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𝐶𝑜𝑙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850" y="4539301"/>
                <a:ext cx="1732394" cy="457200"/>
              </a:xfrm>
              <a:prstGeom prst="wedgeRectCallout">
                <a:avLst>
                  <a:gd name="adj1" fmla="val -63394"/>
                  <a:gd name="adj2" fmla="val -916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3447636" y="4448352"/>
            <a:ext cx="839532" cy="118872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509808" y="4418857"/>
            <a:ext cx="731520" cy="82296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570396" y="1461796"/>
            <a:ext cx="687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388047" y="1651819"/>
            <a:ext cx="2225011" cy="179492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6997350" y="1651820"/>
            <a:ext cx="1615708" cy="127312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64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430549"/>
              </p:ext>
            </p:extLst>
          </p:nvPr>
        </p:nvGraphicFramePr>
        <p:xfrm>
          <a:off x="6018006" y="8979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=""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=""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=""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=""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12135" y="1921510"/>
            <a:ext cx="8268277" cy="49253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procedure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queens (k, col, diag45, diag135)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{sol[1..k] is k-promising,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col = {sol[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] | 1≤i≤k},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diag45 = {sol[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]–i+1 | 1≤i≤k}, and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diag135 = {sol[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]+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–1 | 1≤i≤k}}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k = 4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write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sol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for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j ← 1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4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do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j ∉ col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j – k ∉ diag45 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j + k ∉ diag135 	      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then 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sol[k+1]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 j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queens(k + 1, col U {j}, diag45 U {j - k}, diag135 U {j + k})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0" y="80628"/>
            <a:ext cx="828092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Sol =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580" y="80668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[2,0,0,0]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0" y="570236"/>
            <a:ext cx="828092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col =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580" y="570276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9712" y="80628"/>
            <a:ext cx="540060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K 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4656" y="80668"/>
            <a:ext cx="32911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3436" y="571907"/>
            <a:ext cx="1292420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diag45 =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9704" y="570498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6494" y="1072293"/>
            <a:ext cx="1299362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diag135 =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9704" y="1073028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4206" y="2384884"/>
            <a:ext cx="1773000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1- Promising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7164" y="5013176"/>
            <a:ext cx="712767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=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7944" y="5013176"/>
            <a:ext cx="104411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- k =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0072" y="5013176"/>
            <a:ext cx="129614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+ k =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361" y="80588"/>
            <a:ext cx="1152128" cy="468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[2,4,0,0]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8424" y="977680"/>
            <a:ext cx="43293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91580" y="570236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{2,4}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5698" y="576324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{2,3}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5698" y="1072293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{2,5}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4206" y="2387705"/>
            <a:ext cx="1773000" cy="468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2- Promising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4179" y="5013176"/>
            <a:ext cx="712767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=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4179" y="5013176"/>
            <a:ext cx="712767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=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4959" y="5013176"/>
            <a:ext cx="104411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- k =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1194" y="5013176"/>
            <a:ext cx="712767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=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1974" y="5013176"/>
            <a:ext cx="1044116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- k =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4102" y="5013176"/>
            <a:ext cx="129614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+ k =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7917" y="89492"/>
            <a:ext cx="329116" cy="468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66019" y="1434022"/>
            <a:ext cx="43293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ight Arrow 2"/>
          <p:cNvSpPr/>
          <p:nvPr/>
        </p:nvSpPr>
        <p:spPr>
          <a:xfrm>
            <a:off x="28688" y="4077072"/>
            <a:ext cx="416193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ight Arrow 41"/>
          <p:cNvSpPr/>
          <p:nvPr/>
        </p:nvSpPr>
        <p:spPr>
          <a:xfrm>
            <a:off x="795772" y="5697252"/>
            <a:ext cx="416193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3235048" y="5013176"/>
            <a:ext cx="712767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=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18140" y="5024400"/>
            <a:ext cx="113178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- k = -1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1117" y="5013176"/>
            <a:ext cx="1296143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J + k = 3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91580" y="6099129"/>
            <a:ext cx="416193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763560" y="80588"/>
            <a:ext cx="1152128" cy="46805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[2,4,1,0]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14206" y="2382063"/>
            <a:ext cx="1773000" cy="46805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3- Promising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333068" y="6525049"/>
            <a:ext cx="416193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2481450" y="84779"/>
            <a:ext cx="329116" cy="46805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>
                <a:solidFill>
                  <a:schemeClr val="tx1"/>
                </a:solidFill>
              </a:rPr>
              <a:t>3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85266" y="576884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{2,4,1}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858" y="574297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{2,3,-2}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63611" y="1075770"/>
            <a:ext cx="115212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200" dirty="0">
                <a:solidFill>
                  <a:schemeClr val="tx1"/>
                </a:solidFill>
              </a:rPr>
              <a:t>{2,5,4}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08629" y="1880996"/>
            <a:ext cx="43293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 64"/>
          <p:cNvSpPr/>
          <p:nvPr/>
        </p:nvSpPr>
        <p:spPr>
          <a:xfrm>
            <a:off x="766163" y="87196"/>
            <a:ext cx="1152128" cy="4680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[2,4,1,3]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14206" y="2385629"/>
            <a:ext cx="1773000" cy="4680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4- Promising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77917" y="86988"/>
            <a:ext cx="329116" cy="4680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9994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3" grpId="0" animBg="1"/>
      <p:bldP spid="3" grpId="1" animBg="1"/>
      <p:bldP spid="42" grpId="0" animBg="1"/>
      <p:bldP spid="42" grpId="1" animBg="1"/>
      <p:bldP spid="53" grpId="0" animBg="1"/>
      <p:bldP spid="54" grpId="0" animBg="1"/>
      <p:bldP spid="55" grpId="0" animBg="1"/>
      <p:bldP spid="56" grpId="0" animBg="1"/>
      <p:bldP spid="56" grpId="1" animBg="1"/>
      <p:bldP spid="57" grpId="0" animBg="1"/>
      <p:bldP spid="58" grpId="0" animBg="1"/>
      <p:bldP spid="59" grpId="0" animBg="1"/>
      <p:bldP spid="59" grpId="1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630" y="944724"/>
            <a:ext cx="8990870" cy="5850816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procedure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queens (k, col, diag45, diag135)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{sol[1..k] is k-promising,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col = {sol[</a:t>
            </a:r>
            <a:r>
              <a:rPr lang="en-IN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] | 1≤i≤k},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diag45 = {sol[</a:t>
            </a:r>
            <a:r>
              <a:rPr lang="en-IN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]–i+1 | 1≤i≤k}, and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diag135 = {sol[</a:t>
            </a:r>
            <a:r>
              <a:rPr lang="en-IN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]+</a:t>
            </a:r>
            <a:r>
              <a:rPr lang="en-IN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–1 | 1≤i≤k}}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k = 8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{an 8-promising vector is a solution}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write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sol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{explore (k+1)-promising extensions of sol }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for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j ← 1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8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do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j ∉ col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j – k ∉ diag45 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j + k ∉ diag135 ∉ sol[k+1] ← j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 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sol[k+1]</a:t>
            </a: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</a:t>
            </a: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j</a:t>
            </a:r>
            <a:endParaRPr lang="en-IN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{sol[1..k+1] is (k+1)-promising}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queens(k + 1, col U {j}, diag45 U {j - k}, diag135 U {j + k})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58" y="68516"/>
            <a:ext cx="8885434" cy="769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+mj-lt"/>
                <a:ea typeface="Cambria Math" panose="02040503050406030204" pitchFamily="18" charset="0"/>
              </a:rPr>
              <a:t>sol[1…8] is global array, for all solutions to the eight queens problem call queens(0, ∅, ∅, ∅)</a:t>
            </a:r>
          </a:p>
        </p:txBody>
      </p:sp>
    </p:spTree>
    <p:extLst>
      <p:ext uri="{BB962C8B-B14F-4D97-AF65-F5344CB8AC3E}">
        <p14:creationId xmlns:p14="http://schemas.microsoft.com/office/powerpoint/2010/main" val="160260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 - Queens State Space Tree</a:t>
            </a:r>
          </a:p>
        </p:txBody>
      </p:sp>
      <p:sp>
        <p:nvSpPr>
          <p:cNvPr id="4" name="Oval 3"/>
          <p:cNvSpPr/>
          <p:nvPr/>
        </p:nvSpPr>
        <p:spPr>
          <a:xfrm>
            <a:off x="1203868" y="220771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67576" y="284627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198552" y="323889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198552" y="365570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47588" y="322821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547588" y="364502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>
            <a:stCxn id="6" idx="3"/>
            <a:endCxn id="9" idx="0"/>
          </p:cNvCxnSpPr>
          <p:nvPr/>
        </p:nvCxnSpPr>
        <p:spPr>
          <a:xfrm flipH="1">
            <a:off x="270552" y="2969188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5"/>
            <a:endCxn id="11" idx="0"/>
          </p:cNvCxnSpPr>
          <p:nvPr/>
        </p:nvCxnSpPr>
        <p:spPr>
          <a:xfrm>
            <a:off x="490488" y="2969188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270552" y="338289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12" idx="0"/>
          </p:cNvCxnSpPr>
          <p:nvPr/>
        </p:nvCxnSpPr>
        <p:spPr>
          <a:xfrm>
            <a:off x="619588" y="337221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4" idx="3"/>
            <a:endCxn id="6" idx="0"/>
          </p:cNvCxnSpPr>
          <p:nvPr/>
        </p:nvCxnSpPr>
        <p:spPr>
          <a:xfrm flipH="1">
            <a:off x="439576" y="2330624"/>
            <a:ext cx="785380" cy="515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4" idx="4"/>
            <a:endCxn id="78" idx="0"/>
          </p:cNvCxnSpPr>
          <p:nvPr/>
        </p:nvCxnSpPr>
        <p:spPr>
          <a:xfrm flipH="1">
            <a:off x="1274706" y="2351712"/>
            <a:ext cx="1162" cy="501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" idx="5"/>
            <a:endCxn id="92" idx="0"/>
          </p:cNvCxnSpPr>
          <p:nvPr/>
        </p:nvCxnSpPr>
        <p:spPr>
          <a:xfrm>
            <a:off x="1326780" y="2330624"/>
            <a:ext cx="769887" cy="53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872" y="3342336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224" y="288344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688" y="2334668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568" y="288344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792" y="332862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8" name="Oval 77"/>
          <p:cNvSpPr/>
          <p:nvPr/>
        </p:nvSpPr>
        <p:spPr>
          <a:xfrm>
            <a:off x="1202706" y="285351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/>
          <p:cNvSpPr/>
          <p:nvPr/>
        </p:nvSpPr>
        <p:spPr>
          <a:xfrm>
            <a:off x="1033682" y="324612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/>
          <p:cNvSpPr/>
          <p:nvPr/>
        </p:nvSpPr>
        <p:spPr>
          <a:xfrm>
            <a:off x="1033682" y="366293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/>
          <p:cNvSpPr/>
          <p:nvPr/>
        </p:nvSpPr>
        <p:spPr>
          <a:xfrm>
            <a:off x="1382718" y="323545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/>
          <p:cNvSpPr/>
          <p:nvPr/>
        </p:nvSpPr>
        <p:spPr>
          <a:xfrm>
            <a:off x="1382718" y="365226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" name="Straight Connector 82"/>
          <p:cNvCxnSpPr>
            <a:stCxn id="78" idx="3"/>
            <a:endCxn id="79" idx="0"/>
          </p:cNvCxnSpPr>
          <p:nvPr/>
        </p:nvCxnSpPr>
        <p:spPr>
          <a:xfrm flipH="1">
            <a:off x="1105682" y="2976424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8" idx="5"/>
            <a:endCxn id="81" idx="0"/>
          </p:cNvCxnSpPr>
          <p:nvPr/>
        </p:nvCxnSpPr>
        <p:spPr>
          <a:xfrm>
            <a:off x="1325618" y="2976424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79" idx="4"/>
            <a:endCxn id="80" idx="0"/>
          </p:cNvCxnSpPr>
          <p:nvPr/>
        </p:nvCxnSpPr>
        <p:spPr>
          <a:xfrm>
            <a:off x="1105682" y="3390128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81" idx="4"/>
            <a:endCxn id="82" idx="0"/>
          </p:cNvCxnSpPr>
          <p:nvPr/>
        </p:nvCxnSpPr>
        <p:spPr>
          <a:xfrm>
            <a:off x="1454718" y="337945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07002" y="3349572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8354" y="289067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92698" y="289067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59922" y="333585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92" name="Oval 91"/>
          <p:cNvSpPr/>
          <p:nvPr/>
        </p:nvSpPr>
        <p:spPr>
          <a:xfrm>
            <a:off x="2024667" y="286343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Oval 92"/>
          <p:cNvSpPr/>
          <p:nvPr/>
        </p:nvSpPr>
        <p:spPr>
          <a:xfrm>
            <a:off x="1855643" y="325604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Oval 93"/>
          <p:cNvSpPr/>
          <p:nvPr/>
        </p:nvSpPr>
        <p:spPr>
          <a:xfrm>
            <a:off x="1855643" y="367285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Oval 94"/>
          <p:cNvSpPr/>
          <p:nvPr/>
        </p:nvSpPr>
        <p:spPr>
          <a:xfrm>
            <a:off x="2204679" y="324537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/>
          <p:cNvSpPr/>
          <p:nvPr/>
        </p:nvSpPr>
        <p:spPr>
          <a:xfrm>
            <a:off x="2204679" y="366218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7" name="Straight Connector 96"/>
          <p:cNvCxnSpPr>
            <a:stCxn id="92" idx="3"/>
            <a:endCxn id="93" idx="0"/>
          </p:cNvCxnSpPr>
          <p:nvPr/>
        </p:nvCxnSpPr>
        <p:spPr>
          <a:xfrm flipH="1">
            <a:off x="1927643" y="2986344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92" idx="5"/>
            <a:endCxn id="95" idx="0"/>
          </p:cNvCxnSpPr>
          <p:nvPr/>
        </p:nvCxnSpPr>
        <p:spPr>
          <a:xfrm>
            <a:off x="2147579" y="2986344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3" idx="4"/>
            <a:endCxn id="94" idx="0"/>
          </p:cNvCxnSpPr>
          <p:nvPr/>
        </p:nvCxnSpPr>
        <p:spPr>
          <a:xfrm>
            <a:off x="1927643" y="3400048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95" idx="4"/>
            <a:endCxn id="96" idx="0"/>
          </p:cNvCxnSpPr>
          <p:nvPr/>
        </p:nvCxnSpPr>
        <p:spPr>
          <a:xfrm>
            <a:off x="2276679" y="338937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728963" y="335949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90315" y="290059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14659" y="290059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1883" y="334577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21324" y="2468978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11723" y="2334668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4005485" y="219974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Oval 108"/>
          <p:cNvSpPr/>
          <p:nvPr/>
        </p:nvSpPr>
        <p:spPr>
          <a:xfrm>
            <a:off x="3169193" y="283831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/>
          <p:cNvSpPr/>
          <p:nvPr/>
        </p:nvSpPr>
        <p:spPr>
          <a:xfrm>
            <a:off x="3000169" y="323092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/>
          <p:cNvSpPr/>
          <p:nvPr/>
        </p:nvSpPr>
        <p:spPr>
          <a:xfrm>
            <a:off x="3000169" y="364773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/>
          <p:cNvSpPr/>
          <p:nvPr/>
        </p:nvSpPr>
        <p:spPr>
          <a:xfrm>
            <a:off x="3349205" y="322025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val 112"/>
          <p:cNvSpPr/>
          <p:nvPr/>
        </p:nvSpPr>
        <p:spPr>
          <a:xfrm>
            <a:off x="3349205" y="363705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4" name="Straight Connector 113"/>
          <p:cNvCxnSpPr>
            <a:stCxn id="109" idx="3"/>
            <a:endCxn id="110" idx="0"/>
          </p:cNvCxnSpPr>
          <p:nvPr/>
        </p:nvCxnSpPr>
        <p:spPr>
          <a:xfrm flipH="1">
            <a:off x="3072169" y="2961222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9" idx="5"/>
            <a:endCxn id="112" idx="0"/>
          </p:cNvCxnSpPr>
          <p:nvPr/>
        </p:nvCxnSpPr>
        <p:spPr>
          <a:xfrm>
            <a:off x="3292105" y="2961222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10" idx="4"/>
            <a:endCxn id="111" idx="0"/>
          </p:cNvCxnSpPr>
          <p:nvPr/>
        </p:nvCxnSpPr>
        <p:spPr>
          <a:xfrm>
            <a:off x="3072169" y="337492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12" idx="4"/>
            <a:endCxn id="113" idx="0"/>
          </p:cNvCxnSpPr>
          <p:nvPr/>
        </p:nvCxnSpPr>
        <p:spPr>
          <a:xfrm>
            <a:off x="3421205" y="3364250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3"/>
            <a:endCxn id="109" idx="0"/>
          </p:cNvCxnSpPr>
          <p:nvPr/>
        </p:nvCxnSpPr>
        <p:spPr>
          <a:xfrm flipH="1">
            <a:off x="3241193" y="2322658"/>
            <a:ext cx="785380" cy="515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8" idx="4"/>
            <a:endCxn id="126" idx="0"/>
          </p:cNvCxnSpPr>
          <p:nvPr/>
        </p:nvCxnSpPr>
        <p:spPr>
          <a:xfrm flipH="1">
            <a:off x="4076323" y="2343746"/>
            <a:ext cx="1162" cy="501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8" idx="5"/>
            <a:endCxn id="139" idx="0"/>
          </p:cNvCxnSpPr>
          <p:nvPr/>
        </p:nvCxnSpPr>
        <p:spPr>
          <a:xfrm>
            <a:off x="4128397" y="2322658"/>
            <a:ext cx="769887" cy="53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873489" y="3334370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34841" y="287547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41305" y="232670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59185" y="287547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26409" y="332065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6" name="Oval 125"/>
          <p:cNvSpPr/>
          <p:nvPr/>
        </p:nvSpPr>
        <p:spPr>
          <a:xfrm>
            <a:off x="4004323" y="284554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Oval 126"/>
          <p:cNvSpPr/>
          <p:nvPr/>
        </p:nvSpPr>
        <p:spPr>
          <a:xfrm>
            <a:off x="3835299" y="323816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Oval 127"/>
          <p:cNvSpPr/>
          <p:nvPr/>
        </p:nvSpPr>
        <p:spPr>
          <a:xfrm>
            <a:off x="3835299" y="365497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Oval 128"/>
          <p:cNvSpPr/>
          <p:nvPr/>
        </p:nvSpPr>
        <p:spPr>
          <a:xfrm>
            <a:off x="4184335" y="322748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Oval 129"/>
          <p:cNvSpPr/>
          <p:nvPr/>
        </p:nvSpPr>
        <p:spPr>
          <a:xfrm>
            <a:off x="4184335" y="364429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Straight Connector 130"/>
          <p:cNvCxnSpPr>
            <a:stCxn id="126" idx="3"/>
            <a:endCxn id="127" idx="0"/>
          </p:cNvCxnSpPr>
          <p:nvPr/>
        </p:nvCxnSpPr>
        <p:spPr>
          <a:xfrm flipH="1">
            <a:off x="3907299" y="2968458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126" idx="5"/>
            <a:endCxn id="129" idx="0"/>
          </p:cNvCxnSpPr>
          <p:nvPr/>
        </p:nvCxnSpPr>
        <p:spPr>
          <a:xfrm>
            <a:off x="4127235" y="2968458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>
            <a:stCxn id="127" idx="4"/>
            <a:endCxn id="128" idx="0"/>
          </p:cNvCxnSpPr>
          <p:nvPr/>
        </p:nvCxnSpPr>
        <p:spPr>
          <a:xfrm>
            <a:off x="3907299" y="338216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29" idx="4"/>
            <a:endCxn id="130" idx="0"/>
          </p:cNvCxnSpPr>
          <p:nvPr/>
        </p:nvCxnSpPr>
        <p:spPr>
          <a:xfrm>
            <a:off x="4256335" y="337148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708619" y="3341606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769971" y="28827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94315" y="28827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61539" y="332789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39" name="Oval 138"/>
          <p:cNvSpPr/>
          <p:nvPr/>
        </p:nvSpPr>
        <p:spPr>
          <a:xfrm>
            <a:off x="4826284" y="285546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Oval 139"/>
          <p:cNvSpPr/>
          <p:nvPr/>
        </p:nvSpPr>
        <p:spPr>
          <a:xfrm>
            <a:off x="4657260" y="324808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Oval 140"/>
          <p:cNvSpPr/>
          <p:nvPr/>
        </p:nvSpPr>
        <p:spPr>
          <a:xfrm>
            <a:off x="4657260" y="366489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Oval 141"/>
          <p:cNvSpPr/>
          <p:nvPr/>
        </p:nvSpPr>
        <p:spPr>
          <a:xfrm>
            <a:off x="5006296" y="323740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Oval 142"/>
          <p:cNvSpPr/>
          <p:nvPr/>
        </p:nvSpPr>
        <p:spPr>
          <a:xfrm>
            <a:off x="5006296" y="365421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4" name="Straight Connector 143"/>
          <p:cNvCxnSpPr>
            <a:stCxn id="139" idx="3"/>
            <a:endCxn id="140" idx="0"/>
          </p:cNvCxnSpPr>
          <p:nvPr/>
        </p:nvCxnSpPr>
        <p:spPr>
          <a:xfrm flipH="1">
            <a:off x="4729260" y="2978378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39" idx="5"/>
            <a:endCxn id="142" idx="0"/>
          </p:cNvCxnSpPr>
          <p:nvPr/>
        </p:nvCxnSpPr>
        <p:spPr>
          <a:xfrm>
            <a:off x="4949196" y="2978378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40" idx="4"/>
            <a:endCxn id="141" idx="0"/>
          </p:cNvCxnSpPr>
          <p:nvPr/>
        </p:nvCxnSpPr>
        <p:spPr>
          <a:xfrm>
            <a:off x="4729260" y="339208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42" idx="4"/>
            <a:endCxn id="143" idx="0"/>
          </p:cNvCxnSpPr>
          <p:nvPr/>
        </p:nvCxnSpPr>
        <p:spPr>
          <a:xfrm>
            <a:off x="5078296" y="338140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530580" y="335152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91932" y="289263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16276" y="289263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83500" y="33378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922941" y="246101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13340" y="232670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54" name="Oval 153"/>
          <p:cNvSpPr/>
          <p:nvPr/>
        </p:nvSpPr>
        <p:spPr>
          <a:xfrm>
            <a:off x="6866414" y="219974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/>
          <p:cNvSpPr/>
          <p:nvPr/>
        </p:nvSpPr>
        <p:spPr>
          <a:xfrm>
            <a:off x="6030122" y="283831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Oval 155"/>
          <p:cNvSpPr/>
          <p:nvPr/>
        </p:nvSpPr>
        <p:spPr>
          <a:xfrm>
            <a:off x="5861098" y="323092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Oval 156"/>
          <p:cNvSpPr/>
          <p:nvPr/>
        </p:nvSpPr>
        <p:spPr>
          <a:xfrm>
            <a:off x="5861098" y="364773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Oval 157"/>
          <p:cNvSpPr/>
          <p:nvPr/>
        </p:nvSpPr>
        <p:spPr>
          <a:xfrm>
            <a:off x="6210134" y="322025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Oval 158"/>
          <p:cNvSpPr/>
          <p:nvPr/>
        </p:nvSpPr>
        <p:spPr>
          <a:xfrm>
            <a:off x="6210134" y="3637058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0" name="Straight Connector 159"/>
          <p:cNvCxnSpPr>
            <a:stCxn id="155" idx="3"/>
            <a:endCxn id="156" idx="0"/>
          </p:cNvCxnSpPr>
          <p:nvPr/>
        </p:nvCxnSpPr>
        <p:spPr>
          <a:xfrm flipH="1">
            <a:off x="5933098" y="2961222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155" idx="5"/>
            <a:endCxn id="158" idx="0"/>
          </p:cNvCxnSpPr>
          <p:nvPr/>
        </p:nvCxnSpPr>
        <p:spPr>
          <a:xfrm>
            <a:off x="6153034" y="2961222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156" idx="4"/>
            <a:endCxn id="157" idx="0"/>
          </p:cNvCxnSpPr>
          <p:nvPr/>
        </p:nvCxnSpPr>
        <p:spPr>
          <a:xfrm>
            <a:off x="5933098" y="337492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58" idx="4"/>
            <a:endCxn id="159" idx="0"/>
          </p:cNvCxnSpPr>
          <p:nvPr/>
        </p:nvCxnSpPr>
        <p:spPr>
          <a:xfrm>
            <a:off x="6282134" y="3364250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54" idx="3"/>
            <a:endCxn id="155" idx="0"/>
          </p:cNvCxnSpPr>
          <p:nvPr/>
        </p:nvCxnSpPr>
        <p:spPr>
          <a:xfrm flipH="1">
            <a:off x="6102122" y="2322658"/>
            <a:ext cx="785380" cy="515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154" idx="4"/>
            <a:endCxn id="172" idx="0"/>
          </p:cNvCxnSpPr>
          <p:nvPr/>
        </p:nvCxnSpPr>
        <p:spPr>
          <a:xfrm flipH="1">
            <a:off x="6937252" y="2343746"/>
            <a:ext cx="1162" cy="501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4" idx="5"/>
            <a:endCxn id="185" idx="0"/>
          </p:cNvCxnSpPr>
          <p:nvPr/>
        </p:nvCxnSpPr>
        <p:spPr>
          <a:xfrm>
            <a:off x="6989326" y="2322658"/>
            <a:ext cx="769887" cy="53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5734418" y="3334370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795770" y="287547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02234" y="232670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20114" y="287547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287338" y="3320654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72" name="Oval 171"/>
          <p:cNvSpPr/>
          <p:nvPr/>
        </p:nvSpPr>
        <p:spPr>
          <a:xfrm>
            <a:off x="6865252" y="284554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Oval 172"/>
          <p:cNvSpPr/>
          <p:nvPr/>
        </p:nvSpPr>
        <p:spPr>
          <a:xfrm>
            <a:off x="6696228" y="323816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Oval 173"/>
          <p:cNvSpPr/>
          <p:nvPr/>
        </p:nvSpPr>
        <p:spPr>
          <a:xfrm>
            <a:off x="6696228" y="365497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Oval 174"/>
          <p:cNvSpPr/>
          <p:nvPr/>
        </p:nvSpPr>
        <p:spPr>
          <a:xfrm>
            <a:off x="7045264" y="322748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Oval 175"/>
          <p:cNvSpPr/>
          <p:nvPr/>
        </p:nvSpPr>
        <p:spPr>
          <a:xfrm>
            <a:off x="7045264" y="364429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7" name="Straight Connector 176"/>
          <p:cNvCxnSpPr>
            <a:stCxn id="172" idx="3"/>
            <a:endCxn id="173" idx="0"/>
          </p:cNvCxnSpPr>
          <p:nvPr/>
        </p:nvCxnSpPr>
        <p:spPr>
          <a:xfrm flipH="1">
            <a:off x="6768228" y="2968458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72" idx="5"/>
            <a:endCxn id="175" idx="0"/>
          </p:cNvCxnSpPr>
          <p:nvPr/>
        </p:nvCxnSpPr>
        <p:spPr>
          <a:xfrm>
            <a:off x="6988164" y="2968458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73" idx="4"/>
            <a:endCxn id="174" idx="0"/>
          </p:cNvCxnSpPr>
          <p:nvPr/>
        </p:nvCxnSpPr>
        <p:spPr>
          <a:xfrm>
            <a:off x="6768228" y="338216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75" idx="4"/>
            <a:endCxn id="176" idx="0"/>
          </p:cNvCxnSpPr>
          <p:nvPr/>
        </p:nvCxnSpPr>
        <p:spPr>
          <a:xfrm>
            <a:off x="7117264" y="337148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569548" y="3341606"/>
            <a:ext cx="18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30900" y="28827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055244" y="28827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22468" y="332789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85" name="Oval 184"/>
          <p:cNvSpPr/>
          <p:nvPr/>
        </p:nvSpPr>
        <p:spPr>
          <a:xfrm>
            <a:off x="7687213" y="285546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Oval 185"/>
          <p:cNvSpPr/>
          <p:nvPr/>
        </p:nvSpPr>
        <p:spPr>
          <a:xfrm>
            <a:off x="7518189" y="324808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Oval 186"/>
          <p:cNvSpPr/>
          <p:nvPr/>
        </p:nvSpPr>
        <p:spPr>
          <a:xfrm>
            <a:off x="7518189" y="366489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Oval 187"/>
          <p:cNvSpPr/>
          <p:nvPr/>
        </p:nvSpPr>
        <p:spPr>
          <a:xfrm>
            <a:off x="7867225" y="323740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Oval 188"/>
          <p:cNvSpPr/>
          <p:nvPr/>
        </p:nvSpPr>
        <p:spPr>
          <a:xfrm>
            <a:off x="7867225" y="3654214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0" name="Straight Connector 189"/>
          <p:cNvCxnSpPr>
            <a:stCxn id="185" idx="3"/>
            <a:endCxn id="186" idx="0"/>
          </p:cNvCxnSpPr>
          <p:nvPr/>
        </p:nvCxnSpPr>
        <p:spPr>
          <a:xfrm flipH="1">
            <a:off x="7590189" y="2978378"/>
            <a:ext cx="118112" cy="26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85" idx="5"/>
            <a:endCxn id="188" idx="0"/>
          </p:cNvCxnSpPr>
          <p:nvPr/>
        </p:nvCxnSpPr>
        <p:spPr>
          <a:xfrm>
            <a:off x="7810125" y="2978378"/>
            <a:ext cx="129100" cy="259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186" idx="4"/>
            <a:endCxn id="187" idx="0"/>
          </p:cNvCxnSpPr>
          <p:nvPr/>
        </p:nvCxnSpPr>
        <p:spPr>
          <a:xfrm>
            <a:off x="7590189" y="3392082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188" idx="4"/>
            <a:endCxn id="189" idx="0"/>
          </p:cNvCxnSpPr>
          <p:nvPr/>
        </p:nvCxnSpPr>
        <p:spPr>
          <a:xfrm>
            <a:off x="7939225" y="3381406"/>
            <a:ext cx="0" cy="272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7391509" y="3351526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452861" y="289263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877205" y="289263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944429" y="333781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783870" y="246101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374269" y="232670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00" name="Oval 199"/>
          <p:cNvSpPr/>
          <p:nvPr/>
        </p:nvSpPr>
        <p:spPr>
          <a:xfrm>
            <a:off x="4621340" y="103504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2" name="Straight Connector 201"/>
          <p:cNvCxnSpPr>
            <a:stCxn id="200" idx="2"/>
            <a:endCxn id="4" idx="7"/>
          </p:cNvCxnSpPr>
          <p:nvPr/>
        </p:nvCxnSpPr>
        <p:spPr>
          <a:xfrm flipH="1">
            <a:off x="1326780" y="1107040"/>
            <a:ext cx="3294560" cy="112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200" idx="3"/>
            <a:endCxn id="108" idx="0"/>
          </p:cNvCxnSpPr>
          <p:nvPr/>
        </p:nvCxnSpPr>
        <p:spPr>
          <a:xfrm flipH="1">
            <a:off x="4077485" y="1157952"/>
            <a:ext cx="564943" cy="1041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>
            <a:stCxn id="200" idx="5"/>
            <a:endCxn id="154" idx="1"/>
          </p:cNvCxnSpPr>
          <p:nvPr/>
        </p:nvCxnSpPr>
        <p:spPr>
          <a:xfrm>
            <a:off x="4744252" y="1157952"/>
            <a:ext cx="2143250" cy="1062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stCxn id="200" idx="6"/>
          </p:cNvCxnSpPr>
          <p:nvPr/>
        </p:nvCxnSpPr>
        <p:spPr>
          <a:xfrm>
            <a:off x="4765340" y="1107040"/>
            <a:ext cx="3911116" cy="117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2663788" y="1407597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145218" y="1430212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594493" y="1592263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647284" y="1374040"/>
            <a:ext cx="1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4331970" y="1276350"/>
            <a:ext cx="899160" cy="2453640"/>
          </a:xfrm>
          <a:custGeom>
            <a:avLst/>
            <a:gdLst>
              <a:gd name="connsiteX0" fmla="*/ 525780 w 899160"/>
              <a:gd name="connsiteY0" fmla="*/ 2453640 h 2453640"/>
              <a:gd name="connsiteX1" fmla="*/ 525780 w 899160"/>
              <a:gd name="connsiteY1" fmla="*/ 1897380 h 2453640"/>
              <a:gd name="connsiteX2" fmla="*/ 899160 w 899160"/>
              <a:gd name="connsiteY2" fmla="*/ 1443990 h 2453640"/>
              <a:gd name="connsiteX3" fmla="*/ 0 w 899160"/>
              <a:gd name="connsiteY3" fmla="*/ 842010 h 2453640"/>
              <a:gd name="connsiteX4" fmla="*/ 377190 w 899160"/>
              <a:gd name="connsiteY4" fmla="*/ 0 h 2453640"/>
              <a:gd name="connsiteX5" fmla="*/ 377190 w 899160"/>
              <a:gd name="connsiteY5" fmla="*/ 0 h 245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9160" h="2453640">
                <a:moveTo>
                  <a:pt x="525780" y="2453640"/>
                </a:moveTo>
                <a:lnTo>
                  <a:pt x="525780" y="1897380"/>
                </a:lnTo>
                <a:lnTo>
                  <a:pt x="899160" y="1443990"/>
                </a:lnTo>
                <a:lnTo>
                  <a:pt x="0" y="842010"/>
                </a:lnTo>
                <a:lnTo>
                  <a:pt x="377190" y="0"/>
                </a:lnTo>
                <a:lnTo>
                  <a:pt x="37719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 2"/>
          <p:cNvSpPr/>
          <p:nvPr/>
        </p:nvSpPr>
        <p:spPr>
          <a:xfrm>
            <a:off x="4832392" y="1441240"/>
            <a:ext cx="1507852" cy="2192137"/>
          </a:xfrm>
          <a:custGeom>
            <a:avLst/>
            <a:gdLst>
              <a:gd name="connsiteX0" fmla="*/ 1301960 w 1507852"/>
              <a:gd name="connsiteY0" fmla="*/ 2192137 h 2192137"/>
              <a:gd name="connsiteX1" fmla="*/ 1295905 w 1507852"/>
              <a:gd name="connsiteY1" fmla="*/ 1689520 h 2192137"/>
              <a:gd name="connsiteX2" fmla="*/ 938623 w 1507852"/>
              <a:gd name="connsiteY2" fmla="*/ 1253515 h 2192137"/>
              <a:gd name="connsiteX3" fmla="*/ 1507852 w 1507852"/>
              <a:gd name="connsiteY3" fmla="*/ 884122 h 2192137"/>
              <a:gd name="connsiteX4" fmla="*/ 0 w 1507852"/>
              <a:gd name="connsiteY4" fmla="*/ 0 h 2192137"/>
              <a:gd name="connsiteX5" fmla="*/ 0 w 1507852"/>
              <a:gd name="connsiteY5" fmla="*/ 0 h 2192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7852" h="2192137">
                <a:moveTo>
                  <a:pt x="1301960" y="2192137"/>
                </a:moveTo>
                <a:cubicBezTo>
                  <a:pt x="1299942" y="2024598"/>
                  <a:pt x="1297923" y="1857059"/>
                  <a:pt x="1295905" y="1689520"/>
                </a:cubicBezTo>
                <a:lnTo>
                  <a:pt x="938623" y="1253515"/>
                </a:lnTo>
                <a:lnTo>
                  <a:pt x="1507852" y="884122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33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8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0" grpId="0" animBg="1"/>
      <p:bldP spid="11" grpId="0" animBg="1"/>
      <p:bldP spid="12" grpId="0" animBg="1"/>
      <p:bldP spid="45" grpId="0"/>
      <p:bldP spid="46" grpId="0"/>
      <p:bldP spid="47" grpId="0"/>
      <p:bldP spid="48" grpId="0"/>
      <p:bldP spid="49" grpId="0"/>
      <p:bldP spid="78" grpId="0" animBg="1"/>
      <p:bldP spid="79" grpId="0" animBg="1"/>
      <p:bldP spid="80" grpId="0" animBg="1"/>
      <p:bldP spid="81" grpId="0" animBg="1"/>
      <p:bldP spid="82" grpId="0" animBg="1"/>
      <p:bldP spid="87" grpId="0"/>
      <p:bldP spid="88" grpId="0"/>
      <p:bldP spid="89" grpId="0"/>
      <p:bldP spid="90" grpId="0"/>
      <p:bldP spid="92" grpId="0" animBg="1"/>
      <p:bldP spid="93" grpId="0" animBg="1"/>
      <p:bldP spid="94" grpId="0" animBg="1"/>
      <p:bldP spid="95" grpId="0" animBg="1"/>
      <p:bldP spid="96" grpId="0" animBg="1"/>
      <p:bldP spid="101" grpId="0"/>
      <p:bldP spid="102" grpId="0"/>
      <p:bldP spid="103" grpId="0"/>
      <p:bldP spid="104" grpId="0"/>
      <p:bldP spid="106" grpId="0"/>
      <p:bldP spid="107" grpId="0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21" grpId="0"/>
      <p:bldP spid="122" grpId="0"/>
      <p:bldP spid="123" grpId="0"/>
      <p:bldP spid="124" grpId="0"/>
      <p:bldP spid="125" grpId="0"/>
      <p:bldP spid="126" grpId="0" animBg="1"/>
      <p:bldP spid="127" grpId="0" animBg="1"/>
      <p:bldP spid="128" grpId="0" animBg="1"/>
      <p:bldP spid="129" grpId="0" animBg="1"/>
      <p:bldP spid="130" grpId="0" animBg="1"/>
      <p:bldP spid="135" grpId="0"/>
      <p:bldP spid="136" grpId="0"/>
      <p:bldP spid="137" grpId="0"/>
      <p:bldP spid="138" grpId="0"/>
      <p:bldP spid="139" grpId="0" animBg="1"/>
      <p:bldP spid="140" grpId="0" animBg="1"/>
      <p:bldP spid="141" grpId="0" animBg="1"/>
      <p:bldP spid="142" grpId="0" animBg="1"/>
      <p:bldP spid="143" grpId="0" animBg="1"/>
      <p:bldP spid="148" grpId="0"/>
      <p:bldP spid="149" grpId="0"/>
      <p:bldP spid="150" grpId="0"/>
      <p:bldP spid="151" grpId="0"/>
      <p:bldP spid="152" grpId="0"/>
      <p:bldP spid="153" grpId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7" grpId="0"/>
      <p:bldP spid="168" grpId="0"/>
      <p:bldP spid="169" grpId="0"/>
      <p:bldP spid="170" grpId="0"/>
      <p:bldP spid="171" grpId="0"/>
      <p:bldP spid="172" grpId="0" animBg="1"/>
      <p:bldP spid="173" grpId="0" animBg="1"/>
      <p:bldP spid="174" grpId="0" animBg="1"/>
      <p:bldP spid="175" grpId="0" animBg="1"/>
      <p:bldP spid="176" grpId="0" animBg="1"/>
      <p:bldP spid="181" grpId="0"/>
      <p:bldP spid="182" grpId="0"/>
      <p:bldP spid="183" grpId="0"/>
      <p:bldP spid="184" grpId="0"/>
      <p:bldP spid="185" grpId="0" animBg="1"/>
      <p:bldP spid="186" grpId="0" animBg="1"/>
      <p:bldP spid="187" grpId="0" animBg="1"/>
      <p:bldP spid="188" grpId="0" animBg="1"/>
      <p:bldP spid="189" grpId="0" animBg="1"/>
      <p:bldP spid="194" grpId="0"/>
      <p:bldP spid="195" grpId="0"/>
      <p:bldP spid="196" grpId="0"/>
      <p:bldP spid="197" grpId="0"/>
      <p:bldP spid="198" grpId="0"/>
      <p:bldP spid="199" grpId="0"/>
      <p:bldP spid="200" grpId="0" animBg="1"/>
      <p:bldP spid="217" grpId="0"/>
      <p:bldP spid="218" grpId="0"/>
      <p:bldP spid="219" grpId="0"/>
      <p:bldP spid="220" grpId="0"/>
      <p:bldP spid="224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6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are given a certain number of </a:t>
            </a:r>
            <a:r>
              <a:rPr lang="en-IN" b="1" dirty="0"/>
              <a:t>objects</a:t>
            </a:r>
            <a:r>
              <a:rPr lang="en-IN" dirty="0"/>
              <a:t> and a </a:t>
            </a:r>
            <a:r>
              <a:rPr lang="en-IN" b="1" dirty="0"/>
              <a:t>knapsack.</a:t>
            </a:r>
          </a:p>
          <a:p>
            <a:r>
              <a:rPr lang="en-IN" dirty="0"/>
              <a:t>Instead of supposing that we have n objects available, we shall suppose that we have </a:t>
            </a:r>
            <a:r>
              <a:rPr lang="en-IN" b="1" dirty="0"/>
              <a:t>n types of object</a:t>
            </a:r>
            <a:r>
              <a:rPr lang="en-IN" dirty="0"/>
              <a:t>, and that an adequate number of objects of each type are available.</a:t>
            </a:r>
          </a:p>
          <a:p>
            <a:r>
              <a:rPr lang="en-IN" dirty="0"/>
              <a:t>Our aim is to fill the knapsack in a way that </a:t>
            </a:r>
            <a:r>
              <a:rPr lang="en-IN" b="1" dirty="0"/>
              <a:t>maximizes the value </a:t>
            </a:r>
            <a:r>
              <a:rPr lang="en-IN" dirty="0"/>
              <a:t>of the included objects. </a:t>
            </a:r>
          </a:p>
          <a:p>
            <a:r>
              <a:rPr lang="en-IN" dirty="0"/>
              <a:t>We may take an object or leave behind, but we </a:t>
            </a:r>
            <a:r>
              <a:rPr lang="en-IN" b="1" dirty="0"/>
              <a:t>may not take fraction </a:t>
            </a:r>
            <a:r>
              <a:rPr lang="en-IN" dirty="0"/>
              <a:t>of an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72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5343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Knapsack Problem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9183" y="776486"/>
            <a:ext cx="175320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w = (2,3,4,5)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80684" y="1263680"/>
            <a:ext cx="183620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v = (3,5,6,10)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9183" y="1755270"/>
            <a:ext cx="93610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W =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87914" y="2886430"/>
            <a:ext cx="108012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; 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1224" y="6364312"/>
            <a:ext cx="131582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2,2,2,2;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224" y="5695769"/>
            <a:ext cx="96112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2,2,2; 9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4083" y="5695769"/>
            <a:ext cx="1092897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2,2,3; 11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18719" y="5695769"/>
            <a:ext cx="1116393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2,2,4;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06851" y="5695769"/>
            <a:ext cx="1080389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2,3,3; 13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16100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2,2; 6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74972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2,3; 8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33844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2,4; 9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6994" y="4762807"/>
            <a:ext cx="8880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2,5; 13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79306" y="4762807"/>
            <a:ext cx="8944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3,3; 10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68034" y="4762807"/>
            <a:ext cx="89215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3,4; 11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0346" y="4762807"/>
            <a:ext cx="88987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3,5; 15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39074" y="4762807"/>
            <a:ext cx="8875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4,4;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0828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 ; 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76970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 ; 5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80609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4 ; 6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84248" y="3849655"/>
            <a:ext cx="7594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5 ; 10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2" idx="0"/>
          </p:cNvCxnSpPr>
          <p:nvPr/>
        </p:nvCxnSpPr>
        <p:spPr>
          <a:xfrm flipH="1">
            <a:off x="3097970" y="3254734"/>
            <a:ext cx="1687048" cy="594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3" idx="0"/>
          </p:cNvCxnSpPr>
          <p:nvPr/>
        </p:nvCxnSpPr>
        <p:spPr>
          <a:xfrm>
            <a:off x="5055292" y="3254734"/>
            <a:ext cx="1258820" cy="594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4" idx="0"/>
          </p:cNvCxnSpPr>
          <p:nvPr/>
        </p:nvCxnSpPr>
        <p:spPr>
          <a:xfrm>
            <a:off x="5559348" y="3246470"/>
            <a:ext cx="1858403" cy="603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5" idx="0"/>
          </p:cNvCxnSpPr>
          <p:nvPr/>
        </p:nvCxnSpPr>
        <p:spPr>
          <a:xfrm>
            <a:off x="5811376" y="3246470"/>
            <a:ext cx="2752610" cy="603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14" idx="0"/>
          </p:cNvCxnSpPr>
          <p:nvPr/>
        </p:nvCxnSpPr>
        <p:spPr>
          <a:xfrm flipH="1">
            <a:off x="1700531" y="4209695"/>
            <a:ext cx="115851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2" idx="2"/>
            <a:endCxn id="15" idx="0"/>
          </p:cNvCxnSpPr>
          <p:nvPr/>
        </p:nvCxnSpPr>
        <p:spPr>
          <a:xfrm flipH="1">
            <a:off x="2559403" y="4209695"/>
            <a:ext cx="53856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2" idx="2"/>
            <a:endCxn id="16" idx="0"/>
          </p:cNvCxnSpPr>
          <p:nvPr/>
        </p:nvCxnSpPr>
        <p:spPr>
          <a:xfrm>
            <a:off x="3097970" y="4209695"/>
            <a:ext cx="320305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7" idx="0"/>
          </p:cNvCxnSpPr>
          <p:nvPr/>
        </p:nvCxnSpPr>
        <p:spPr>
          <a:xfrm>
            <a:off x="3361456" y="4209695"/>
            <a:ext cx="97955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18" idx="0"/>
          </p:cNvCxnSpPr>
          <p:nvPr/>
        </p:nvCxnSpPr>
        <p:spPr>
          <a:xfrm flipH="1">
            <a:off x="5326526" y="4209695"/>
            <a:ext cx="772882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0" idx="0"/>
          </p:cNvCxnSpPr>
          <p:nvPr/>
        </p:nvCxnSpPr>
        <p:spPr>
          <a:xfrm>
            <a:off x="6495452" y="4209695"/>
            <a:ext cx="79983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3" idx="2"/>
            <a:endCxn id="19" idx="0"/>
          </p:cNvCxnSpPr>
          <p:nvPr/>
        </p:nvCxnSpPr>
        <p:spPr>
          <a:xfrm>
            <a:off x="6314112" y="4209695"/>
            <a:ext cx="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4" idx="2"/>
            <a:endCxn id="21" idx="0"/>
          </p:cNvCxnSpPr>
          <p:nvPr/>
        </p:nvCxnSpPr>
        <p:spPr>
          <a:xfrm>
            <a:off x="7417751" y="4209695"/>
            <a:ext cx="86511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9" idx="0"/>
          </p:cNvCxnSpPr>
          <p:nvPr/>
        </p:nvCxnSpPr>
        <p:spPr>
          <a:xfrm flipH="1">
            <a:off x="601784" y="5122847"/>
            <a:ext cx="869876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11" idx="0"/>
          </p:cNvCxnSpPr>
          <p:nvPr/>
        </p:nvCxnSpPr>
        <p:spPr>
          <a:xfrm>
            <a:off x="1922944" y="5122847"/>
            <a:ext cx="953972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10" idx="0"/>
          </p:cNvCxnSpPr>
          <p:nvPr/>
        </p:nvCxnSpPr>
        <p:spPr>
          <a:xfrm>
            <a:off x="1700531" y="5122847"/>
            <a:ext cx="1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5" idx="2"/>
            <a:endCxn id="12" idx="0"/>
          </p:cNvCxnSpPr>
          <p:nvPr/>
        </p:nvCxnSpPr>
        <p:spPr>
          <a:xfrm>
            <a:off x="2559403" y="5122847"/>
            <a:ext cx="1487643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2"/>
            <a:endCxn id="8" idx="0"/>
          </p:cNvCxnSpPr>
          <p:nvPr/>
        </p:nvCxnSpPr>
        <p:spPr>
          <a:xfrm>
            <a:off x="601784" y="6055809"/>
            <a:ext cx="177351" cy="3085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ular Callout 60"/>
          <p:cNvSpPr/>
          <p:nvPr/>
        </p:nvSpPr>
        <p:spPr>
          <a:xfrm>
            <a:off x="5008814" y="758743"/>
            <a:ext cx="1667774" cy="684076"/>
          </a:xfrm>
          <a:prstGeom prst="wedgeRoundRectCallout">
            <a:avLst>
              <a:gd name="adj1" fmla="val 78984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Weight of objects</a:t>
            </a:r>
          </a:p>
        </p:txBody>
      </p:sp>
      <p:sp>
        <p:nvSpPr>
          <p:cNvPr id="62" name="Rounded Rectangular Callout 61"/>
          <p:cNvSpPr/>
          <p:nvPr/>
        </p:nvSpPr>
        <p:spPr>
          <a:xfrm>
            <a:off x="4752020" y="1221640"/>
            <a:ext cx="1965207" cy="995471"/>
          </a:xfrm>
          <a:prstGeom prst="wedgeRoundRectCallout">
            <a:avLst>
              <a:gd name="adj1" fmla="val 73002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Corresponding value of each object</a:t>
            </a:r>
          </a:p>
        </p:txBody>
      </p:sp>
      <p:sp>
        <p:nvSpPr>
          <p:cNvPr id="63" name="Rounded Rectangular Callout 62"/>
          <p:cNvSpPr/>
          <p:nvPr/>
        </p:nvSpPr>
        <p:spPr>
          <a:xfrm>
            <a:off x="5020508" y="1729410"/>
            <a:ext cx="1667774" cy="684076"/>
          </a:xfrm>
          <a:prstGeom prst="wedgeRoundRectCallout">
            <a:avLst>
              <a:gd name="adj1" fmla="val 78984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Capacity of Knapsack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719" y="747309"/>
            <a:ext cx="6727627" cy="19750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Initially solution is empty.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Left of the semicolon are weights of selected objects.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Right of the semicolon is the current total value of load.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42000" y="3912292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/>
          <p:cNvSpPr/>
          <p:nvPr/>
        </p:nvSpPr>
        <p:spPr>
          <a:xfrm>
            <a:off x="6369438" y="3903159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/>
          <p:cNvSpPr/>
          <p:nvPr/>
        </p:nvSpPr>
        <p:spPr>
          <a:xfrm>
            <a:off x="7405281" y="48128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/>
          <p:cNvSpPr/>
          <p:nvPr/>
        </p:nvSpPr>
        <p:spPr>
          <a:xfrm>
            <a:off x="6418721" y="48204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/>
          <p:cNvSpPr/>
          <p:nvPr/>
        </p:nvSpPr>
        <p:spPr>
          <a:xfrm>
            <a:off x="5432674" y="48204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/>
          <p:cNvSpPr/>
          <p:nvPr/>
        </p:nvSpPr>
        <p:spPr>
          <a:xfrm>
            <a:off x="4445986" y="4812535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/>
          <p:cNvSpPr/>
          <p:nvPr/>
        </p:nvSpPr>
        <p:spPr>
          <a:xfrm>
            <a:off x="3518662" y="4816981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/>
          <p:cNvSpPr/>
          <p:nvPr/>
        </p:nvSpPr>
        <p:spPr>
          <a:xfrm>
            <a:off x="2669454" y="4819135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/>
          <p:cNvSpPr/>
          <p:nvPr/>
        </p:nvSpPr>
        <p:spPr>
          <a:xfrm>
            <a:off x="1800740" y="4821941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/>
          <p:cNvSpPr/>
          <p:nvPr/>
        </p:nvSpPr>
        <p:spPr>
          <a:xfrm>
            <a:off x="795018" y="5754149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/>
          <p:cNvSpPr/>
          <p:nvPr/>
        </p:nvSpPr>
        <p:spPr>
          <a:xfrm>
            <a:off x="1913124" y="574347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/>
          <p:cNvSpPr/>
          <p:nvPr/>
        </p:nvSpPr>
        <p:spPr>
          <a:xfrm>
            <a:off x="3089826" y="574728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/>
          <p:cNvSpPr/>
          <p:nvPr/>
        </p:nvSpPr>
        <p:spPr>
          <a:xfrm>
            <a:off x="4255486" y="576243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/>
          <p:cNvSpPr/>
          <p:nvPr/>
        </p:nvSpPr>
        <p:spPr>
          <a:xfrm>
            <a:off x="1084158" y="6418318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/>
          <p:cNvSpPr txBox="1"/>
          <p:nvPr/>
        </p:nvSpPr>
        <p:spPr>
          <a:xfrm>
            <a:off x="166843" y="2774206"/>
            <a:ext cx="2286000" cy="8512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solidFill>
                  <a:srgbClr val="C00000"/>
                </a:solidFill>
              </a:rPr>
              <a:t>Now, apply depth first search</a:t>
            </a:r>
          </a:p>
        </p:txBody>
      </p:sp>
      <p:sp>
        <p:nvSpPr>
          <p:cNvPr id="84" name="Freeform 83"/>
          <p:cNvSpPr/>
          <p:nvPr/>
        </p:nvSpPr>
        <p:spPr>
          <a:xfrm>
            <a:off x="304800" y="3164840"/>
            <a:ext cx="4013200" cy="3149600"/>
          </a:xfrm>
          <a:custGeom>
            <a:avLst/>
            <a:gdLst>
              <a:gd name="connsiteX0" fmla="*/ 5080 w 4013200"/>
              <a:gd name="connsiteY0" fmla="*/ 3149600 h 3149600"/>
              <a:gd name="connsiteX1" fmla="*/ 0 w 4013200"/>
              <a:gd name="connsiteY1" fmla="*/ 2407920 h 3149600"/>
              <a:gd name="connsiteX2" fmla="*/ 812800 w 4013200"/>
              <a:gd name="connsiteY2" fmla="*/ 1854200 h 3149600"/>
              <a:gd name="connsiteX3" fmla="*/ 812800 w 4013200"/>
              <a:gd name="connsiteY3" fmla="*/ 1473200 h 3149600"/>
              <a:gd name="connsiteX4" fmla="*/ 2255520 w 4013200"/>
              <a:gd name="connsiteY4" fmla="*/ 904240 h 3149600"/>
              <a:gd name="connsiteX5" fmla="*/ 2245360 w 4013200"/>
              <a:gd name="connsiteY5" fmla="*/ 553720 h 3149600"/>
              <a:gd name="connsiteX6" fmla="*/ 4013200 w 4013200"/>
              <a:gd name="connsiteY6" fmla="*/ 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3200" h="3149600">
                <a:moveTo>
                  <a:pt x="5080" y="3149600"/>
                </a:moveTo>
                <a:cubicBezTo>
                  <a:pt x="3387" y="2902373"/>
                  <a:pt x="1693" y="2655147"/>
                  <a:pt x="0" y="2407920"/>
                </a:cubicBezTo>
                <a:lnTo>
                  <a:pt x="812800" y="1854200"/>
                </a:lnTo>
                <a:lnTo>
                  <a:pt x="812800" y="1473200"/>
                </a:lnTo>
                <a:lnTo>
                  <a:pt x="2255520" y="904240"/>
                </a:lnTo>
                <a:lnTo>
                  <a:pt x="2245360" y="553720"/>
                </a:lnTo>
                <a:lnTo>
                  <a:pt x="401320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TextBox 84"/>
          <p:cNvSpPr txBox="1"/>
          <p:nvPr/>
        </p:nvSpPr>
        <p:spPr>
          <a:xfrm>
            <a:off x="5616116" y="5774519"/>
            <a:ext cx="3314741" cy="919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Store solution if optimal solution is found</a:t>
            </a:r>
          </a:p>
        </p:txBody>
      </p:sp>
      <p:sp>
        <p:nvSpPr>
          <p:cNvPr id="88" name="Freeform 87"/>
          <p:cNvSpPr/>
          <p:nvPr/>
        </p:nvSpPr>
        <p:spPr>
          <a:xfrm>
            <a:off x="1115568" y="5013960"/>
            <a:ext cx="408432" cy="624840"/>
          </a:xfrm>
          <a:custGeom>
            <a:avLst/>
            <a:gdLst>
              <a:gd name="connsiteX0" fmla="*/ 0 w 408432"/>
              <a:gd name="connsiteY0" fmla="*/ 0 h 624840"/>
              <a:gd name="connsiteX1" fmla="*/ 405384 w 408432"/>
              <a:gd name="connsiteY1" fmla="*/ 460248 h 624840"/>
              <a:gd name="connsiteX2" fmla="*/ 408432 w 408432"/>
              <a:gd name="connsiteY2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432" h="624840">
                <a:moveTo>
                  <a:pt x="0" y="0"/>
                </a:moveTo>
                <a:lnTo>
                  <a:pt x="405384" y="460248"/>
                </a:lnTo>
                <a:lnTo>
                  <a:pt x="408432" y="62484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reeform 88"/>
          <p:cNvSpPr/>
          <p:nvPr/>
        </p:nvSpPr>
        <p:spPr>
          <a:xfrm>
            <a:off x="1132840" y="5034280"/>
            <a:ext cx="1407160" cy="584200"/>
          </a:xfrm>
          <a:custGeom>
            <a:avLst/>
            <a:gdLst>
              <a:gd name="connsiteX0" fmla="*/ 1407160 w 1407160"/>
              <a:gd name="connsiteY0" fmla="*/ 584200 h 584200"/>
              <a:gd name="connsiteX1" fmla="*/ 802640 w 1407160"/>
              <a:gd name="connsiteY1" fmla="*/ 208280 h 584200"/>
              <a:gd name="connsiteX2" fmla="*/ 50800 w 1407160"/>
              <a:gd name="connsiteY2" fmla="*/ 208280 h 584200"/>
              <a:gd name="connsiteX3" fmla="*/ 0 w 1407160"/>
              <a:gd name="connsiteY3" fmla="*/ 0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160" h="584200">
                <a:moveTo>
                  <a:pt x="1407160" y="584200"/>
                </a:moveTo>
                <a:lnTo>
                  <a:pt x="802640" y="208280"/>
                </a:lnTo>
                <a:lnTo>
                  <a:pt x="50800" y="208280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reeform 90"/>
          <p:cNvSpPr/>
          <p:nvPr/>
        </p:nvSpPr>
        <p:spPr>
          <a:xfrm>
            <a:off x="5359400" y="3268980"/>
            <a:ext cx="2004060" cy="1442720"/>
          </a:xfrm>
          <a:custGeom>
            <a:avLst/>
            <a:gdLst>
              <a:gd name="connsiteX0" fmla="*/ 0 w 2004060"/>
              <a:gd name="connsiteY0" fmla="*/ 0 h 1442720"/>
              <a:gd name="connsiteX1" fmla="*/ 1391920 w 2004060"/>
              <a:gd name="connsiteY1" fmla="*/ 538480 h 1442720"/>
              <a:gd name="connsiteX2" fmla="*/ 1397000 w 2004060"/>
              <a:gd name="connsiteY2" fmla="*/ 929640 h 1442720"/>
              <a:gd name="connsiteX3" fmla="*/ 2004060 w 2004060"/>
              <a:gd name="connsiteY3" fmla="*/ 1442720 h 14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060" h="1442720">
                <a:moveTo>
                  <a:pt x="0" y="0"/>
                </a:moveTo>
                <a:lnTo>
                  <a:pt x="1391920" y="538480"/>
                </a:lnTo>
                <a:cubicBezTo>
                  <a:pt x="1393613" y="668867"/>
                  <a:pt x="1395307" y="799253"/>
                  <a:pt x="1397000" y="929640"/>
                </a:cubicBezTo>
                <a:lnTo>
                  <a:pt x="2004060" y="144272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859636" y="4777634"/>
            <a:ext cx="868680" cy="347472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7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3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5" grpId="0" animBg="1"/>
      <p:bldP spid="66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5" grpId="0" animBg="1"/>
      <p:bldP spid="88" grpId="0" animBg="1"/>
      <p:bldP spid="89" grpId="0" animBg="1"/>
      <p:bldP spid="91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Knapsack Problem –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</a:rPr>
              <a:t>function</a:t>
            </a:r>
            <a:r>
              <a:rPr lang="en-IN" dirty="0">
                <a:latin typeface="Consolas" panose="020B0609020204030204" pitchFamily="49" charset="0"/>
              </a:rPr>
              <a:t> backpack(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, r)</a:t>
            </a:r>
          </a:p>
          <a:p>
            <a:pPr marL="1076325" indent="-1076325">
              <a:buNone/>
            </a:pPr>
            <a:r>
              <a:rPr lang="en-IN" dirty="0">
                <a:latin typeface="Consolas" panose="020B0609020204030204" pitchFamily="49" charset="0"/>
              </a:rPr>
              <a:t>	{Calculates the value of the best load that can be constructed using items of type 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 to n and whose total weight does not exceed r}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b 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 0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{Try each allowed kind of item in turn}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for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k  </a:t>
            </a:r>
            <a:r>
              <a:rPr lang="en-IN" dirty="0" err="1">
                <a:latin typeface="Consolas" panose="020B0609020204030204" pitchFamily="49" charset="0"/>
                <a:sym typeface="Wingdings" panose="05000000000000000000" pitchFamily="2" charset="2"/>
              </a:rPr>
              <a:t>i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to n 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do</a:t>
            </a:r>
          </a:p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		if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w[k] ≤ r 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b  max(b, v[k] + backpack (k, r – w[k]))</a:t>
            </a:r>
          </a:p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	return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b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5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Minimax Principle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70784" y="1376772"/>
            <a:ext cx="4572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003208" y="2564904"/>
            <a:ext cx="548640" cy="5486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923928" y="2570963"/>
            <a:ext cx="548640" cy="5486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844648" y="2564904"/>
            <a:ext cx="548640" cy="5486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4174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436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6174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2225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7093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80149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8481" y="3626489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7654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42072" y="3644994"/>
            <a:ext cx="548640" cy="548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8" name="Straight Connector 17"/>
          <p:cNvCxnSpPr>
            <a:stCxn id="4" idx="2"/>
          </p:cNvCxnSpPr>
          <p:nvPr/>
        </p:nvCxnSpPr>
        <p:spPr>
          <a:xfrm flipH="1">
            <a:off x="4175956" y="1833972"/>
            <a:ext cx="23428" cy="7211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4" idx="2"/>
            <a:endCxn id="5" idx="0"/>
          </p:cNvCxnSpPr>
          <p:nvPr/>
        </p:nvCxnSpPr>
        <p:spPr>
          <a:xfrm flipH="1">
            <a:off x="2277528" y="1833972"/>
            <a:ext cx="1921856" cy="7309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4" idx="2"/>
            <a:endCxn id="7" idx="0"/>
          </p:cNvCxnSpPr>
          <p:nvPr/>
        </p:nvCxnSpPr>
        <p:spPr>
          <a:xfrm>
            <a:off x="4199384" y="1833972"/>
            <a:ext cx="1919584" cy="7309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5" idx="4"/>
            <a:endCxn id="8" idx="0"/>
          </p:cNvCxnSpPr>
          <p:nvPr/>
        </p:nvCxnSpPr>
        <p:spPr>
          <a:xfrm flipH="1">
            <a:off x="1398494" y="3113544"/>
            <a:ext cx="879034" cy="5314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5" idx="4"/>
            <a:endCxn id="9" idx="0"/>
          </p:cNvCxnSpPr>
          <p:nvPr/>
        </p:nvCxnSpPr>
        <p:spPr>
          <a:xfrm flipH="1">
            <a:off x="2052756" y="3113544"/>
            <a:ext cx="224772" cy="5314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5" idx="4"/>
            <a:endCxn id="10" idx="0"/>
          </p:cNvCxnSpPr>
          <p:nvPr/>
        </p:nvCxnSpPr>
        <p:spPr>
          <a:xfrm>
            <a:off x="2277528" y="3113544"/>
            <a:ext cx="452966" cy="5314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6" idx="4"/>
            <a:endCxn id="11" idx="0"/>
          </p:cNvCxnSpPr>
          <p:nvPr/>
        </p:nvCxnSpPr>
        <p:spPr>
          <a:xfrm flipH="1">
            <a:off x="3546545" y="3119603"/>
            <a:ext cx="651703" cy="52539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2" idx="0"/>
          </p:cNvCxnSpPr>
          <p:nvPr/>
        </p:nvCxnSpPr>
        <p:spPr>
          <a:xfrm>
            <a:off x="4197112" y="3138108"/>
            <a:ext cx="4301" cy="5068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6" idx="4"/>
            <a:endCxn id="13" idx="0"/>
          </p:cNvCxnSpPr>
          <p:nvPr/>
        </p:nvCxnSpPr>
        <p:spPr>
          <a:xfrm>
            <a:off x="4198248" y="3119603"/>
            <a:ext cx="656221" cy="52539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7" idx="4"/>
            <a:endCxn id="14" idx="0"/>
          </p:cNvCxnSpPr>
          <p:nvPr/>
        </p:nvCxnSpPr>
        <p:spPr>
          <a:xfrm flipH="1">
            <a:off x="5732801" y="3113544"/>
            <a:ext cx="386167" cy="51294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7" idx="4"/>
          </p:cNvCxnSpPr>
          <p:nvPr/>
        </p:nvCxnSpPr>
        <p:spPr>
          <a:xfrm>
            <a:off x="6118968" y="3113544"/>
            <a:ext cx="274320" cy="51294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4"/>
            <a:endCxn id="16" idx="0"/>
          </p:cNvCxnSpPr>
          <p:nvPr/>
        </p:nvCxnSpPr>
        <p:spPr>
          <a:xfrm>
            <a:off x="6118968" y="3113544"/>
            <a:ext cx="897424" cy="5314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28"/>
          <p:cNvSpPr txBox="1">
            <a:spLocks noChangeArrowheads="1"/>
          </p:cNvSpPr>
          <p:nvPr/>
        </p:nvSpPr>
        <p:spPr bwMode="auto">
          <a:xfrm>
            <a:off x="1725520" y="1310278"/>
            <a:ext cx="19478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MAX (player)</a:t>
            </a:r>
          </a:p>
        </p:txBody>
      </p:sp>
      <p:sp>
        <p:nvSpPr>
          <p:cNvPr id="54" name="Text Box 29"/>
          <p:cNvSpPr txBox="1">
            <a:spLocks noChangeArrowheads="1"/>
          </p:cNvSpPr>
          <p:nvPr/>
        </p:nvSpPr>
        <p:spPr bwMode="auto">
          <a:xfrm>
            <a:off x="359532" y="2200274"/>
            <a:ext cx="16646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MIN</a:t>
            </a:r>
            <a:br>
              <a:rPr lang="en-US" altLang="en-US" sz="2400" dirty="0"/>
            </a:br>
            <a:r>
              <a:rPr lang="en-US" altLang="en-US" sz="2400" dirty="0"/>
              <a:t>(opponent)</a:t>
            </a:r>
          </a:p>
        </p:txBody>
      </p:sp>
      <p:sp>
        <p:nvSpPr>
          <p:cNvPr id="56" name="Oval 55"/>
          <p:cNvSpPr/>
          <p:nvPr/>
        </p:nvSpPr>
        <p:spPr>
          <a:xfrm>
            <a:off x="1167156" y="3688324"/>
            <a:ext cx="457200" cy="4572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3316204" y="3689268"/>
            <a:ext cx="457200" cy="4572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6785604" y="3691880"/>
            <a:ext cx="457200" cy="4572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2102472" y="2613803"/>
            <a:ext cx="35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0699" y="2615656"/>
            <a:ext cx="35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79093" y="2622164"/>
            <a:ext cx="318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12459" y="1355516"/>
            <a:ext cx="35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256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3" grpId="0"/>
      <p:bldP spid="54" grpId="0"/>
      <p:bldP spid="56" grpId="0" animBg="1"/>
      <p:bldP spid="59" grpId="0" animBg="1"/>
      <p:bldP spid="60" grpId="0" animBg="1"/>
      <p:bldP spid="61" grpId="0"/>
      <p:bldP spid="62" grpId="0"/>
      <p:bldP spid="63" grpId="0"/>
      <p:bldP spid="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Minimax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 decision rule that </a:t>
            </a:r>
            <a:r>
              <a:rPr lang="en-IN" b="1" dirty="0"/>
              <a:t>minimize the maximum loss </a:t>
            </a:r>
            <a:r>
              <a:rPr lang="en-IN" dirty="0"/>
              <a:t>and </a:t>
            </a:r>
            <a:r>
              <a:rPr lang="en-IN" b="1" dirty="0"/>
              <a:t>maximize the minimum profit(gain)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1026" name="Picture 2" descr="A move tree from the perspective of the other player, 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7" t="7921" r="13287" b="7014"/>
          <a:stretch/>
        </p:blipFill>
        <p:spPr bwMode="auto">
          <a:xfrm>
            <a:off x="1691680" y="1988840"/>
            <a:ext cx="5760640" cy="447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283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Minimax Principle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key to the Minimax algorithm is a </a:t>
            </a:r>
            <a:r>
              <a:rPr lang="en-IN" b="1" dirty="0"/>
              <a:t>back and forth between </a:t>
            </a:r>
            <a:r>
              <a:rPr lang="en-IN" dirty="0"/>
              <a:t>the two players, where the player whose "turn it is" desires to select the move with the </a:t>
            </a:r>
            <a:r>
              <a:rPr lang="en-IN" b="1" dirty="0">
                <a:solidFill>
                  <a:srgbClr val="FF0000"/>
                </a:solidFill>
              </a:rPr>
              <a:t>maximum score</a:t>
            </a:r>
            <a:r>
              <a:rPr lang="en-IN" dirty="0"/>
              <a:t>. </a:t>
            </a:r>
          </a:p>
          <a:p>
            <a:r>
              <a:rPr lang="en-IN" dirty="0"/>
              <a:t>In turn, the scores for each of the available moves are determined by the opposing player deciding which of its available moves has the </a:t>
            </a:r>
            <a:r>
              <a:rPr lang="en-IN" b="1" dirty="0">
                <a:solidFill>
                  <a:srgbClr val="FF0000"/>
                </a:solidFill>
              </a:rPr>
              <a:t>minimum score</a:t>
            </a:r>
            <a:r>
              <a:rPr lang="en-IN" dirty="0"/>
              <a:t>. </a:t>
            </a:r>
          </a:p>
          <a:p>
            <a:r>
              <a:rPr lang="en-US" dirty="0"/>
              <a:t>It uses a simple </a:t>
            </a:r>
            <a:r>
              <a:rPr lang="en-US" b="1" dirty="0"/>
              <a:t>recursive computation of the minimax values</a:t>
            </a:r>
            <a:r>
              <a:rPr lang="en-US" dirty="0"/>
              <a:t> of each successor state.</a:t>
            </a:r>
          </a:p>
          <a:p>
            <a:r>
              <a:rPr lang="en-US" dirty="0"/>
              <a:t>The recursion proceeds all the way down to the leaves of the tree, and then </a:t>
            </a:r>
            <a:r>
              <a:rPr lang="en-US" b="1" dirty="0"/>
              <a:t>the minimax values are backed up</a:t>
            </a:r>
            <a:r>
              <a:rPr lang="en-US" dirty="0"/>
              <a:t> through the tree as the recursion unwinds. </a:t>
            </a:r>
          </a:p>
        </p:txBody>
      </p:sp>
    </p:spTree>
    <p:extLst>
      <p:ext uri="{BB962C8B-B14F-4D97-AF65-F5344CB8AC3E}">
        <p14:creationId xmlns:p14="http://schemas.microsoft.com/office/powerpoint/2010/main" val="2044754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61277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Minimax Principle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19096"/>
              </p:ext>
            </p:extLst>
          </p:nvPr>
        </p:nvGraphicFramePr>
        <p:xfrm>
          <a:off x="4840466" y="762794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endParaRPr lang="en-IN" sz="20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081947"/>
              </p:ext>
            </p:extLst>
          </p:nvPr>
        </p:nvGraphicFramePr>
        <p:xfrm>
          <a:off x="3072552" y="23841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endParaRPr lang="en-IN" sz="20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57988"/>
              </p:ext>
            </p:extLst>
          </p:nvPr>
        </p:nvGraphicFramePr>
        <p:xfrm>
          <a:off x="4840466" y="23841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232152"/>
              </p:ext>
            </p:extLst>
          </p:nvPr>
        </p:nvGraphicFramePr>
        <p:xfrm>
          <a:off x="6586212" y="2380496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endParaRPr lang="en-IN" sz="20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2929"/>
              </p:ext>
            </p:extLst>
          </p:nvPr>
        </p:nvGraphicFramePr>
        <p:xfrm>
          <a:off x="2326720" y="39986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05216"/>
              </p:ext>
            </p:extLst>
          </p:nvPr>
        </p:nvGraphicFramePr>
        <p:xfrm>
          <a:off x="3852064" y="39986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89508"/>
              </p:ext>
            </p:extLst>
          </p:nvPr>
        </p:nvGraphicFramePr>
        <p:xfrm>
          <a:off x="5903166" y="39986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48160"/>
              </p:ext>
            </p:extLst>
          </p:nvPr>
        </p:nvGraphicFramePr>
        <p:xfrm>
          <a:off x="7517571" y="39986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562205"/>
              </p:ext>
            </p:extLst>
          </p:nvPr>
        </p:nvGraphicFramePr>
        <p:xfrm>
          <a:off x="3860013" y="561312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027698"/>
              </p:ext>
            </p:extLst>
          </p:nvPr>
        </p:nvGraphicFramePr>
        <p:xfrm>
          <a:off x="7513662" y="5589240"/>
          <a:ext cx="131980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936">
                  <a:extLst>
                    <a:ext uri="{9D8B030D-6E8A-4147-A177-3AD203B41FA5}">
                      <a16:colId xmlns="" xmlns:a16="http://schemas.microsoft.com/office/drawing/2014/main" val="2403557657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3483481"/>
                    </a:ext>
                  </a:extLst>
                </a:gridCol>
                <a:gridCol w="439936">
                  <a:extLst>
                    <a:ext uri="{9D8B030D-6E8A-4147-A177-3AD203B41FA5}">
                      <a16:colId xmlns="" xmlns:a16="http://schemas.microsoft.com/office/drawing/2014/main" val="711156532"/>
                    </a:ext>
                  </a:extLst>
                </a:gridCol>
              </a:tblGrid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72244071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988869556"/>
                  </a:ext>
                </a:extLst>
              </a:tr>
              <a:tr h="32929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29477871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98628" y="2739556"/>
            <a:ext cx="828092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92" y="2739556"/>
            <a:ext cx="1404156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Computer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5408" y="1172540"/>
            <a:ext cx="828092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72" y="1172540"/>
            <a:ext cx="1404156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Human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1246" y="4365104"/>
            <a:ext cx="828092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10" y="4365104"/>
            <a:ext cx="1404156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Human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1246" y="5976460"/>
            <a:ext cx="828092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10" y="5976460"/>
            <a:ext cx="1404156" cy="476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Computer</a:t>
            </a:r>
          </a:p>
        </p:txBody>
      </p:sp>
      <p:cxnSp>
        <p:nvCxnSpPr>
          <p:cNvPr id="31" name="Straight Arrow Connector 30"/>
          <p:cNvCxnSpPr>
            <a:stCxn id="8" idx="2"/>
            <a:endCxn id="10" idx="0"/>
          </p:cNvCxnSpPr>
          <p:nvPr/>
        </p:nvCxnSpPr>
        <p:spPr>
          <a:xfrm>
            <a:off x="5500370" y="1951514"/>
            <a:ext cx="0" cy="432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0"/>
          </p:cNvCxnSpPr>
          <p:nvPr/>
        </p:nvCxnSpPr>
        <p:spPr>
          <a:xfrm flipH="1">
            <a:off x="3732456" y="1951514"/>
            <a:ext cx="1307596" cy="432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0"/>
          </p:cNvCxnSpPr>
          <p:nvPr/>
        </p:nvCxnSpPr>
        <p:spPr>
          <a:xfrm>
            <a:off x="5948477" y="1951514"/>
            <a:ext cx="1297639" cy="428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12" idx="0"/>
          </p:cNvCxnSpPr>
          <p:nvPr/>
        </p:nvCxnSpPr>
        <p:spPr>
          <a:xfrm flipH="1">
            <a:off x="2986624" y="3569216"/>
            <a:ext cx="651018" cy="429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13" idx="0"/>
          </p:cNvCxnSpPr>
          <p:nvPr/>
        </p:nvCxnSpPr>
        <p:spPr>
          <a:xfrm>
            <a:off x="3852064" y="3569216"/>
            <a:ext cx="659904" cy="429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14" idx="0"/>
          </p:cNvCxnSpPr>
          <p:nvPr/>
        </p:nvCxnSpPr>
        <p:spPr>
          <a:xfrm flipH="1">
            <a:off x="6563070" y="3585250"/>
            <a:ext cx="555824" cy="413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15" idx="0"/>
          </p:cNvCxnSpPr>
          <p:nvPr/>
        </p:nvCxnSpPr>
        <p:spPr>
          <a:xfrm>
            <a:off x="7394746" y="3585250"/>
            <a:ext cx="782729" cy="413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6" idx="0"/>
          </p:cNvCxnSpPr>
          <p:nvPr/>
        </p:nvCxnSpPr>
        <p:spPr>
          <a:xfrm flipV="1">
            <a:off x="4519917" y="5211220"/>
            <a:ext cx="0" cy="4019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8177475" y="5187340"/>
            <a:ext cx="0" cy="4019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619180" y="2154041"/>
            <a:ext cx="523622" cy="1870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33104" y="3772165"/>
            <a:ext cx="523622" cy="1870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43500" y="3772627"/>
            <a:ext cx="523622" cy="1870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68507" y="5394583"/>
            <a:ext cx="523622" cy="1870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11503" y="5364947"/>
            <a:ext cx="523622" cy="18703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WIN</a:t>
            </a:r>
          </a:p>
        </p:txBody>
      </p:sp>
    </p:spTree>
    <p:extLst>
      <p:ext uri="{BB962C8B-B14F-4D97-AF65-F5344CB8AC3E}">
        <p14:creationId xmlns:p14="http://schemas.microsoft.com/office/powerpoint/2010/main" val="630992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961" t="1918" r="6799"/>
          <a:stretch/>
        </p:blipFill>
        <p:spPr>
          <a:xfrm>
            <a:off x="704293" y="2644"/>
            <a:ext cx="7735414" cy="681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31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Travelling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set of cities and distance between every pair of vertices the problem is to find the shortest possible route that visits every city once and returns to the starting city.</a:t>
            </a:r>
          </a:p>
          <a:p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5613200" y="260090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3959932" y="494116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7272300" y="494116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5616116" y="390603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</a:t>
            </a:r>
            <a:endParaRPr lang="en-IN" b="1" dirty="0"/>
          </a:p>
        </p:txBody>
      </p:sp>
      <p:cxnSp>
        <p:nvCxnSpPr>
          <p:cNvPr id="9" name="Straight Connector 8"/>
          <p:cNvCxnSpPr>
            <a:stCxn id="4" idx="2"/>
            <a:endCxn id="5" idx="0"/>
          </p:cNvCxnSpPr>
          <p:nvPr/>
        </p:nvCxnSpPr>
        <p:spPr>
          <a:xfrm flipH="1">
            <a:off x="4229932" y="2870908"/>
            <a:ext cx="1383268" cy="2070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6"/>
            <a:endCxn id="6" idx="2"/>
          </p:cNvCxnSpPr>
          <p:nvPr/>
        </p:nvCxnSpPr>
        <p:spPr>
          <a:xfrm>
            <a:off x="4499932" y="5211168"/>
            <a:ext cx="27723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7"/>
            <a:endCxn id="7" idx="3"/>
          </p:cNvCxnSpPr>
          <p:nvPr/>
        </p:nvCxnSpPr>
        <p:spPr>
          <a:xfrm flipV="1">
            <a:off x="4420851" y="4366957"/>
            <a:ext cx="1274346" cy="6532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1"/>
            <a:endCxn id="7" idx="5"/>
          </p:cNvCxnSpPr>
          <p:nvPr/>
        </p:nvCxnSpPr>
        <p:spPr>
          <a:xfrm flipH="1" flipV="1">
            <a:off x="6077035" y="4366957"/>
            <a:ext cx="1274346" cy="6532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0"/>
            <a:endCxn id="4" idx="6"/>
          </p:cNvCxnSpPr>
          <p:nvPr/>
        </p:nvCxnSpPr>
        <p:spPr>
          <a:xfrm flipH="1" flipV="1">
            <a:off x="6153200" y="2870908"/>
            <a:ext cx="1389100" cy="2070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0"/>
            <a:endCxn id="4" idx="4"/>
          </p:cNvCxnSpPr>
          <p:nvPr/>
        </p:nvCxnSpPr>
        <p:spPr>
          <a:xfrm flipH="1" flipV="1">
            <a:off x="5883200" y="3140908"/>
            <a:ext cx="2916" cy="7651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5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15695</TotalTime>
  <Words>1255</Words>
  <Application>Microsoft Office PowerPoint</Application>
  <PresentationFormat>On-screen Show (4:3)</PresentationFormat>
  <Paragraphs>426</Paragraphs>
  <Slides>19</Slides>
  <Notes>3</Notes>
  <HiddenSlides>6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Custom Design</vt:lpstr>
      <vt:lpstr>PowerPoint Presentation</vt:lpstr>
      <vt:lpstr>Backtracking</vt:lpstr>
      <vt:lpstr>The N - Queens Problem</vt:lpstr>
      <vt:lpstr>The 4 - queen Problem </vt:lpstr>
      <vt:lpstr>N - Queen Problem</vt:lpstr>
      <vt:lpstr>N - Queen Problem  </vt:lpstr>
      <vt:lpstr>PowerPoint Presentation</vt:lpstr>
      <vt:lpstr>PowerPoint Presentation</vt:lpstr>
      <vt:lpstr>N - Queens State Space Tree</vt:lpstr>
      <vt:lpstr>PowerPoint Presentation</vt:lpstr>
      <vt:lpstr>Knapsack Problem</vt:lpstr>
      <vt:lpstr>Knapsack Problem – Cont…</vt:lpstr>
      <vt:lpstr>Knapsack Problem – Algorithm</vt:lpstr>
      <vt:lpstr>Minimax Principle</vt:lpstr>
      <vt:lpstr>Minimax Principle</vt:lpstr>
      <vt:lpstr>Minimax Principle </vt:lpstr>
      <vt:lpstr>Minimax Principle – Cont…</vt:lpstr>
      <vt:lpstr>PowerPoint Presentation</vt:lpstr>
      <vt:lpstr>Travelling Salesman Problem</vt:lpstr>
    </vt:vector>
  </TitlesOfParts>
  <Company>Darshan Institute of Engg. &amp; Tech.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OOPC++ UNIT-1</dc:title>
  <dc:creator>Darshan Institute of Engg. &amp; Tech.</dc:creator>
  <cp:lastModifiedBy>Meet</cp:lastModifiedBy>
  <cp:revision>3244</cp:revision>
  <dcterms:created xsi:type="dcterms:W3CDTF">2013-05-17T03:00:03Z</dcterms:created>
  <dcterms:modified xsi:type="dcterms:W3CDTF">2020-10-08T06:41:39Z</dcterms:modified>
</cp:coreProperties>
</file>