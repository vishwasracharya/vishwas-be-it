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24" r:id="rId2"/>
    <p:sldId id="360" r:id="rId3"/>
    <p:sldId id="258" r:id="rId4"/>
    <p:sldId id="259" r:id="rId5"/>
    <p:sldId id="314" r:id="rId6"/>
    <p:sldId id="361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62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CE4A"/>
    <a:srgbClr val="0066FF"/>
    <a:srgbClr val="0066CC"/>
    <a:srgbClr val="7BA1CE"/>
    <a:srgbClr val="0033CC"/>
    <a:srgbClr val="E40524"/>
    <a:srgbClr val="A7C0DE"/>
    <a:srgbClr val="34495E"/>
    <a:srgbClr val="FF6702"/>
    <a:srgbClr val="D6B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3648" autoAdjust="0"/>
  </p:normalViewPr>
  <p:slideViewPr>
    <p:cSldViewPr>
      <p:cViewPr varScale="1">
        <p:scale>
          <a:sx n="69" d="100"/>
          <a:sy n="69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8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C02A7E-BDAA-4D84-8A06-3B1E9545ED0F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</dgm:pt>
    <dgm:pt modelId="{8838297E-A6BB-4E2D-993D-D1F240C7A0E5}">
      <dgm:prSet phldrT="[Text]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13715D51-81D6-487D-8110-977FA083D2AF}" type="parTrans" cxnId="{C5668CC5-3494-4F7E-B8C8-012A59AB8A22}">
      <dgm:prSet/>
      <dgm:spPr/>
      <dgm:t>
        <a:bodyPr/>
        <a:lstStyle/>
        <a:p>
          <a:endParaRPr lang="en-US"/>
        </a:p>
      </dgm:t>
    </dgm:pt>
    <dgm:pt modelId="{2B265654-EFED-4E60-8FED-05ABC4892D15}" type="sibTrans" cxnId="{C5668CC5-3494-4F7E-B8C8-012A59AB8A22}">
      <dgm:prSet/>
      <dgm:spPr/>
      <dgm:t>
        <a:bodyPr/>
        <a:lstStyle/>
        <a:p>
          <a:endParaRPr lang="en-US"/>
        </a:p>
      </dgm:t>
    </dgm:pt>
    <dgm:pt modelId="{A5168DAA-5832-4B71-9E4C-8E7C6E31C15C}" type="pres">
      <dgm:prSet presAssocID="{20C02A7E-BDAA-4D84-8A06-3B1E9545ED0F}" presName="Name0" presStyleCnt="0">
        <dgm:presLayoutVars>
          <dgm:chMax val="7"/>
          <dgm:dir/>
          <dgm:resizeHandles val="exact"/>
        </dgm:presLayoutVars>
      </dgm:prSet>
      <dgm:spPr/>
    </dgm:pt>
    <dgm:pt modelId="{E096C930-F471-4C6E-AB61-E4C717BBF448}" type="pres">
      <dgm:prSet presAssocID="{20C02A7E-BDAA-4D84-8A06-3B1E9545ED0F}" presName="ellipse1" presStyleLbl="vennNode1" presStyleIdx="0" presStyleCnt="1" custLinFactNeighborX="-27861" custLinFactNeighborY="571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BA3D04-BAA6-4D06-B8BD-CC758AA7F558}" type="presOf" srcId="{8838297E-A6BB-4E2D-993D-D1F240C7A0E5}" destId="{E096C930-F471-4C6E-AB61-E4C717BBF448}" srcOrd="0" destOrd="0" presId="urn:microsoft.com/office/officeart/2005/8/layout/rings+Icon"/>
    <dgm:cxn modelId="{C5668CC5-3494-4F7E-B8C8-012A59AB8A22}" srcId="{20C02A7E-BDAA-4D84-8A06-3B1E9545ED0F}" destId="{8838297E-A6BB-4E2D-993D-D1F240C7A0E5}" srcOrd="0" destOrd="0" parTransId="{13715D51-81D6-487D-8110-977FA083D2AF}" sibTransId="{2B265654-EFED-4E60-8FED-05ABC4892D15}"/>
    <dgm:cxn modelId="{000F9FC0-3259-4619-9773-9A2E59BA143E}" type="presOf" srcId="{20C02A7E-BDAA-4D84-8A06-3B1E9545ED0F}" destId="{A5168DAA-5832-4B71-9E4C-8E7C6E31C15C}" srcOrd="0" destOrd="0" presId="urn:microsoft.com/office/officeart/2005/8/layout/rings+Icon"/>
    <dgm:cxn modelId="{786E2171-EA76-4DAD-8B6E-488ABEE21312}" type="presParOf" srcId="{A5168DAA-5832-4B71-9E4C-8E7C6E31C15C}" destId="{E096C930-F471-4C6E-AB61-E4C717BBF448}" srcOrd="0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1493E6-48FE-4BEB-9E64-A0F1471779FB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</dgm:pt>
    <dgm:pt modelId="{B68D86C1-F24F-4746-985A-AC79499179C3}">
      <dgm:prSet phldrT="[Text]"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2600" dirty="0"/>
            <a:t>B</a:t>
          </a:r>
        </a:p>
      </dgm:t>
    </dgm:pt>
    <dgm:pt modelId="{722186E5-B8DB-4E50-ACCC-37A738991478}" type="parTrans" cxnId="{A48C920F-9384-4AFD-BBF2-A3F353474E92}">
      <dgm:prSet/>
      <dgm:spPr/>
      <dgm:t>
        <a:bodyPr/>
        <a:lstStyle/>
        <a:p>
          <a:endParaRPr lang="en-US"/>
        </a:p>
      </dgm:t>
    </dgm:pt>
    <dgm:pt modelId="{5C00451B-B5B4-4DA2-8AB6-1882868C0BDE}" type="sibTrans" cxnId="{A48C920F-9384-4AFD-BBF2-A3F353474E92}">
      <dgm:prSet/>
      <dgm:spPr/>
      <dgm:t>
        <a:bodyPr/>
        <a:lstStyle/>
        <a:p>
          <a:endParaRPr lang="en-US"/>
        </a:p>
      </dgm:t>
    </dgm:pt>
    <dgm:pt modelId="{A05B76BF-15AF-4230-9255-55AE1FC9306A}" type="pres">
      <dgm:prSet presAssocID="{361493E6-48FE-4BEB-9E64-A0F1471779FB}" presName="Name0" presStyleCnt="0">
        <dgm:presLayoutVars>
          <dgm:chMax val="7"/>
          <dgm:dir/>
          <dgm:resizeHandles val="exact"/>
        </dgm:presLayoutVars>
      </dgm:prSet>
      <dgm:spPr/>
    </dgm:pt>
    <dgm:pt modelId="{EAE2C94E-E2C4-4EDA-BF4C-BBF1652B5066}" type="pres">
      <dgm:prSet presAssocID="{361493E6-48FE-4BEB-9E64-A0F1471779FB}" presName="ellipse1" presStyleLbl="vennNode1" presStyleIdx="0" presStyleCnt="1" custLinFactNeighborX="-20128" custLinFactNeighborY="44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48C920F-9384-4AFD-BBF2-A3F353474E92}" srcId="{361493E6-48FE-4BEB-9E64-A0F1471779FB}" destId="{B68D86C1-F24F-4746-985A-AC79499179C3}" srcOrd="0" destOrd="0" parTransId="{722186E5-B8DB-4E50-ACCC-37A738991478}" sibTransId="{5C00451B-B5B4-4DA2-8AB6-1882868C0BDE}"/>
    <dgm:cxn modelId="{BC0F4742-AA8B-49B5-A4E6-982DFF855319}" type="presOf" srcId="{B68D86C1-F24F-4746-985A-AC79499179C3}" destId="{EAE2C94E-E2C4-4EDA-BF4C-BBF1652B5066}" srcOrd="0" destOrd="0" presId="urn:microsoft.com/office/officeart/2005/8/layout/rings+Icon"/>
    <dgm:cxn modelId="{AFDA960D-C6AD-4F33-B97D-702F81AFD85E}" type="presOf" srcId="{361493E6-48FE-4BEB-9E64-A0F1471779FB}" destId="{A05B76BF-15AF-4230-9255-55AE1FC9306A}" srcOrd="0" destOrd="0" presId="urn:microsoft.com/office/officeart/2005/8/layout/rings+Icon"/>
    <dgm:cxn modelId="{81CB537B-DA19-4ACD-B134-4A97851CCBA8}" type="presParOf" srcId="{A05B76BF-15AF-4230-9255-55AE1FC9306A}" destId="{EAE2C94E-E2C4-4EDA-BF4C-BBF1652B5066}" srcOrd="0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801209-AB1F-426F-AC5E-959616E1A87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03FE9124-2D8E-4D9A-837E-49CD930A92B6}">
      <dgm:prSet phldrT="[Text]"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6500" dirty="0"/>
            <a:t> </a:t>
          </a:r>
          <a:r>
            <a:rPr lang="en-US" sz="4400" dirty="0"/>
            <a:t>A</a:t>
          </a:r>
        </a:p>
      </dgm:t>
    </dgm:pt>
    <dgm:pt modelId="{051411EA-2D87-4396-AA60-24EF9A8188B3}" type="parTrans" cxnId="{2C8FCA68-88D6-4FAF-9637-F2752B1CEDAE}">
      <dgm:prSet/>
      <dgm:spPr/>
      <dgm:t>
        <a:bodyPr/>
        <a:lstStyle/>
        <a:p>
          <a:endParaRPr lang="en-US"/>
        </a:p>
      </dgm:t>
    </dgm:pt>
    <dgm:pt modelId="{E60CFB83-A9CF-4FCA-B42A-56E23B9CCA3D}" type="sibTrans" cxnId="{2C8FCA68-88D6-4FAF-9637-F2752B1CEDAE}">
      <dgm:prSet/>
      <dgm:spPr/>
      <dgm:t>
        <a:bodyPr/>
        <a:lstStyle/>
        <a:p>
          <a:endParaRPr lang="en-US"/>
        </a:p>
      </dgm:t>
    </dgm:pt>
    <dgm:pt modelId="{4DB94439-FB73-4DF8-80C9-B7D111C2878D}">
      <dgm:prSet phldrT="[Text]" custT="1"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4400" dirty="0"/>
            <a:t>B</a:t>
          </a:r>
        </a:p>
      </dgm:t>
    </dgm:pt>
    <dgm:pt modelId="{F2BB63A1-4215-4C41-9157-A6AE40393D2D}" type="parTrans" cxnId="{8718FBCB-E0FC-4F95-BB96-20942BED348F}">
      <dgm:prSet/>
      <dgm:spPr/>
      <dgm:t>
        <a:bodyPr/>
        <a:lstStyle/>
        <a:p>
          <a:endParaRPr lang="en-US"/>
        </a:p>
      </dgm:t>
    </dgm:pt>
    <dgm:pt modelId="{4B1F1D43-A649-4406-90B4-08C3BB940CDE}" type="sibTrans" cxnId="{8718FBCB-E0FC-4F95-BB96-20942BED348F}">
      <dgm:prSet/>
      <dgm:spPr/>
      <dgm:t>
        <a:bodyPr/>
        <a:lstStyle/>
        <a:p>
          <a:endParaRPr lang="en-US"/>
        </a:p>
      </dgm:t>
    </dgm:pt>
    <dgm:pt modelId="{C167175D-D605-445E-B110-FC4C8265D082}" type="pres">
      <dgm:prSet presAssocID="{9E801209-AB1F-426F-AC5E-959616E1A871}" presName="compositeShape" presStyleCnt="0">
        <dgm:presLayoutVars>
          <dgm:chMax val="7"/>
          <dgm:dir/>
          <dgm:resizeHandles val="exact"/>
        </dgm:presLayoutVars>
      </dgm:prSet>
      <dgm:spPr/>
    </dgm:pt>
    <dgm:pt modelId="{FF9F3275-AE11-4E74-8BEB-999A10E5283E}" type="pres">
      <dgm:prSet presAssocID="{03FE9124-2D8E-4D9A-837E-49CD930A92B6}" presName="circ1" presStyleLbl="vennNode1" presStyleIdx="0" presStyleCnt="2"/>
      <dgm:spPr/>
      <dgm:t>
        <a:bodyPr/>
        <a:lstStyle/>
        <a:p>
          <a:endParaRPr lang="en-US"/>
        </a:p>
      </dgm:t>
    </dgm:pt>
    <dgm:pt modelId="{E714446B-3EB1-4FAB-9005-0FC210241CE1}" type="pres">
      <dgm:prSet presAssocID="{03FE9124-2D8E-4D9A-837E-49CD930A92B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1E4F6F-E8EC-4652-A466-B4413EC2A6CF}" type="pres">
      <dgm:prSet presAssocID="{4DB94439-FB73-4DF8-80C9-B7D111C2878D}" presName="circ2" presStyleLbl="vennNode1" presStyleIdx="1" presStyleCnt="2"/>
      <dgm:spPr/>
      <dgm:t>
        <a:bodyPr/>
        <a:lstStyle/>
        <a:p>
          <a:endParaRPr lang="en-US"/>
        </a:p>
      </dgm:t>
    </dgm:pt>
    <dgm:pt modelId="{D3482414-218C-448A-9EEF-CE334DF883F8}" type="pres">
      <dgm:prSet presAssocID="{4DB94439-FB73-4DF8-80C9-B7D111C2878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5BF96F-AFC0-41F4-AB35-5623F2FE2873}" type="presOf" srcId="{4DB94439-FB73-4DF8-80C9-B7D111C2878D}" destId="{D3482414-218C-448A-9EEF-CE334DF883F8}" srcOrd="1" destOrd="0" presId="urn:microsoft.com/office/officeart/2005/8/layout/venn1"/>
    <dgm:cxn modelId="{699815F2-ED3D-462C-8EE4-3084C373615E}" type="presOf" srcId="{9E801209-AB1F-426F-AC5E-959616E1A871}" destId="{C167175D-D605-445E-B110-FC4C8265D082}" srcOrd="0" destOrd="0" presId="urn:microsoft.com/office/officeart/2005/8/layout/venn1"/>
    <dgm:cxn modelId="{FB3D2226-2BC5-429B-9144-6D9444133E6D}" type="presOf" srcId="{4DB94439-FB73-4DF8-80C9-B7D111C2878D}" destId="{EB1E4F6F-E8EC-4652-A466-B4413EC2A6CF}" srcOrd="0" destOrd="0" presId="urn:microsoft.com/office/officeart/2005/8/layout/venn1"/>
    <dgm:cxn modelId="{C94FEFA4-7F37-436A-BA29-75B55D78B9BF}" type="presOf" srcId="{03FE9124-2D8E-4D9A-837E-49CD930A92B6}" destId="{FF9F3275-AE11-4E74-8BEB-999A10E5283E}" srcOrd="0" destOrd="0" presId="urn:microsoft.com/office/officeart/2005/8/layout/venn1"/>
    <dgm:cxn modelId="{19F6E926-2869-44BC-B2A0-2928C48FFE15}" type="presOf" srcId="{03FE9124-2D8E-4D9A-837E-49CD930A92B6}" destId="{E714446B-3EB1-4FAB-9005-0FC210241CE1}" srcOrd="1" destOrd="0" presId="urn:microsoft.com/office/officeart/2005/8/layout/venn1"/>
    <dgm:cxn modelId="{2C8FCA68-88D6-4FAF-9637-F2752B1CEDAE}" srcId="{9E801209-AB1F-426F-AC5E-959616E1A871}" destId="{03FE9124-2D8E-4D9A-837E-49CD930A92B6}" srcOrd="0" destOrd="0" parTransId="{051411EA-2D87-4396-AA60-24EF9A8188B3}" sibTransId="{E60CFB83-A9CF-4FCA-B42A-56E23B9CCA3D}"/>
    <dgm:cxn modelId="{8718FBCB-E0FC-4F95-BB96-20942BED348F}" srcId="{9E801209-AB1F-426F-AC5E-959616E1A871}" destId="{4DB94439-FB73-4DF8-80C9-B7D111C2878D}" srcOrd="1" destOrd="0" parTransId="{F2BB63A1-4215-4C41-9157-A6AE40393D2D}" sibTransId="{4B1F1D43-A649-4406-90B4-08C3BB940CDE}"/>
    <dgm:cxn modelId="{420E84F0-2BED-4E3A-B65A-BF45B6D94D4F}" type="presParOf" srcId="{C167175D-D605-445E-B110-FC4C8265D082}" destId="{FF9F3275-AE11-4E74-8BEB-999A10E5283E}" srcOrd="0" destOrd="0" presId="urn:microsoft.com/office/officeart/2005/8/layout/venn1"/>
    <dgm:cxn modelId="{611BE97E-6391-4DAA-87DD-B593A4FBFF0F}" type="presParOf" srcId="{C167175D-D605-445E-B110-FC4C8265D082}" destId="{E714446B-3EB1-4FAB-9005-0FC210241CE1}" srcOrd="1" destOrd="0" presId="urn:microsoft.com/office/officeart/2005/8/layout/venn1"/>
    <dgm:cxn modelId="{393E97D7-BF6C-4803-AF3E-041F9C8328C3}" type="presParOf" srcId="{C167175D-D605-445E-B110-FC4C8265D082}" destId="{EB1E4F6F-E8EC-4652-A466-B4413EC2A6CF}" srcOrd="2" destOrd="0" presId="urn:microsoft.com/office/officeart/2005/8/layout/venn1"/>
    <dgm:cxn modelId="{CD07B91A-53E2-4F33-B20B-55A0FC3B170B}" type="presParOf" srcId="{C167175D-D605-445E-B110-FC4C8265D082}" destId="{D3482414-218C-448A-9EEF-CE334DF883F8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801209-AB1F-426F-AC5E-959616E1A87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03FE9124-2D8E-4D9A-837E-49CD930A92B6}">
      <dgm:prSet phldrT="[Text]"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6500" dirty="0"/>
            <a:t> </a:t>
          </a:r>
          <a:r>
            <a:rPr lang="en-US" sz="4400" dirty="0"/>
            <a:t>A</a:t>
          </a:r>
        </a:p>
      </dgm:t>
    </dgm:pt>
    <dgm:pt modelId="{051411EA-2D87-4396-AA60-24EF9A8188B3}" type="parTrans" cxnId="{2C8FCA68-88D6-4FAF-9637-F2752B1CEDAE}">
      <dgm:prSet/>
      <dgm:spPr/>
      <dgm:t>
        <a:bodyPr/>
        <a:lstStyle/>
        <a:p>
          <a:endParaRPr lang="en-US"/>
        </a:p>
      </dgm:t>
    </dgm:pt>
    <dgm:pt modelId="{E60CFB83-A9CF-4FCA-B42A-56E23B9CCA3D}" type="sibTrans" cxnId="{2C8FCA68-88D6-4FAF-9637-F2752B1CEDAE}">
      <dgm:prSet/>
      <dgm:spPr/>
      <dgm:t>
        <a:bodyPr/>
        <a:lstStyle/>
        <a:p>
          <a:endParaRPr lang="en-US"/>
        </a:p>
      </dgm:t>
    </dgm:pt>
    <dgm:pt modelId="{4DB94439-FB73-4DF8-80C9-B7D111C2878D}">
      <dgm:prSet phldrT="[Text]"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4400" dirty="0"/>
            <a:t>B</a:t>
          </a:r>
        </a:p>
      </dgm:t>
    </dgm:pt>
    <dgm:pt modelId="{F2BB63A1-4215-4C41-9157-A6AE40393D2D}" type="parTrans" cxnId="{8718FBCB-E0FC-4F95-BB96-20942BED348F}">
      <dgm:prSet/>
      <dgm:spPr/>
      <dgm:t>
        <a:bodyPr/>
        <a:lstStyle/>
        <a:p>
          <a:endParaRPr lang="en-US"/>
        </a:p>
      </dgm:t>
    </dgm:pt>
    <dgm:pt modelId="{4B1F1D43-A649-4406-90B4-08C3BB940CDE}" type="sibTrans" cxnId="{8718FBCB-E0FC-4F95-BB96-20942BED348F}">
      <dgm:prSet/>
      <dgm:spPr/>
      <dgm:t>
        <a:bodyPr/>
        <a:lstStyle/>
        <a:p>
          <a:endParaRPr lang="en-US"/>
        </a:p>
      </dgm:t>
    </dgm:pt>
    <dgm:pt modelId="{C167175D-D605-445E-B110-FC4C8265D082}" type="pres">
      <dgm:prSet presAssocID="{9E801209-AB1F-426F-AC5E-959616E1A871}" presName="compositeShape" presStyleCnt="0">
        <dgm:presLayoutVars>
          <dgm:chMax val="7"/>
          <dgm:dir/>
          <dgm:resizeHandles val="exact"/>
        </dgm:presLayoutVars>
      </dgm:prSet>
      <dgm:spPr/>
    </dgm:pt>
    <dgm:pt modelId="{FF9F3275-AE11-4E74-8BEB-999A10E5283E}" type="pres">
      <dgm:prSet presAssocID="{03FE9124-2D8E-4D9A-837E-49CD930A92B6}" presName="circ1" presStyleLbl="vennNode1" presStyleIdx="0" presStyleCnt="2"/>
      <dgm:spPr/>
      <dgm:t>
        <a:bodyPr/>
        <a:lstStyle/>
        <a:p>
          <a:endParaRPr lang="en-US"/>
        </a:p>
      </dgm:t>
    </dgm:pt>
    <dgm:pt modelId="{E714446B-3EB1-4FAB-9005-0FC210241CE1}" type="pres">
      <dgm:prSet presAssocID="{03FE9124-2D8E-4D9A-837E-49CD930A92B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1E4F6F-E8EC-4652-A466-B4413EC2A6CF}" type="pres">
      <dgm:prSet presAssocID="{4DB94439-FB73-4DF8-80C9-B7D111C2878D}" presName="circ2" presStyleLbl="vennNode1" presStyleIdx="1" presStyleCnt="2"/>
      <dgm:spPr/>
      <dgm:t>
        <a:bodyPr/>
        <a:lstStyle/>
        <a:p>
          <a:endParaRPr lang="en-US"/>
        </a:p>
      </dgm:t>
    </dgm:pt>
    <dgm:pt modelId="{D3482414-218C-448A-9EEF-CE334DF883F8}" type="pres">
      <dgm:prSet presAssocID="{4DB94439-FB73-4DF8-80C9-B7D111C2878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5BF96F-AFC0-41F4-AB35-5623F2FE2873}" type="presOf" srcId="{4DB94439-FB73-4DF8-80C9-B7D111C2878D}" destId="{D3482414-218C-448A-9EEF-CE334DF883F8}" srcOrd="1" destOrd="0" presId="urn:microsoft.com/office/officeart/2005/8/layout/venn1"/>
    <dgm:cxn modelId="{699815F2-ED3D-462C-8EE4-3084C373615E}" type="presOf" srcId="{9E801209-AB1F-426F-AC5E-959616E1A871}" destId="{C167175D-D605-445E-B110-FC4C8265D082}" srcOrd="0" destOrd="0" presId="urn:microsoft.com/office/officeart/2005/8/layout/venn1"/>
    <dgm:cxn modelId="{FB3D2226-2BC5-429B-9144-6D9444133E6D}" type="presOf" srcId="{4DB94439-FB73-4DF8-80C9-B7D111C2878D}" destId="{EB1E4F6F-E8EC-4652-A466-B4413EC2A6CF}" srcOrd="0" destOrd="0" presId="urn:microsoft.com/office/officeart/2005/8/layout/venn1"/>
    <dgm:cxn modelId="{C94FEFA4-7F37-436A-BA29-75B55D78B9BF}" type="presOf" srcId="{03FE9124-2D8E-4D9A-837E-49CD930A92B6}" destId="{FF9F3275-AE11-4E74-8BEB-999A10E5283E}" srcOrd="0" destOrd="0" presId="urn:microsoft.com/office/officeart/2005/8/layout/venn1"/>
    <dgm:cxn modelId="{19F6E926-2869-44BC-B2A0-2928C48FFE15}" type="presOf" srcId="{03FE9124-2D8E-4D9A-837E-49CD930A92B6}" destId="{E714446B-3EB1-4FAB-9005-0FC210241CE1}" srcOrd="1" destOrd="0" presId="urn:microsoft.com/office/officeart/2005/8/layout/venn1"/>
    <dgm:cxn modelId="{2C8FCA68-88D6-4FAF-9637-F2752B1CEDAE}" srcId="{9E801209-AB1F-426F-AC5E-959616E1A871}" destId="{03FE9124-2D8E-4D9A-837E-49CD930A92B6}" srcOrd="0" destOrd="0" parTransId="{051411EA-2D87-4396-AA60-24EF9A8188B3}" sibTransId="{E60CFB83-A9CF-4FCA-B42A-56E23B9CCA3D}"/>
    <dgm:cxn modelId="{8718FBCB-E0FC-4F95-BB96-20942BED348F}" srcId="{9E801209-AB1F-426F-AC5E-959616E1A871}" destId="{4DB94439-FB73-4DF8-80C9-B7D111C2878D}" srcOrd="1" destOrd="0" parTransId="{F2BB63A1-4215-4C41-9157-A6AE40393D2D}" sibTransId="{4B1F1D43-A649-4406-90B4-08C3BB940CDE}"/>
    <dgm:cxn modelId="{420E84F0-2BED-4E3A-B65A-BF45B6D94D4F}" type="presParOf" srcId="{C167175D-D605-445E-B110-FC4C8265D082}" destId="{FF9F3275-AE11-4E74-8BEB-999A10E5283E}" srcOrd="0" destOrd="0" presId="urn:microsoft.com/office/officeart/2005/8/layout/venn1"/>
    <dgm:cxn modelId="{611BE97E-6391-4DAA-87DD-B593A4FBFF0F}" type="presParOf" srcId="{C167175D-D605-445E-B110-FC4C8265D082}" destId="{E714446B-3EB1-4FAB-9005-0FC210241CE1}" srcOrd="1" destOrd="0" presId="urn:microsoft.com/office/officeart/2005/8/layout/venn1"/>
    <dgm:cxn modelId="{393E97D7-BF6C-4803-AF3E-041F9C8328C3}" type="presParOf" srcId="{C167175D-D605-445E-B110-FC4C8265D082}" destId="{EB1E4F6F-E8EC-4652-A466-B4413EC2A6CF}" srcOrd="2" destOrd="0" presId="urn:microsoft.com/office/officeart/2005/8/layout/venn1"/>
    <dgm:cxn modelId="{CD07B91A-53E2-4F33-B20B-55A0FC3B170B}" type="presParOf" srcId="{C167175D-D605-445E-B110-FC4C8265D082}" destId="{D3482414-218C-448A-9EEF-CE334DF883F8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6C930-F471-4C6E-AB61-E4C717BBF448}">
      <dsp:nvSpPr>
        <dsp:cNvPr id="0" name=""/>
        <dsp:cNvSpPr/>
      </dsp:nvSpPr>
      <dsp:spPr>
        <a:xfrm>
          <a:off x="0" y="0"/>
          <a:ext cx="1447800" cy="14478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/>
            <a:t> </a:t>
          </a:r>
        </a:p>
      </dsp:txBody>
      <dsp:txXfrm>
        <a:off x="212025" y="212025"/>
        <a:ext cx="1023750" cy="1023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2C94E-E2C4-4EDA-BF4C-BBF1652B5066}">
      <dsp:nvSpPr>
        <dsp:cNvPr id="0" name=""/>
        <dsp:cNvSpPr/>
      </dsp:nvSpPr>
      <dsp:spPr>
        <a:xfrm>
          <a:off x="0" y="94789"/>
          <a:ext cx="798317" cy="798317"/>
        </a:xfrm>
        <a:prstGeom prst="ellipse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B</a:t>
          </a:r>
        </a:p>
      </dsp:txBody>
      <dsp:txXfrm>
        <a:off x="116911" y="211700"/>
        <a:ext cx="564495" cy="5644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F3275-AE11-4E74-8BEB-999A10E5283E}">
      <dsp:nvSpPr>
        <dsp:cNvPr id="0" name=""/>
        <dsp:cNvSpPr/>
      </dsp:nvSpPr>
      <dsp:spPr>
        <a:xfrm>
          <a:off x="82295" y="305816"/>
          <a:ext cx="2029968" cy="2029967"/>
        </a:xfrm>
        <a:prstGeom prst="ellipse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 </a:t>
          </a:r>
          <a:r>
            <a:rPr lang="en-US" sz="4400" kern="1200" dirty="0"/>
            <a:t>A</a:t>
          </a:r>
        </a:p>
      </dsp:txBody>
      <dsp:txXfrm>
        <a:off x="365759" y="545192"/>
        <a:ext cx="1170432" cy="1551214"/>
      </dsp:txXfrm>
    </dsp:sp>
    <dsp:sp modelId="{EB1E4F6F-E8EC-4652-A466-B4413EC2A6CF}">
      <dsp:nvSpPr>
        <dsp:cNvPr id="0" name=""/>
        <dsp:cNvSpPr/>
      </dsp:nvSpPr>
      <dsp:spPr>
        <a:xfrm>
          <a:off x="1545335" y="305816"/>
          <a:ext cx="2029968" cy="2029967"/>
        </a:xfrm>
        <a:prstGeom prst="ellipse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/>
            <a:t>B</a:t>
          </a:r>
        </a:p>
      </dsp:txBody>
      <dsp:txXfrm>
        <a:off x="2121408" y="545192"/>
        <a:ext cx="1170432" cy="15512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F3275-AE11-4E74-8BEB-999A10E5283E}">
      <dsp:nvSpPr>
        <dsp:cNvPr id="0" name=""/>
        <dsp:cNvSpPr/>
      </dsp:nvSpPr>
      <dsp:spPr>
        <a:xfrm>
          <a:off x="82295" y="305816"/>
          <a:ext cx="2029968" cy="202996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 </a:t>
          </a:r>
          <a:r>
            <a:rPr lang="en-US" sz="4400" kern="1200" dirty="0"/>
            <a:t>A</a:t>
          </a:r>
        </a:p>
      </dsp:txBody>
      <dsp:txXfrm>
        <a:off x="365759" y="545192"/>
        <a:ext cx="1170432" cy="1551214"/>
      </dsp:txXfrm>
    </dsp:sp>
    <dsp:sp modelId="{EB1E4F6F-E8EC-4652-A466-B4413EC2A6CF}">
      <dsp:nvSpPr>
        <dsp:cNvPr id="0" name=""/>
        <dsp:cNvSpPr/>
      </dsp:nvSpPr>
      <dsp:spPr>
        <a:xfrm>
          <a:off x="1545335" y="305816"/>
          <a:ext cx="2029968" cy="202996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/>
            <a:t>B</a:t>
          </a:r>
        </a:p>
      </dsp:txBody>
      <dsp:txXfrm>
        <a:off x="2121408" y="545192"/>
        <a:ext cx="1170432" cy="1551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DD572-8F0C-476B-BFF5-F00018AEE25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93545-8D9D-4ED1-86F6-499A7FEA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9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6/26/2020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9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Basics of Algorithms and Mathematics</a:t>
            </a: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</a:t>
            </a:r>
            <a:fld id="{0DFAFC65-7612-4714-8C31-D331BBD2B88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NUL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782" y="2245294"/>
            <a:ext cx="8737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Unit-1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Basics of Algorithms and Mathematics</a:t>
            </a:r>
          </a:p>
        </p:txBody>
      </p:sp>
    </p:spTree>
    <p:extLst>
      <p:ext uri="{BB962C8B-B14F-4D97-AF65-F5344CB8AC3E}">
        <p14:creationId xmlns:p14="http://schemas.microsoft.com/office/powerpoint/2010/main" val="225512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2747963"/>
            <a:ext cx="5907087" cy="1362075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Introduction to Algorithms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8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Algorithm?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An algorithm can be broadly defined as;</a:t>
            </a:r>
          </a:p>
          <a:p>
            <a:pPr lvl="1"/>
            <a:r>
              <a:rPr lang="en-US" b="1" i="1" dirty="0">
                <a:latin typeface="Cambria" panose="02040503050406030204" pitchFamily="18" charset="0"/>
              </a:rPr>
              <a:t>A process or a set of rules to be followed to achieve desired output, especially by a computer.</a:t>
            </a:r>
          </a:p>
          <a:p>
            <a:pPr lvl="1"/>
            <a:r>
              <a:rPr lang="en-US" dirty="0"/>
              <a:t>A step-by-step procedure, to solve the different kinds of problems.</a:t>
            </a:r>
          </a:p>
          <a:p>
            <a:pPr lvl="1"/>
            <a:r>
              <a:rPr lang="en-US" dirty="0"/>
              <a:t>An unambiguous sequence of computational steps that transform the input into the output.</a:t>
            </a:r>
          </a:p>
          <a:p>
            <a:pPr lvl="1"/>
            <a:r>
              <a:rPr lang="en-US" dirty="0"/>
              <a:t>An algorithm is any well-defined computational procedure that takes some value, or a set of values as input and produces some value, or a set of values as output.</a:t>
            </a:r>
          </a:p>
        </p:txBody>
      </p:sp>
    </p:spTree>
    <p:extLst>
      <p:ext uri="{BB962C8B-B14F-4D97-AF65-F5344CB8AC3E}">
        <p14:creationId xmlns:p14="http://schemas.microsoft.com/office/powerpoint/2010/main" val="402263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Precision: </a:t>
            </a:r>
            <a:r>
              <a:rPr lang="en-US" dirty="0"/>
              <a:t>Each step of an algorithm must be precisely defined.</a:t>
            </a:r>
          </a:p>
          <a:p>
            <a:r>
              <a:rPr lang="en-US" b="1" dirty="0"/>
              <a:t>Input</a:t>
            </a:r>
            <a:r>
              <a:rPr lang="en-US" dirty="0"/>
              <a:t>: An algorithm accepts zero or more inputs.</a:t>
            </a:r>
          </a:p>
          <a:p>
            <a:r>
              <a:rPr lang="en-US" b="1" dirty="0"/>
              <a:t>Output</a:t>
            </a:r>
            <a:r>
              <a:rPr lang="en-US" dirty="0"/>
              <a:t>: An algorithm must generate at least one desirable output.</a:t>
            </a:r>
          </a:p>
          <a:p>
            <a:r>
              <a:rPr lang="en-US" b="1" dirty="0"/>
              <a:t>Finiteness</a:t>
            </a:r>
            <a:r>
              <a:rPr lang="en-US" dirty="0"/>
              <a:t>: An algorithm must always terminate after a finite number of steps.</a:t>
            </a:r>
          </a:p>
          <a:p>
            <a:r>
              <a:rPr lang="en-US" b="1" dirty="0"/>
              <a:t>Effectiveness</a:t>
            </a:r>
            <a:r>
              <a:rPr lang="en-US" dirty="0"/>
              <a:t>: All the operations to be performed in the algorithm must be essential and sufficiently basic.</a:t>
            </a:r>
          </a:p>
          <a:p>
            <a:r>
              <a:rPr lang="en-US" b="1" dirty="0"/>
              <a:t>Generality: </a:t>
            </a:r>
            <a:r>
              <a:rPr lang="en-US" dirty="0"/>
              <a:t>The algorithm should be expressed in a generic form and must be applicable to a set of all possible inputs.</a:t>
            </a:r>
          </a:p>
        </p:txBody>
      </p:sp>
    </p:spTree>
    <p:extLst>
      <p:ext uri="{BB962C8B-B14F-4D97-AF65-F5344CB8AC3E}">
        <p14:creationId xmlns:p14="http://schemas.microsoft.com/office/powerpoint/2010/main" val="97684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recursive algorithms</a:t>
            </a:r>
          </a:p>
          <a:p>
            <a:r>
              <a:rPr lang="en-US" dirty="0"/>
              <a:t>Backtracking algorithms</a:t>
            </a:r>
          </a:p>
          <a:p>
            <a:r>
              <a:rPr lang="en-US" dirty="0"/>
              <a:t>Divide and conquer algorithms</a:t>
            </a:r>
          </a:p>
          <a:p>
            <a:r>
              <a:rPr lang="en-US" dirty="0"/>
              <a:t>Dynamic programming algorithms</a:t>
            </a:r>
          </a:p>
          <a:p>
            <a:r>
              <a:rPr lang="en-US" dirty="0"/>
              <a:t>Greedy algorithms</a:t>
            </a:r>
          </a:p>
          <a:p>
            <a:r>
              <a:rPr lang="en-US" dirty="0"/>
              <a:t>Branch and bound algorithms</a:t>
            </a:r>
          </a:p>
          <a:p>
            <a:r>
              <a:rPr lang="en-US" dirty="0"/>
              <a:t>Brute force algorithms</a:t>
            </a:r>
          </a:p>
          <a:p>
            <a:r>
              <a:rPr lang="en-US" dirty="0"/>
              <a:t>Randomized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1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529" y="3012282"/>
            <a:ext cx="7296943" cy="833437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Mathematics for Algorithmic Sets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1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is an </a:t>
            </a:r>
            <a:r>
              <a:rPr lang="en-US" b="1" dirty="0"/>
              <a:t>unordered collection </a:t>
            </a:r>
            <a:r>
              <a:rPr lang="en-US" dirty="0"/>
              <a:t>of </a:t>
            </a:r>
            <a:r>
              <a:rPr lang="en-US" b="1" dirty="0"/>
              <a:t>distinct objects</a:t>
            </a:r>
            <a:r>
              <a:rPr lang="en-US" dirty="0"/>
              <a:t>.</a:t>
            </a:r>
          </a:p>
          <a:p>
            <a:r>
              <a:rPr lang="en-US" dirty="0"/>
              <a:t>The objects in a set are called </a:t>
            </a:r>
            <a:r>
              <a:rPr lang="en-US" b="1" dirty="0"/>
              <a:t>elements or members </a:t>
            </a:r>
            <a:r>
              <a:rPr lang="en-US" dirty="0"/>
              <a:t>of the set.</a:t>
            </a:r>
          </a:p>
          <a:p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842304" y="2552700"/>
                <a:ext cx="7454900" cy="10058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11, 12, 21, 22</m:t>
                          </m:r>
                        </m:e>
                      </m:d>
                    </m:oMath>
                  </m:oMathPara>
                </a14:m>
                <a:endParaRPr lang="en-US" sz="22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indent="-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5, 10, 15, 20, 25</m:t>
                          </m:r>
                        </m:e>
                      </m:d>
                    </m:oMath>
                  </m:oMathPara>
                </a14:m>
                <a:endParaRPr lang="en-US" sz="22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04" y="2552700"/>
                <a:ext cx="7454900" cy="10058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 Diagonal Corner Rectangle 16"/>
          <p:cNvSpPr/>
          <p:nvPr/>
        </p:nvSpPr>
        <p:spPr>
          <a:xfrm rot="5400000">
            <a:off x="1417907" y="1325294"/>
            <a:ext cx="457200" cy="2226213"/>
          </a:xfrm>
          <a:prstGeom prst="round2DiagRect">
            <a:avLst/>
          </a:prstGeom>
          <a:solidFill>
            <a:srgbClr val="719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1</a:t>
            </a:r>
          </a:p>
        </p:txBody>
      </p:sp>
      <p:sp>
        <p:nvSpPr>
          <p:cNvPr id="18" name="Round Diagonal Corner Rectangle 17"/>
          <p:cNvSpPr/>
          <p:nvPr/>
        </p:nvSpPr>
        <p:spPr>
          <a:xfrm rot="5400000">
            <a:off x="7520940" y="2644140"/>
            <a:ext cx="457200" cy="2103120"/>
          </a:xfrm>
          <a:prstGeom prst="round2Diag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Roster Notation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842304" y="4267198"/>
                <a:ext cx="7452360" cy="10058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71550" lvl="2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|"/>
                          <m:ctrlPr>
                            <a:rPr lang="pt-BR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200" i="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pt-BR" sz="2200" i="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odd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integer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greater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than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1}</m:t>
                      </m:r>
                    </m:oMath>
                  </m:oMathPara>
                </a14:m>
                <a:endParaRPr lang="en-US" sz="2200" i="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51435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Set</m:t>
                      </m:r>
                      <m: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≤11}</m:t>
                      </m:r>
                    </m:oMath>
                  </m:oMathPara>
                </a14:m>
                <a:endParaRPr lang="en-US" sz="2200" i="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04" y="4267198"/>
                <a:ext cx="7452360" cy="10058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 Diagonal Corner Rectangle 19"/>
          <p:cNvSpPr/>
          <p:nvPr/>
        </p:nvSpPr>
        <p:spPr>
          <a:xfrm rot="5400000">
            <a:off x="1417907" y="3039793"/>
            <a:ext cx="457200" cy="2226213"/>
          </a:xfrm>
          <a:prstGeom prst="round2DiagRect">
            <a:avLst/>
          </a:prstGeom>
          <a:solidFill>
            <a:srgbClr val="CD6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2</a:t>
            </a:r>
          </a:p>
        </p:txBody>
      </p:sp>
      <p:sp>
        <p:nvSpPr>
          <p:cNvPr id="21" name="Round Diagonal Corner Rectangle 20"/>
          <p:cNvSpPr/>
          <p:nvPr/>
        </p:nvSpPr>
        <p:spPr>
          <a:xfrm rot="5400000">
            <a:off x="7429501" y="4501769"/>
            <a:ext cx="731520" cy="2011680"/>
          </a:xfrm>
          <a:prstGeom prst="round2DiagRect">
            <a:avLst/>
          </a:prstGeom>
          <a:gradFill flip="none" rotWithShape="1">
            <a:gsLst>
              <a:gs pos="0">
                <a:srgbClr val="CD6209"/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marL="0" lvl="2" algn="ctr"/>
            <a:r>
              <a:rPr lang="en-US" sz="2400" dirty="0">
                <a:solidFill>
                  <a:schemeClr val="tx1"/>
                </a:solidFill>
              </a:rPr>
              <a:t>Set-builder Notation  </a:t>
            </a:r>
          </a:p>
        </p:txBody>
      </p:sp>
    </p:spTree>
    <p:extLst>
      <p:ext uri="{BB962C8B-B14F-4D97-AF65-F5344CB8AC3E}">
        <p14:creationId xmlns:p14="http://schemas.microsoft.com/office/powerpoint/2010/main" val="101186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Finite &amp; Infinite sets</a:t>
                </a:r>
                <a:r>
                  <a:rPr lang="en-US" dirty="0"/>
                  <a:t>: A set is finite if it contains a finite number of elements, </a:t>
                </a:r>
                <a:r>
                  <a:rPr lang="en-US" b="1" dirty="0"/>
                  <a:t>otherwise </a:t>
                </a:r>
                <a:r>
                  <a:rPr lang="en-US" dirty="0"/>
                  <a:t>it is an infinite set. </a:t>
                </a:r>
              </a:p>
              <a:p>
                <a:r>
                  <a:rPr lang="en-US" dirty="0"/>
                  <a:t>Examples:</a:t>
                </a: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dirty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−81=0</m:t>
                    </m:r>
                    <m:r>
                      <a:rPr lang="en-US" b="0" i="0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200" dirty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−9,9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|"/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divisible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by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2}</m:t>
                    </m:r>
                  </m:oMath>
                </a14:m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endParaRPr lang="en-US" b="1" dirty="0"/>
              </a:p>
              <a:p>
                <a:r>
                  <a:rPr lang="en-US" b="1" dirty="0"/>
                  <a:t>Cardinality of set</a:t>
                </a:r>
                <a:r>
                  <a:rPr lang="en-US" dirty="0"/>
                  <a:t>: The cardinality of a set denotes the number of elements in a set. The cardinality of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Examples: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set of English alphabets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) = |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| = 26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The cardinality of an infinite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denoted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b="1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The </a:t>
                </a:r>
                <a:r>
                  <a:rPr lang="en-US" b="1" dirty="0"/>
                  <a:t>empty set </a:t>
                </a:r>
                <a:r>
                  <a:rPr lang="en-US" dirty="0"/>
                  <a:t>denoted as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is the unique set whose cardinality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800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 Diagonal Corner Rectangle 6"/>
          <p:cNvSpPr/>
          <p:nvPr/>
        </p:nvSpPr>
        <p:spPr>
          <a:xfrm rot="5400000">
            <a:off x="6134100" y="1341424"/>
            <a:ext cx="457200" cy="2103120"/>
          </a:xfrm>
          <a:prstGeom prst="round2Diag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Finite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 Diagonal Corner Rectangle 8"/>
              <p:cNvSpPr/>
              <p:nvPr/>
            </p:nvSpPr>
            <p:spPr>
              <a:xfrm rot="5400000">
                <a:off x="6591300" y="1691640"/>
                <a:ext cx="457200" cy="3017520"/>
              </a:xfrm>
              <a:prstGeom prst="round2DiagRect">
                <a:avLst/>
              </a:prstGeom>
              <a:gradFill flip="none" rotWithShape="1">
                <a:gsLst>
                  <a:gs pos="0">
                    <a:srgbClr val="CD6209"/>
                  </a:gs>
                  <a:gs pos="35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91440" tIns="0" bIns="91440" rtlCol="0" anchor="ctr"/>
              <a:lstStyle/>
              <a:p>
                <a:pPr marL="0" lvl="2" algn="ctr"/>
                <a:r>
                  <a:rPr lang="en-US" sz="2400" dirty="0">
                    <a:solidFill>
                      <a:srgbClr val="002060"/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is an infinite set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ound Diagonal Corner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91300" y="1691640"/>
                <a:ext cx="457200" cy="3017520"/>
              </a:xfrm>
              <a:prstGeom prst="round2DiagRect">
                <a:avLst/>
              </a:prstGeom>
              <a:blipFill>
                <a:blip r:embed="rId3"/>
                <a:stretch>
                  <a:fillRect t="-10667" r="-2222" b="-2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06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1026968"/>
                <a:ext cx="8763000" cy="533400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Subset</a:t>
                </a:r>
                <a:r>
                  <a:rPr lang="en-US" dirty="0"/>
                  <a:t>: For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we say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a subset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written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if each member of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1" dirty="0"/>
                  <a:t> is also a member</a:t>
                </a:r>
                <a:r>
                  <a:rPr lang="en-US" dirty="0"/>
                  <a:t> of set 𝐴. </a:t>
                </a:r>
              </a:p>
              <a:p>
                <a:r>
                  <a:rPr lang="en-US" b="1" dirty="0"/>
                  <a:t>Proper Subset</a:t>
                </a:r>
                <a:r>
                  <a:rPr lang="en-US" dirty="0"/>
                  <a:t>: A proper subset of a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subset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is </a:t>
                </a:r>
                <a:r>
                  <a:rPr lang="en-US" b="1" dirty="0"/>
                  <a:t>not equal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={1,3,5}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1,5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proper subset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={1,3,5} </m:t>
                    </m:r>
                  </m:oMath>
                </a14:m>
                <a:r>
                  <a:rPr lang="en-US" dirty="0"/>
                  <a:t>is a 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but it is </a:t>
                </a:r>
                <a:r>
                  <a:rPr lang="en-US" b="1" dirty="0"/>
                  <a:t>not a proper subset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1026968"/>
                <a:ext cx="8763000" cy="5334000"/>
              </a:xfrm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12"/>
          <p:cNvGraphicFramePr>
            <a:graphicFrameLocks/>
          </p:cNvGraphicFramePr>
          <p:nvPr/>
        </p:nvGraphicFramePr>
        <p:xfrm>
          <a:off x="3844636" y="4876800"/>
          <a:ext cx="16002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383283" y="5255386"/>
          <a:ext cx="798317" cy="91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6705600" y="4876800"/>
            <a:ext cx="1524000" cy="1484168"/>
            <a:chOff x="0" y="0"/>
            <a:chExt cx="2286000" cy="2286000"/>
          </a:xfrm>
        </p:grpSpPr>
        <p:sp>
          <p:nvSpPr>
            <p:cNvPr id="9" name="Oval 8"/>
            <p:cNvSpPr/>
            <p:nvPr/>
          </p:nvSpPr>
          <p:spPr>
            <a:xfrm>
              <a:off x="0" y="0"/>
              <a:ext cx="2286000" cy="2286000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0" name="Oval 4"/>
            <p:cNvSpPr txBox="1"/>
            <p:nvPr/>
          </p:nvSpPr>
          <p:spPr>
            <a:xfrm>
              <a:off x="334777" y="334777"/>
              <a:ext cx="1616446" cy="16164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47650" tIns="247650" rIns="247650" bIns="24765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kern="1200" dirty="0">
                  <a:solidFill>
                    <a:srgbClr val="002060"/>
                  </a:solidFill>
                </a:rPr>
                <a:t>A=C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76800" y="4627160"/>
                <a:ext cx="9802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nor/>
                        </m:rPr>
                        <a:rPr lang="en-US" sz="2400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m:t>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627160"/>
                <a:ext cx="980210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848600" y="4653915"/>
                <a:ext cx="1083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4653915"/>
                <a:ext cx="1083350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038600" y="5115580"/>
            <a:ext cx="41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40524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0426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5" grpId="0">
        <p:bldAsOne/>
      </p:bldGraphic>
      <p:bldGraphic spid="7" grpId="0">
        <p:bldAsOne/>
      </p:bldGraphic>
      <p:bldP spid="4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Power Set: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the set. The power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written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is the set of all subsets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Example:</a:t>
                </a:r>
              </a:p>
              <a:p>
                <a:pPr lvl="1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 {0, 1} </m:t>
                    </m:r>
                  </m:oMath>
                </a14:m>
                <a:r>
                  <a:rPr lang="en-US" dirty="0"/>
                  <a:t>then the power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{{}, {0}, {1}, {0, 1}}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10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Complement</a:t>
                </a:r>
                <a:r>
                  <a:rPr lang="en-US" dirty="0"/>
                  <a:t>: The complement of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 that contains every element of the Universal set U but not in A.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1, 5</m:t>
                        </m:r>
                      </m:e>
                    </m:d>
                  </m:oMath>
                </a14:m>
                <a:endParaRPr lang="en-US" dirty="0"/>
              </a:p>
              <a:p>
                <a:pPr marL="739775" lvl="1" indent="0">
                  <a:buNone/>
                </a:pPr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′= {3, 7, 9}</m:t>
                    </m:r>
                  </m:oMath>
                </a14:m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959928" y="3810000"/>
            <a:ext cx="3848100" cy="2399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953000" y="3810000"/>
            <a:ext cx="3861955" cy="2406072"/>
          </a:xfrm>
          <a:prstGeom prst="rect">
            <a:avLst/>
          </a:prstGeom>
          <a:solidFill>
            <a:srgbClr val="A7C0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42433" y="5446631"/>
            <a:ext cx="53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U</a:t>
            </a:r>
          </a:p>
        </p:txBody>
      </p:sp>
      <p:sp>
        <p:nvSpPr>
          <p:cNvPr id="18" name="Oval 17"/>
          <p:cNvSpPr/>
          <p:nvPr/>
        </p:nvSpPr>
        <p:spPr>
          <a:xfrm>
            <a:off x="5836805" y="3942772"/>
            <a:ext cx="2094346" cy="21336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19" name="TextBox 18"/>
          <p:cNvSpPr txBox="1"/>
          <p:nvPr/>
        </p:nvSpPr>
        <p:spPr>
          <a:xfrm>
            <a:off x="6569653" y="4624852"/>
            <a:ext cx="628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9609" y="3942772"/>
            <a:ext cx="533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A’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400" y="1905000"/>
            <a:ext cx="37338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8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9" grpId="0"/>
      <p:bldP spid="2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Union</a:t>
                </a:r>
                <a:r>
                  <a:rPr lang="en-US" dirty="0"/>
                  <a:t>: The union of two different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set of </a:t>
                </a:r>
                <a:r>
                  <a:rPr lang="en-US" b="1" dirty="0"/>
                  <a:t>all</a:t>
                </a:r>
                <a:r>
                  <a:rPr lang="en-US" dirty="0"/>
                  <a:t> </a:t>
                </a:r>
                <a:r>
                  <a:rPr lang="en-US" b="1" dirty="0"/>
                  <a:t>distinct elements </a:t>
                </a:r>
                <a:r>
                  <a:rPr lang="en-US" dirty="0"/>
                  <a:t>of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∪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2, 3, 4, 5}</m:t>
                    </m:r>
                  </m:oMath>
                </a14:m>
                <a:endParaRPr lang="en-US" dirty="0"/>
              </a:p>
              <a:p>
                <a:pPr marL="739775" lvl="2" indent="0">
                  <a:buNone/>
                  <a:tabLst>
                    <a:tab pos="798513" algn="l"/>
                  </a:tabLst>
                </a:pPr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∪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{1, 2, 3, 4, 5, 7, 9}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Diagram 10"/>
          <p:cNvGraphicFramePr/>
          <p:nvPr/>
        </p:nvGraphicFramePr>
        <p:xfrm>
          <a:off x="4876800" y="3683000"/>
          <a:ext cx="3657600" cy="264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3689927"/>
          <a:ext cx="3657600" cy="264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09800" y="1890252"/>
            <a:ext cx="42672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2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F9F3275-AE11-4E74-8BEB-999A10E528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FF9F3275-AE11-4E74-8BEB-999A10E528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B1E4F6F-E8EC-4652-A466-B4413EC2A6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EB1E4F6F-E8EC-4652-A466-B4413EC2A6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F9F3275-AE11-4E74-8BEB-999A10E528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B1E4F6F-E8EC-4652-A466-B4413EC2A6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/>
        </p:bldSub>
      </p:bldGraphic>
      <p:bldGraphic spid="11" grpId="1">
        <p:bldSub>
          <a:bldDgm/>
        </p:bldSub>
      </p:bldGraphic>
      <p:bldGraphic spid="12" grpId="0">
        <p:bldAsOne/>
      </p:bldGraphic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Intersection</a:t>
                </a:r>
                <a:r>
                  <a:rPr lang="en-US" dirty="0"/>
                  <a:t>: The intersection of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set that contains all elements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that also belong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but no other elements.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∩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{1, 2, 3, 4, 5}</m:t>
                    </m:r>
                  </m:oMath>
                </a14:m>
                <a:endParaRPr lang="en-US" dirty="0"/>
              </a:p>
              <a:p>
                <a:pPr marL="739775" lvl="2" indent="0">
                  <a:buNone/>
                </a:pPr>
                <a:r>
                  <a:rPr lang="en-US" sz="2200" i="0" dirty="0"/>
                  <a:t>Then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{1, 3, 5}</m:t>
                    </m:r>
                  </m:oMath>
                </a14:m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518160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</a:t>
            </a:r>
            <a:r>
              <a:rPr lang="en-US" sz="4400" kern="1200" dirty="0"/>
              <a:t>A</a:t>
            </a:r>
          </a:p>
        </p:txBody>
      </p:sp>
      <p:sp>
        <p:nvSpPr>
          <p:cNvPr id="9" name="Freeform 8"/>
          <p:cNvSpPr/>
          <p:nvPr/>
        </p:nvSpPr>
        <p:spPr>
          <a:xfrm>
            <a:off x="649224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516065" tIns="214442" rIns="253936" bIns="214441" numCol="1" spcCol="1270" anchor="ctr" anchorCtr="0">
            <a:noAutofit/>
          </a:bodyPr>
          <a:lstStyle/>
          <a:p>
            <a:pPr lvl="0" algn="ctr"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400" kern="1200" dirty="0"/>
              <a:t>B</a:t>
            </a:r>
          </a:p>
        </p:txBody>
      </p:sp>
      <p:sp>
        <p:nvSpPr>
          <p:cNvPr id="31" name="Freeform 30"/>
          <p:cNvSpPr/>
          <p:nvPr/>
        </p:nvSpPr>
        <p:spPr>
          <a:xfrm>
            <a:off x="6492240" y="4430413"/>
            <a:ext cx="721234" cy="1502377"/>
          </a:xfrm>
          <a:custGeom>
            <a:avLst/>
            <a:gdLst>
              <a:gd name="connsiteX0" fmla="*/ 360617 w 721234"/>
              <a:gd name="connsiteY0" fmla="*/ 0 h 1502377"/>
              <a:gd name="connsiteX1" fmla="*/ 423673 w 721234"/>
              <a:gd name="connsiteY1" fmla="*/ 50728 h 1502377"/>
              <a:gd name="connsiteX2" fmla="*/ 721234 w 721234"/>
              <a:gd name="connsiteY2" fmla="*/ 751188 h 1502377"/>
              <a:gd name="connsiteX3" fmla="*/ 423673 w 721234"/>
              <a:gd name="connsiteY3" fmla="*/ 1451648 h 1502377"/>
              <a:gd name="connsiteX4" fmla="*/ 360617 w 721234"/>
              <a:gd name="connsiteY4" fmla="*/ 1502377 h 1502377"/>
              <a:gd name="connsiteX5" fmla="*/ 297561 w 721234"/>
              <a:gd name="connsiteY5" fmla="*/ 1451648 h 1502377"/>
              <a:gd name="connsiteX6" fmla="*/ 0 w 721234"/>
              <a:gd name="connsiteY6" fmla="*/ 751188 h 1502377"/>
              <a:gd name="connsiteX7" fmla="*/ 297561 w 721234"/>
              <a:gd name="connsiteY7" fmla="*/ 50728 h 150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234" h="1502377">
                <a:moveTo>
                  <a:pt x="360617" y="0"/>
                </a:moveTo>
                <a:lnTo>
                  <a:pt x="423673" y="50728"/>
                </a:lnTo>
                <a:cubicBezTo>
                  <a:pt x="607522" y="229992"/>
                  <a:pt x="721234" y="477642"/>
                  <a:pt x="721234" y="751188"/>
                </a:cubicBezTo>
                <a:cubicBezTo>
                  <a:pt x="721234" y="1024735"/>
                  <a:pt x="607522" y="1272385"/>
                  <a:pt x="423673" y="1451648"/>
                </a:cubicBezTo>
                <a:lnTo>
                  <a:pt x="360617" y="1502377"/>
                </a:lnTo>
                <a:lnTo>
                  <a:pt x="297561" y="1451648"/>
                </a:lnTo>
                <a:cubicBezTo>
                  <a:pt x="113713" y="1272385"/>
                  <a:pt x="0" y="1024735"/>
                  <a:pt x="0" y="751188"/>
                </a:cubicBezTo>
                <a:cubicBezTo>
                  <a:pt x="0" y="477642"/>
                  <a:pt x="113713" y="229992"/>
                  <a:pt x="297561" y="5072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</a:t>
            </a:r>
            <a:endParaRPr lang="en-US" sz="4400" kern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104104" y="2286000"/>
            <a:ext cx="44958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36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1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Set Difference</a:t>
                </a:r>
                <a:r>
                  <a:rPr lang="en-US" dirty="0"/>
                  <a:t>: The set difference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set of elements that are </a:t>
                </a:r>
                <a:r>
                  <a:rPr lang="en-US" b="1" dirty="0"/>
                  <a:t>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/>
                  <a:t> but not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∉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2, 3, 4, 5}</m:t>
                    </m:r>
                  </m:oMath>
                </a14:m>
                <a:endParaRPr lang="en-US" dirty="0"/>
              </a:p>
              <a:p>
                <a:pPr marL="739775" lvl="2" indent="0">
                  <a:buNone/>
                </a:pPr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= {7, 9}</m:t>
                    </m:r>
                  </m:oMath>
                </a14:m>
                <a:endParaRPr lang="en-US" sz="220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518160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</a:t>
            </a:r>
            <a:r>
              <a:rPr lang="en-US" sz="4400" kern="1200" dirty="0"/>
              <a:t>A</a:t>
            </a:r>
          </a:p>
        </p:txBody>
      </p:sp>
      <p:sp>
        <p:nvSpPr>
          <p:cNvPr id="9" name="Freeform 8"/>
          <p:cNvSpPr/>
          <p:nvPr/>
        </p:nvSpPr>
        <p:spPr>
          <a:xfrm>
            <a:off x="649224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516065" tIns="214442" rIns="253936" bIns="214441" numCol="1" spcCol="1270" anchor="ctr" anchorCtr="0">
            <a:noAutofit/>
          </a:bodyPr>
          <a:lstStyle/>
          <a:p>
            <a:pPr lvl="0" algn="ctr"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400" kern="1200" dirty="0"/>
              <a:t>B</a:t>
            </a:r>
          </a:p>
        </p:txBody>
      </p:sp>
      <p:sp>
        <p:nvSpPr>
          <p:cNvPr id="10" name="Freeform 9"/>
          <p:cNvSpPr/>
          <p:nvPr/>
        </p:nvSpPr>
        <p:spPr>
          <a:xfrm>
            <a:off x="5181600" y="4191000"/>
            <a:ext cx="1671257" cy="1981200"/>
          </a:xfrm>
          <a:custGeom>
            <a:avLst/>
            <a:gdLst>
              <a:gd name="connsiteX0" fmla="*/ 1015937 w 1671257"/>
              <a:gd name="connsiteY0" fmla="*/ 0 h 1981200"/>
              <a:gd name="connsiteX1" fmla="*/ 1583958 w 1671257"/>
              <a:gd name="connsiteY1" fmla="*/ 169179 h 1981200"/>
              <a:gd name="connsiteX2" fmla="*/ 1671257 w 1671257"/>
              <a:gd name="connsiteY2" fmla="*/ 239412 h 1981200"/>
              <a:gd name="connsiteX3" fmla="*/ 1608201 w 1671257"/>
              <a:gd name="connsiteY3" fmla="*/ 290140 h 1981200"/>
              <a:gd name="connsiteX4" fmla="*/ 1310640 w 1671257"/>
              <a:gd name="connsiteY4" fmla="*/ 990600 h 1981200"/>
              <a:gd name="connsiteX5" fmla="*/ 1608201 w 1671257"/>
              <a:gd name="connsiteY5" fmla="*/ 1691060 h 1981200"/>
              <a:gd name="connsiteX6" fmla="*/ 1671257 w 1671257"/>
              <a:gd name="connsiteY6" fmla="*/ 1741789 h 1981200"/>
              <a:gd name="connsiteX7" fmla="*/ 1583958 w 1671257"/>
              <a:gd name="connsiteY7" fmla="*/ 1812021 h 1981200"/>
              <a:gd name="connsiteX8" fmla="*/ 1015937 w 1671257"/>
              <a:gd name="connsiteY8" fmla="*/ 1981200 h 1981200"/>
              <a:gd name="connsiteX9" fmla="*/ 0 w 1671257"/>
              <a:gd name="connsiteY9" fmla="*/ 990600 h 1981200"/>
              <a:gd name="connsiteX10" fmla="*/ 1015937 w 1671257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1257" h="1981200">
                <a:moveTo>
                  <a:pt x="1015937" y="0"/>
                </a:moveTo>
                <a:cubicBezTo>
                  <a:pt x="1226345" y="0"/>
                  <a:pt x="1421813" y="62368"/>
                  <a:pt x="1583958" y="169179"/>
                </a:cubicBezTo>
                <a:lnTo>
                  <a:pt x="1671257" y="239412"/>
                </a:lnTo>
                <a:lnTo>
                  <a:pt x="1608201" y="290140"/>
                </a:lnTo>
                <a:cubicBezTo>
                  <a:pt x="1424353" y="469404"/>
                  <a:pt x="1310640" y="717054"/>
                  <a:pt x="1310640" y="990600"/>
                </a:cubicBezTo>
                <a:cubicBezTo>
                  <a:pt x="1310640" y="1264147"/>
                  <a:pt x="1424353" y="1511797"/>
                  <a:pt x="1608201" y="1691060"/>
                </a:cubicBezTo>
                <a:lnTo>
                  <a:pt x="1671257" y="1741789"/>
                </a:lnTo>
                <a:lnTo>
                  <a:pt x="1583958" y="1812021"/>
                </a:lnTo>
                <a:cubicBezTo>
                  <a:pt x="1421813" y="1918832"/>
                  <a:pt x="1226345" y="1981200"/>
                  <a:pt x="1015937" y="1981200"/>
                </a:cubicBezTo>
                <a:cubicBezTo>
                  <a:pt x="454850" y="1981200"/>
                  <a:pt x="0" y="1537693"/>
                  <a:pt x="0" y="990600"/>
                </a:cubicBezTo>
                <a:cubicBezTo>
                  <a:pt x="0" y="443507"/>
                  <a:pt x="454850" y="0"/>
                  <a:pt x="1015937" y="0"/>
                </a:cubicBezTo>
                <a:close/>
              </a:path>
            </a:pathLst>
          </a:custGeom>
          <a:solidFill>
            <a:srgbClr val="A7C0DE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  </a:t>
            </a:r>
            <a:r>
              <a:rPr lang="en-US" sz="4400" kern="120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4762" y="1907458"/>
            <a:ext cx="44196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12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Symmetric Difference</a:t>
                </a:r>
                <a:r>
                  <a:rPr lang="en-US" dirty="0"/>
                  <a:t>: The symmetric difference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⊖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of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set of elements that are </a:t>
                </a:r>
                <a:r>
                  <a:rPr lang="en-US" b="1" dirty="0"/>
                  <a:t>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/>
                  <a:t> but not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the elements that are </a:t>
                </a:r>
                <a:r>
                  <a:rPr lang="en-US" b="1" dirty="0"/>
                  <a:t>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but not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⊖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∪(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Consider,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 2, 3, 4, 5}</m:t>
                    </m:r>
                  </m:oMath>
                </a14:m>
                <a:endParaRPr lang="en-US" dirty="0"/>
              </a:p>
              <a:p>
                <a:pPr marL="739775" lvl="2" indent="0">
                  <a:buNone/>
                </a:pPr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⊖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= {7, 9, 2, 4}</m:t>
                    </m:r>
                  </m:oMath>
                </a14:m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6"/>
          <p:cNvSpPr/>
          <p:nvPr/>
        </p:nvSpPr>
        <p:spPr>
          <a:xfrm>
            <a:off x="518160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</a:t>
            </a:r>
            <a:r>
              <a:rPr lang="en-US" sz="4400" kern="1200" dirty="0"/>
              <a:t>A</a:t>
            </a:r>
          </a:p>
        </p:txBody>
      </p:sp>
      <p:sp>
        <p:nvSpPr>
          <p:cNvPr id="18" name="Freeform 17"/>
          <p:cNvSpPr/>
          <p:nvPr/>
        </p:nvSpPr>
        <p:spPr>
          <a:xfrm>
            <a:off x="6492240" y="4191000"/>
            <a:ext cx="2031873" cy="1981200"/>
          </a:xfrm>
          <a:custGeom>
            <a:avLst/>
            <a:gdLst>
              <a:gd name="connsiteX0" fmla="*/ 0 w 1818513"/>
              <a:gd name="connsiteY0" fmla="*/ 909256 h 1818512"/>
              <a:gd name="connsiteX1" fmla="*/ 909257 w 1818513"/>
              <a:gd name="connsiteY1" fmla="*/ 0 h 1818512"/>
              <a:gd name="connsiteX2" fmla="*/ 1818514 w 1818513"/>
              <a:gd name="connsiteY2" fmla="*/ 909256 h 1818512"/>
              <a:gd name="connsiteX3" fmla="*/ 909257 w 1818513"/>
              <a:gd name="connsiteY3" fmla="*/ 1818512 h 1818512"/>
              <a:gd name="connsiteX4" fmla="*/ 0 w 1818513"/>
              <a:gd name="connsiteY4" fmla="*/ 909256 h 181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8513" h="1818512">
                <a:moveTo>
                  <a:pt x="0" y="909256"/>
                </a:moveTo>
                <a:cubicBezTo>
                  <a:pt x="0" y="407088"/>
                  <a:pt x="407088" y="0"/>
                  <a:pt x="909257" y="0"/>
                </a:cubicBezTo>
                <a:cubicBezTo>
                  <a:pt x="1411426" y="0"/>
                  <a:pt x="1818514" y="407088"/>
                  <a:pt x="1818514" y="909256"/>
                </a:cubicBezTo>
                <a:cubicBezTo>
                  <a:pt x="1818514" y="1411424"/>
                  <a:pt x="1411426" y="1818512"/>
                  <a:pt x="909257" y="1818512"/>
                </a:cubicBezTo>
                <a:cubicBezTo>
                  <a:pt x="407088" y="1818512"/>
                  <a:pt x="0" y="1411424"/>
                  <a:pt x="0" y="909256"/>
                </a:cubicBezTo>
                <a:close/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516065" tIns="214442" rIns="253936" bIns="214441" numCol="1" spcCol="1270" anchor="ctr" anchorCtr="0">
            <a:noAutofit/>
          </a:bodyPr>
          <a:lstStyle/>
          <a:p>
            <a:pPr lvl="0" algn="ctr" defTabSz="1955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400" kern="1200" dirty="0"/>
              <a:t>B</a:t>
            </a:r>
          </a:p>
        </p:txBody>
      </p:sp>
      <p:sp>
        <p:nvSpPr>
          <p:cNvPr id="19" name="Freeform 18"/>
          <p:cNvSpPr/>
          <p:nvPr/>
        </p:nvSpPr>
        <p:spPr>
          <a:xfrm>
            <a:off x="5181600" y="4191000"/>
            <a:ext cx="1671257" cy="1981200"/>
          </a:xfrm>
          <a:custGeom>
            <a:avLst/>
            <a:gdLst>
              <a:gd name="connsiteX0" fmla="*/ 1015937 w 1671257"/>
              <a:gd name="connsiteY0" fmla="*/ 0 h 1981200"/>
              <a:gd name="connsiteX1" fmla="*/ 1583958 w 1671257"/>
              <a:gd name="connsiteY1" fmla="*/ 169179 h 1981200"/>
              <a:gd name="connsiteX2" fmla="*/ 1671257 w 1671257"/>
              <a:gd name="connsiteY2" fmla="*/ 239412 h 1981200"/>
              <a:gd name="connsiteX3" fmla="*/ 1608201 w 1671257"/>
              <a:gd name="connsiteY3" fmla="*/ 290140 h 1981200"/>
              <a:gd name="connsiteX4" fmla="*/ 1310640 w 1671257"/>
              <a:gd name="connsiteY4" fmla="*/ 990600 h 1981200"/>
              <a:gd name="connsiteX5" fmla="*/ 1608201 w 1671257"/>
              <a:gd name="connsiteY5" fmla="*/ 1691060 h 1981200"/>
              <a:gd name="connsiteX6" fmla="*/ 1671257 w 1671257"/>
              <a:gd name="connsiteY6" fmla="*/ 1741789 h 1981200"/>
              <a:gd name="connsiteX7" fmla="*/ 1583958 w 1671257"/>
              <a:gd name="connsiteY7" fmla="*/ 1812021 h 1981200"/>
              <a:gd name="connsiteX8" fmla="*/ 1015937 w 1671257"/>
              <a:gd name="connsiteY8" fmla="*/ 1981200 h 1981200"/>
              <a:gd name="connsiteX9" fmla="*/ 0 w 1671257"/>
              <a:gd name="connsiteY9" fmla="*/ 990600 h 1981200"/>
              <a:gd name="connsiteX10" fmla="*/ 1015937 w 1671257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1257" h="1981200">
                <a:moveTo>
                  <a:pt x="1015937" y="0"/>
                </a:moveTo>
                <a:cubicBezTo>
                  <a:pt x="1226345" y="0"/>
                  <a:pt x="1421813" y="62368"/>
                  <a:pt x="1583958" y="169179"/>
                </a:cubicBezTo>
                <a:lnTo>
                  <a:pt x="1671257" y="239412"/>
                </a:lnTo>
                <a:lnTo>
                  <a:pt x="1608201" y="290140"/>
                </a:lnTo>
                <a:cubicBezTo>
                  <a:pt x="1424353" y="469404"/>
                  <a:pt x="1310640" y="717054"/>
                  <a:pt x="1310640" y="990600"/>
                </a:cubicBezTo>
                <a:cubicBezTo>
                  <a:pt x="1310640" y="1264147"/>
                  <a:pt x="1424353" y="1511797"/>
                  <a:pt x="1608201" y="1691060"/>
                </a:cubicBezTo>
                <a:lnTo>
                  <a:pt x="1671257" y="1741789"/>
                </a:lnTo>
                <a:lnTo>
                  <a:pt x="1583958" y="1812021"/>
                </a:lnTo>
                <a:cubicBezTo>
                  <a:pt x="1421813" y="1918832"/>
                  <a:pt x="1226345" y="1981200"/>
                  <a:pt x="1015937" y="1981200"/>
                </a:cubicBezTo>
                <a:cubicBezTo>
                  <a:pt x="454850" y="1981200"/>
                  <a:pt x="0" y="1537693"/>
                  <a:pt x="0" y="990600"/>
                </a:cubicBezTo>
                <a:cubicBezTo>
                  <a:pt x="0" y="443507"/>
                  <a:pt x="454850" y="0"/>
                  <a:pt x="1015937" y="0"/>
                </a:cubicBezTo>
                <a:close/>
              </a:path>
            </a:pathLst>
          </a:custGeom>
          <a:solidFill>
            <a:srgbClr val="A7C0DE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  </a:t>
            </a:r>
            <a:r>
              <a:rPr lang="en-US" sz="4400" kern="1200" dirty="0"/>
              <a:t>A</a:t>
            </a:r>
          </a:p>
        </p:txBody>
      </p:sp>
      <p:sp>
        <p:nvSpPr>
          <p:cNvPr id="20" name="Freeform 19"/>
          <p:cNvSpPr/>
          <p:nvPr/>
        </p:nvSpPr>
        <p:spPr>
          <a:xfrm rot="10800000" flipV="1">
            <a:off x="6858000" y="4191000"/>
            <a:ext cx="1671257" cy="1981200"/>
          </a:xfrm>
          <a:custGeom>
            <a:avLst/>
            <a:gdLst>
              <a:gd name="connsiteX0" fmla="*/ 1015937 w 1671257"/>
              <a:gd name="connsiteY0" fmla="*/ 0 h 1981200"/>
              <a:gd name="connsiteX1" fmla="*/ 1583958 w 1671257"/>
              <a:gd name="connsiteY1" fmla="*/ 169179 h 1981200"/>
              <a:gd name="connsiteX2" fmla="*/ 1671257 w 1671257"/>
              <a:gd name="connsiteY2" fmla="*/ 239412 h 1981200"/>
              <a:gd name="connsiteX3" fmla="*/ 1608201 w 1671257"/>
              <a:gd name="connsiteY3" fmla="*/ 290140 h 1981200"/>
              <a:gd name="connsiteX4" fmla="*/ 1310640 w 1671257"/>
              <a:gd name="connsiteY4" fmla="*/ 990600 h 1981200"/>
              <a:gd name="connsiteX5" fmla="*/ 1608201 w 1671257"/>
              <a:gd name="connsiteY5" fmla="*/ 1691060 h 1981200"/>
              <a:gd name="connsiteX6" fmla="*/ 1671257 w 1671257"/>
              <a:gd name="connsiteY6" fmla="*/ 1741789 h 1981200"/>
              <a:gd name="connsiteX7" fmla="*/ 1583958 w 1671257"/>
              <a:gd name="connsiteY7" fmla="*/ 1812021 h 1981200"/>
              <a:gd name="connsiteX8" fmla="*/ 1015937 w 1671257"/>
              <a:gd name="connsiteY8" fmla="*/ 1981200 h 1981200"/>
              <a:gd name="connsiteX9" fmla="*/ 0 w 1671257"/>
              <a:gd name="connsiteY9" fmla="*/ 990600 h 1981200"/>
              <a:gd name="connsiteX10" fmla="*/ 1015937 w 1671257"/>
              <a:gd name="connsiteY10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1257" h="1981200">
                <a:moveTo>
                  <a:pt x="1015937" y="0"/>
                </a:moveTo>
                <a:cubicBezTo>
                  <a:pt x="1226345" y="0"/>
                  <a:pt x="1421813" y="62368"/>
                  <a:pt x="1583958" y="169179"/>
                </a:cubicBezTo>
                <a:lnTo>
                  <a:pt x="1671257" y="239412"/>
                </a:lnTo>
                <a:lnTo>
                  <a:pt x="1608201" y="290140"/>
                </a:lnTo>
                <a:cubicBezTo>
                  <a:pt x="1424353" y="469404"/>
                  <a:pt x="1310640" y="717054"/>
                  <a:pt x="1310640" y="990600"/>
                </a:cubicBezTo>
                <a:cubicBezTo>
                  <a:pt x="1310640" y="1264147"/>
                  <a:pt x="1424353" y="1511797"/>
                  <a:pt x="1608201" y="1691060"/>
                </a:cubicBezTo>
                <a:lnTo>
                  <a:pt x="1671257" y="1741789"/>
                </a:lnTo>
                <a:lnTo>
                  <a:pt x="1583958" y="1812021"/>
                </a:lnTo>
                <a:cubicBezTo>
                  <a:pt x="1421813" y="1918832"/>
                  <a:pt x="1226345" y="1981200"/>
                  <a:pt x="1015937" y="1981200"/>
                </a:cubicBezTo>
                <a:cubicBezTo>
                  <a:pt x="454850" y="1981200"/>
                  <a:pt x="0" y="1537693"/>
                  <a:pt x="0" y="990600"/>
                </a:cubicBezTo>
                <a:cubicBezTo>
                  <a:pt x="0" y="443507"/>
                  <a:pt x="454850" y="0"/>
                  <a:pt x="1015937" y="0"/>
                </a:cubicBezTo>
                <a:close/>
              </a:path>
            </a:pathLst>
          </a:custGeom>
          <a:solidFill>
            <a:srgbClr val="A7C0DE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3936" tIns="214442" rIns="516065" bIns="214441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500" kern="1200" dirty="0"/>
              <a:t> </a:t>
            </a:r>
            <a:r>
              <a:rPr lang="en-US" sz="4400" kern="12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40386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Sequences</a:t>
            </a:r>
            <a:r>
              <a:rPr lang="en-US" dirty="0"/>
              <a:t>: A sequence of objects is a list of objects in </a:t>
            </a:r>
            <a:r>
              <a:rPr lang="en-US" b="1" dirty="0"/>
              <a:t>some order</a:t>
            </a:r>
            <a:r>
              <a:rPr lang="en-US" dirty="0"/>
              <a:t>.</a:t>
            </a:r>
          </a:p>
          <a:p>
            <a:r>
              <a:rPr lang="en-US" dirty="0"/>
              <a:t>Example: the sequence 7, 21, 57 would be written as (7, 21, 57)</a:t>
            </a:r>
          </a:p>
          <a:p>
            <a:r>
              <a:rPr lang="en-US" dirty="0"/>
              <a:t>In a set the order </a:t>
            </a:r>
            <a:r>
              <a:rPr lang="en-US" b="1" dirty="0"/>
              <a:t>does not </a:t>
            </a:r>
            <a:r>
              <a:rPr lang="en-US" dirty="0"/>
              <a:t>matter but in a sequence it </a:t>
            </a:r>
            <a:r>
              <a:rPr lang="en-US" b="1" dirty="0"/>
              <a:t>does</a:t>
            </a:r>
            <a:r>
              <a:rPr lang="en-US" dirty="0"/>
              <a:t>.</a:t>
            </a:r>
          </a:p>
          <a:p>
            <a:r>
              <a:rPr lang="en-US" dirty="0"/>
              <a:t>Repetition is not permitted in a set but repetition is permitted in a sequence. So, (7, 7, 21, 57) is different from (7, 21, 57).</a:t>
            </a:r>
          </a:p>
          <a:p>
            <a:r>
              <a:rPr lang="en-US" b="1" dirty="0"/>
              <a:t>Tuples</a:t>
            </a:r>
            <a:r>
              <a:rPr lang="en-US" dirty="0"/>
              <a:t>: Finite sequences are called </a:t>
            </a:r>
            <a:r>
              <a:rPr lang="en-US" b="1" dirty="0"/>
              <a:t>tuples</a:t>
            </a:r>
            <a:r>
              <a:rPr lang="en-US" dirty="0"/>
              <a:t>. </a:t>
            </a:r>
          </a:p>
          <a:p>
            <a:r>
              <a:rPr lang="en-US" dirty="0"/>
              <a:t>Examples: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(7, 21)             2-tuple or pair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(7, 21, 57)       3-tuple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(7, 21, ..., k )   k-tuple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62800" y="1905000"/>
            <a:ext cx="12954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505200" y="2286000"/>
            <a:ext cx="1066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27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Cartesian Product</a:t>
                </a:r>
                <a:r>
                  <a:rPr lang="en-US" dirty="0"/>
                  <a:t>: The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of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set of all ordered pairs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|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Alternate Process 3"/>
              <p:cNvSpPr/>
              <p:nvPr/>
            </p:nvSpPr>
            <p:spPr>
              <a:xfrm>
                <a:off x="914399" y="3800398"/>
                <a:ext cx="2103120" cy="548640"/>
              </a:xfrm>
              <a:prstGeom prst="flowChartAlternateProcess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{1,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Flowchart: Alternate Process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3800398"/>
                <a:ext cx="2103120" cy="548640"/>
              </a:xfrm>
              <a:prstGeom prst="flowChartAlternateProcess">
                <a:avLst/>
              </a:prstGeom>
              <a:blipFill>
                <a:blip r:embed="rId3"/>
                <a:stretch>
                  <a:fillRect b="-5319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owchart: Alternate Process 4"/>
              <p:cNvSpPr/>
              <p:nvPr/>
            </p:nvSpPr>
            <p:spPr>
              <a:xfrm>
                <a:off x="914398" y="4868839"/>
                <a:ext cx="2103120" cy="548640"/>
              </a:xfrm>
              <a:prstGeom prst="flowChartAlternateProcess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Flowchart: Alternate Process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8" y="4868839"/>
                <a:ext cx="2103120" cy="548640"/>
              </a:xfrm>
              <a:prstGeom prst="flowChartAlternateProcess">
                <a:avLst/>
              </a:prstGeom>
              <a:blipFill>
                <a:blip r:embed="rId4"/>
                <a:stretch>
                  <a:fillRect b="-425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1599" y="3637051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9" y="3637051"/>
                <a:ext cx="838200" cy="461665"/>
              </a:xfrm>
              <a:prstGeom prst="rect">
                <a:avLst/>
              </a:prstGeom>
              <a:blipFill>
                <a:blip r:embed="rId5"/>
                <a:stretch>
                  <a:fillRect l="-5839" r="-12409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86499" y="3637051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(1, 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9" y="3637051"/>
                <a:ext cx="838200" cy="461665"/>
              </a:xfrm>
              <a:prstGeom prst="rect">
                <a:avLst/>
              </a:prstGeom>
              <a:blipFill>
                <a:blip r:embed="rId6"/>
                <a:stretch>
                  <a:fillRect l="-5797" r="-1304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181599" y="4254693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(2, 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9" y="4254693"/>
                <a:ext cx="838200" cy="461665"/>
              </a:xfrm>
              <a:prstGeom prst="rect">
                <a:avLst/>
              </a:prstGeom>
              <a:blipFill>
                <a:blip r:embed="rId7"/>
                <a:stretch>
                  <a:fillRect l="-5839" r="-1240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286499" y="4285423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(2, 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9" y="4285423"/>
                <a:ext cx="838200" cy="461665"/>
              </a:xfrm>
              <a:prstGeom prst="rect">
                <a:avLst/>
              </a:prstGeom>
              <a:blipFill>
                <a:blip r:embed="rId8"/>
                <a:stretch>
                  <a:fillRect l="-5797" r="-1304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181599" y="4872335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(3, 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99" y="4872335"/>
                <a:ext cx="838200" cy="461665"/>
              </a:xfrm>
              <a:prstGeom prst="rect">
                <a:avLst/>
              </a:prstGeom>
              <a:blipFill>
                <a:blip r:embed="rId9"/>
                <a:stretch>
                  <a:fillRect l="-5839" r="-1240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86499" y="4872335"/>
                <a:ext cx="838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(3, 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9" y="4872335"/>
                <a:ext cx="838200" cy="461665"/>
              </a:xfrm>
              <a:prstGeom prst="rect">
                <a:avLst/>
              </a:prstGeom>
              <a:blipFill>
                <a:blip r:embed="rId10"/>
                <a:stretch>
                  <a:fillRect l="-5797" r="-1304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48262" y="5544476"/>
                <a:ext cx="19430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262" y="5544476"/>
                <a:ext cx="194309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858421" y="2313153"/>
            <a:ext cx="49530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Left Brace 16"/>
          <p:cNvSpPr/>
          <p:nvPr/>
        </p:nvSpPr>
        <p:spPr>
          <a:xfrm>
            <a:off x="4572000" y="3429000"/>
            <a:ext cx="457200" cy="2103120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/>
          <p:cNvSpPr/>
          <p:nvPr/>
        </p:nvSpPr>
        <p:spPr>
          <a:xfrm>
            <a:off x="7239000" y="3429000"/>
            <a:ext cx="457200" cy="210312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9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be two sets. </a:t>
                </a:r>
                <a:r>
                  <a:rPr lang="en-US" b="1" dirty="0"/>
                  <a:t>Any</a:t>
                </a:r>
                <a:r>
                  <a:rPr lang="en-US" dirty="0"/>
                  <a:t> </a:t>
                </a:r>
                <a:r>
                  <a:rPr lang="en-US" b="1" dirty="0"/>
                  <a:t>subset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of their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relation.</a:t>
                </a:r>
              </a:p>
              <a:p>
                <a:r>
                  <a:rPr lang="en-US" dirty="0"/>
                  <a:t>A relation defines the relationship between sets of values. </a:t>
                </a:r>
              </a:p>
              <a:p>
                <a:r>
                  <a:rPr lang="en-US" dirty="0"/>
                  <a:t>It is defined between the x-values and y-values of the ordered pairs. </a:t>
                </a:r>
              </a:p>
              <a:p>
                <a:r>
                  <a:rPr lang="en-US" dirty="0"/>
                  <a:t>The set of all x-values is called </a:t>
                </a:r>
                <a:r>
                  <a:rPr lang="en-US" b="1" dirty="0"/>
                  <a:t>the domain</a:t>
                </a:r>
                <a:r>
                  <a:rPr lang="en-US" dirty="0"/>
                  <a:t>, and the set of all y-values is called </a:t>
                </a:r>
                <a:r>
                  <a:rPr lang="en-US" b="1" dirty="0"/>
                  <a:t>the range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4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Reflexive</a:t>
                </a:r>
                <a:r>
                  <a:rPr lang="en-US" dirty="0"/>
                  <a:t>: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be a set, and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be a binary relation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Relation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dirty="0"/>
                  <a:t> is reflexive if,</a:t>
                </a:r>
              </a:p>
              <a:p>
                <a:pPr marL="0" indent="0" algn="ctr">
                  <a:buNone/>
                </a:pPr>
                <a:r>
                  <a:rPr lang="pt-BR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:[(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)→((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>
                  <a:solidFill>
                    <a:srgbClr val="0066FF"/>
                  </a:solidFill>
                </a:endParaRPr>
              </a:p>
              <a:p>
                <a:r>
                  <a:rPr lang="en-US" dirty="0"/>
                  <a:t>Examples: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743200" y="1900936"/>
            <a:ext cx="37338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1079500" y="3124200"/>
                <a:ext cx="3383280" cy="205740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20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20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={1, 2}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and </a:t>
                </a:r>
                <a:endParaRPr lang="en-US" sz="220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r>
                        <m:rPr>
                          <m:sty m:val="p"/>
                        </m:rP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| </m:t>
                      </m:r>
                      <m:r>
                        <m:rPr>
                          <m:sty m:val="p"/>
                        </m:rP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200" i="0" dirty="0" err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200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2200" dirty="0">
                    <a:solidFill>
                      <a:srgbClr val="C00000"/>
                    </a:solidFill>
                  </a:rPr>
                  <a:t>So,</a:t>
                </a:r>
                <a:r>
                  <a:rPr lang="en-US" sz="2200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sz="2200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2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dirty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 i="1" dirty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n-US" sz="22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200" i="1" dirty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sz="22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200" i="1" dirty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i="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" y="3124200"/>
                <a:ext cx="3383280" cy="2057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5181600" y="3124200"/>
                <a:ext cx="3566160" cy="205740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2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i="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</a:endParaRPr>
              </a:p>
              <a:p>
                <a:pPr marL="0" lvl="2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0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={(1,1), (1,2), (3,1), (2,2)}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124200"/>
                <a:ext cx="3566160" cy="2057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 Diagonal Corner Rectangle 12"/>
          <p:cNvSpPr/>
          <p:nvPr/>
        </p:nvSpPr>
        <p:spPr>
          <a:xfrm rot="5400000">
            <a:off x="5757202" y="1972995"/>
            <a:ext cx="457200" cy="2226213"/>
          </a:xfrm>
          <a:prstGeom prst="round2DiagRect">
            <a:avLst/>
          </a:prstGeom>
          <a:solidFill>
            <a:srgbClr val="CD6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2</a:t>
            </a:r>
          </a:p>
        </p:txBody>
      </p:sp>
      <p:sp>
        <p:nvSpPr>
          <p:cNvPr id="14" name="Round Diagonal Corner Rectangle 13"/>
          <p:cNvSpPr/>
          <p:nvPr/>
        </p:nvSpPr>
        <p:spPr>
          <a:xfrm rot="5400000">
            <a:off x="1676399" y="1972995"/>
            <a:ext cx="457200" cy="2226213"/>
          </a:xfrm>
          <a:prstGeom prst="round2DiagRect">
            <a:avLst/>
          </a:prstGeom>
          <a:solidFill>
            <a:srgbClr val="719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1</a:t>
            </a:r>
          </a:p>
        </p:txBody>
      </p:sp>
      <p:sp>
        <p:nvSpPr>
          <p:cNvPr id="15" name="Round Diagonal Corner Rectangle 14"/>
          <p:cNvSpPr/>
          <p:nvPr/>
        </p:nvSpPr>
        <p:spPr>
          <a:xfrm rot="5400000">
            <a:off x="2514599" y="4104014"/>
            <a:ext cx="457200" cy="2226213"/>
          </a:xfrm>
          <a:prstGeom prst="round2Diag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Reflexive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 Diagonal Corner Rectangle 16"/>
              <p:cNvSpPr/>
              <p:nvPr/>
            </p:nvSpPr>
            <p:spPr>
              <a:xfrm rot="5400000">
                <a:off x="6733149" y="4175760"/>
                <a:ext cx="731520" cy="2011680"/>
              </a:xfrm>
              <a:prstGeom prst="round2DiagRect">
                <a:avLst/>
              </a:prstGeom>
              <a:gradFill flip="none" rotWithShape="1">
                <a:gsLst>
                  <a:gs pos="0">
                    <a:srgbClr val="CD6209"/>
                  </a:gs>
                  <a:gs pos="35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91440" tIns="0" bIns="91440"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Not Reflexive</a:t>
                </a:r>
              </a:p>
              <a:p>
                <a:pPr marL="0" lvl="2" algn="ctr"/>
                <a:r>
                  <a:rPr lang="en-US" sz="2000" dirty="0">
                    <a:solidFill>
                      <a:srgbClr val="FF000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(3,3) ∉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Round Diagonal Corner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733149" y="4175760"/>
                <a:ext cx="731520" cy="2011680"/>
              </a:xfrm>
              <a:prstGeom prst="round2DiagRect">
                <a:avLst/>
              </a:prstGeom>
              <a:blipFill>
                <a:blip r:embed="rId5"/>
                <a:stretch>
                  <a:fillRect t="-12500" r="-1818" b="-1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 flipV="1">
            <a:off x="2155208" y="4832797"/>
            <a:ext cx="365760" cy="6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551506" y="4826076"/>
            <a:ext cx="365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6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6" grpId="0" animBg="1"/>
      <p:bldP spid="7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00050"/>
                <a:r>
                  <a:rPr lang="en-US" b="1" dirty="0"/>
                  <a:t>Symmetric</a:t>
                </a:r>
                <a:r>
                  <a:rPr lang="en-US" dirty="0"/>
                  <a:t>: </a:t>
                </a:r>
                <a:r>
                  <a:rPr lang="en-US" i="0" dirty="0">
                    <a:latin typeface="+mj-lt"/>
                  </a:rPr>
                  <a:t>A</a:t>
                </a:r>
                <a:r>
                  <a:rPr lang="en-US" dirty="0"/>
                  <a:t> relation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called symmetric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for some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:∀</m:t>
                      </m:r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:[((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)→((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pt-BR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pt-BR" dirty="0">
                  <a:solidFill>
                    <a:srgbClr val="0066FF"/>
                  </a:solidFill>
                </a:endParaRPr>
              </a:p>
              <a:p>
                <a:pPr marL="400050"/>
                <a:r>
                  <a:rPr lang="pt-BR" dirty="0"/>
                  <a:t>Examples: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81852" y="1910462"/>
            <a:ext cx="4953000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994704" y="3278251"/>
                <a:ext cx="7454900" cy="10058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2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={1,2,3} </m:t>
                      </m:r>
                      <m:r>
                        <m:rPr>
                          <m:nor/>
                        </m:rPr>
                        <a:rPr lang="pt-BR" sz="2200" dirty="0">
                          <a:solidFill>
                            <a:srgbClr val="C00000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pt-BR" sz="22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pt-BR" sz="2200" dirty="0">
                          <a:solidFill>
                            <a:srgbClr val="C00000"/>
                          </a:solidFill>
                        </a:rPr>
                        <m:t>So</m:t>
                      </m:r>
                      <m:r>
                        <m:rPr>
                          <m:nor/>
                        </m:rPr>
                        <a:rPr lang="pt-BR" sz="2200" dirty="0">
                          <a:solidFill>
                            <a:srgbClr val="C0000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pt-BR" sz="22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2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={(1,2),(1,3),(2,1),(2,3),(3,1),(3,2)}</m:t>
                      </m:r>
                    </m:oMath>
                  </m:oMathPara>
                </a14:m>
                <a:endParaRPr lang="en-US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04" y="3278251"/>
                <a:ext cx="7454900" cy="10058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 Diagonal Corner Rectangle 10"/>
          <p:cNvSpPr/>
          <p:nvPr/>
        </p:nvSpPr>
        <p:spPr>
          <a:xfrm rot="5400000">
            <a:off x="1570307" y="2050845"/>
            <a:ext cx="457200" cy="2226213"/>
          </a:xfrm>
          <a:prstGeom prst="round2DiagRect">
            <a:avLst/>
          </a:prstGeom>
          <a:solidFill>
            <a:srgbClr val="719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1</a:t>
            </a:r>
          </a:p>
        </p:txBody>
      </p:sp>
      <p:sp>
        <p:nvSpPr>
          <p:cNvPr id="12" name="Round Diagonal Corner Rectangle 11"/>
          <p:cNvSpPr/>
          <p:nvPr/>
        </p:nvSpPr>
        <p:spPr>
          <a:xfrm rot="5400000">
            <a:off x="7719060" y="3415411"/>
            <a:ext cx="457200" cy="2011680"/>
          </a:xfrm>
          <a:prstGeom prst="round2Diag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Symmetric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994704" y="4992750"/>
                <a:ext cx="7452360" cy="10058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14350"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22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{ 1, 2, 3} </m:t>
                    </m:r>
                  </m:oMath>
                </a14:m>
                <a:r>
                  <a:rPr lang="pt-BR" sz="2200" dirty="0">
                    <a:solidFill>
                      <a:srgbClr val="C0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{(</m:t>
                    </m:r>
                    <m:r>
                      <m:rPr>
                        <m:sty m:val="p"/>
                      </m:rP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| </m:t>
                    </m:r>
                    <m:r>
                      <m:rPr>
                        <m:sty m:val="p"/>
                      </m:rP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m:rPr>
                        <m:sty m:val="p"/>
                      </m:rP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pt-BR" sz="22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/>
                </a:r>
                <a:br>
                  <a:rPr lang="en-US" sz="2200" dirty="0">
                    <a:solidFill>
                      <a:srgbClr val="C00000"/>
                    </a:solidFill>
                  </a:rPr>
                </a:br>
                <a:r>
                  <a:rPr lang="pt-BR" sz="2200" dirty="0">
                    <a:solidFill>
                      <a:srgbClr val="C0000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2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pt-BR" sz="22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{(1,1), (1,2), (1,3), (2,2),(2,3),(3,3)}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04" y="4992750"/>
                <a:ext cx="7452360" cy="10058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 Diagonal Corner Rectangle 14"/>
          <p:cNvSpPr/>
          <p:nvPr/>
        </p:nvSpPr>
        <p:spPr>
          <a:xfrm rot="5400000">
            <a:off x="1570307" y="3765344"/>
            <a:ext cx="457200" cy="2226213"/>
          </a:xfrm>
          <a:prstGeom prst="round2DiagRect">
            <a:avLst/>
          </a:prstGeom>
          <a:solidFill>
            <a:srgbClr val="CD6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2</a:t>
            </a:r>
          </a:p>
        </p:txBody>
      </p:sp>
      <p:sp>
        <p:nvSpPr>
          <p:cNvPr id="16" name="Round Diagonal Corner Rectangle 15"/>
          <p:cNvSpPr/>
          <p:nvPr/>
        </p:nvSpPr>
        <p:spPr>
          <a:xfrm rot="5400000">
            <a:off x="7719061" y="5090160"/>
            <a:ext cx="457200" cy="2011680"/>
          </a:xfrm>
          <a:prstGeom prst="round2DiagRect">
            <a:avLst/>
          </a:prstGeom>
          <a:gradFill flip="none" rotWithShape="1">
            <a:gsLst>
              <a:gs pos="0">
                <a:srgbClr val="CD6209"/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marL="0" lvl="2" algn="ctr"/>
            <a:r>
              <a:rPr lang="en-US" sz="2400" dirty="0">
                <a:solidFill>
                  <a:schemeClr val="tx1"/>
                </a:solidFill>
              </a:rPr>
              <a:t>Asymmetric  </a:t>
            </a:r>
          </a:p>
        </p:txBody>
      </p:sp>
    </p:spTree>
    <p:extLst>
      <p:ext uri="{BB962C8B-B14F-4D97-AF65-F5344CB8AC3E}">
        <p14:creationId xmlns:p14="http://schemas.microsoft.com/office/powerpoint/2010/main" val="79261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7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00050"/>
                <a:r>
                  <a:rPr lang="en-US" b="1" dirty="0"/>
                  <a:t>Transitive: </a:t>
                </a:r>
                <a:r>
                  <a:rPr lang="en-US" dirty="0"/>
                  <a:t>A relation 𝑅 on a set 𝐴, is called transitive if whenever (𝑥,𝑦)∈𝑅 and (𝑦,𝑧)∈𝑅, then (𝑥,𝑧)∈𝑅, for 𝑥, 𝑦, 𝑧∈𝐴. </a:t>
                </a:r>
              </a:p>
              <a:p>
                <a:pPr marL="571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:∀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:∀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[([(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]∧[(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])→((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 ∈ 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dirty="0">
                  <a:solidFill>
                    <a:srgbClr val="0066FF"/>
                  </a:solidFill>
                </a:endParaRPr>
              </a:p>
              <a:p>
                <a:pPr marL="400050"/>
                <a:r>
                  <a:rPr lang="pt-BR" dirty="0"/>
                  <a:t>Examples: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8" t="-800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932579" y="1885950"/>
            <a:ext cx="7220821" cy="457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994704" y="3238500"/>
                <a:ext cx="7454900" cy="10058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 1, 2, 3} 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| 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m:rPr>
                          <m:sty m:val="p"/>
                        </m:rP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sz="2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t-BR" sz="2200" dirty="0">
                  <a:solidFill>
                    <a:srgbClr val="C00000"/>
                  </a:solidFill>
                </a:endParaRPr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So</m:t>
                      </m:r>
                      <m:r>
                        <a:rPr lang="pt-BR" sz="22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pt-BR" sz="22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2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={(1,1), (1,2), (1,3), (2,2),(2,3),(3,3)}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04" y="3238500"/>
                <a:ext cx="7454900" cy="10058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 Diagonal Corner Rectangle 10"/>
          <p:cNvSpPr/>
          <p:nvPr/>
        </p:nvSpPr>
        <p:spPr>
          <a:xfrm rot="5400000">
            <a:off x="1570307" y="2011094"/>
            <a:ext cx="457200" cy="2226213"/>
          </a:xfrm>
          <a:prstGeom prst="round2DiagRect">
            <a:avLst/>
          </a:prstGeom>
          <a:solidFill>
            <a:srgbClr val="719E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r>
              <a:rPr lang="en-US" sz="2000" dirty="0"/>
              <a:t>Example 1</a:t>
            </a:r>
          </a:p>
        </p:txBody>
      </p:sp>
      <p:sp>
        <p:nvSpPr>
          <p:cNvPr id="12" name="Round Diagonal Corner Rectangle 11"/>
          <p:cNvSpPr/>
          <p:nvPr/>
        </p:nvSpPr>
        <p:spPr>
          <a:xfrm rot="5400000">
            <a:off x="7719060" y="3375660"/>
            <a:ext cx="457200" cy="2011680"/>
          </a:xfrm>
          <a:prstGeom prst="round2Diag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0" bIns="91440"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Transitive 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3952942" y="4097069"/>
            <a:ext cx="365760" cy="6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019800" y="4103996"/>
            <a:ext cx="365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627606" y="4103996"/>
            <a:ext cx="365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49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7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Equivalence Relation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Equivalence Relation </a:t>
                </a:r>
                <a:r>
                  <a:rPr lang="en-US" dirty="0"/>
                  <a:t>declares or shows some kind of equality or equivalence.</a:t>
                </a:r>
              </a:p>
              <a:p>
                <a:r>
                  <a:rPr lang="en-US" dirty="0"/>
                  <a:t>If the relation satisfies all three properties </a:t>
                </a:r>
                <a:r>
                  <a:rPr lang="en-US" b="1" dirty="0"/>
                  <a:t>reflexive, symmetric and transitive </a:t>
                </a:r>
                <a:r>
                  <a:rPr lang="en-US" dirty="0"/>
                  <a:t>then it is called an Equivalence Relation.</a:t>
                </a:r>
              </a:p>
              <a:p>
                <a:r>
                  <a:rPr lang="en-US" dirty="0"/>
                  <a:t>Equality ‘=’ relation is the equivalence relation because equality proves the required conditions.</a:t>
                </a:r>
              </a:p>
              <a:p>
                <a:pPr marL="857250" lvl="1" indent="-342900">
                  <a:buFont typeface="+mj-lt"/>
                  <a:buAutoNum type="arabicPeriod"/>
                </a:pPr>
                <a:r>
                  <a:rPr lang="en-US" b="1" dirty="0"/>
                  <a:t>Reflexive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true for all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857250" lvl="1" indent="-342900">
                  <a:buFont typeface="+mj-lt"/>
                  <a:buAutoNum type="arabicPeriod"/>
                </a:pPr>
                <a:r>
                  <a:rPr lang="en-US" b="1" dirty="0"/>
                  <a:t>Symmetric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true for all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57250" lvl="1" indent="-342900">
                  <a:buFont typeface="+mj-lt"/>
                  <a:buAutoNum type="arabicPeriod"/>
                </a:pPr>
                <a:r>
                  <a:rPr lang="en-US" b="1" dirty="0"/>
                  <a:t>Transitive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true for all values then we can say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58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Relationship between </a:t>
                </a:r>
                <a:r>
                  <a:rPr lang="en-US" b="1" dirty="0"/>
                  <a:t>two sets of numbers </a:t>
                </a:r>
                <a:r>
                  <a:rPr lang="en-US" dirty="0"/>
                  <a:t>is known as a function.</a:t>
                </a:r>
              </a:p>
              <a:p>
                <a:r>
                  <a:rPr lang="en-US" dirty="0"/>
                  <a:t>Function is a </a:t>
                </a:r>
                <a:r>
                  <a:rPr lang="en-US" b="1" dirty="0"/>
                  <a:t>special kind of relation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number in one set is </a:t>
                </a:r>
                <a:r>
                  <a:rPr lang="en-US" b="1" dirty="0"/>
                  <a:t>mapped to a </a:t>
                </a:r>
                <a:r>
                  <a:rPr lang="en-US" dirty="0"/>
                  <a:t>number in another set by the function. </a:t>
                </a:r>
              </a:p>
              <a:p>
                <a:r>
                  <a:rPr lang="en-US" dirty="0"/>
                  <a:t>Example: this tree </a:t>
                </a:r>
                <a:r>
                  <a:rPr lang="en-US" b="1" dirty="0"/>
                  <a:t>grows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cm </a:t>
                </a:r>
                <a:r>
                  <a:rPr lang="en-US" dirty="0"/>
                  <a:t>every year, so the height of the tree is related to its age using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77006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𝒂𝒈𝒆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𝒂𝒈𝒆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rgbClr val="C00000"/>
                    </a:solidFill>
                  </a:rPr>
                  <a:t>So, if the </a:t>
                </a:r>
                <a:r>
                  <a:rPr lang="en-US" b="1" dirty="0">
                    <a:solidFill>
                      <a:srgbClr val="C00000"/>
                    </a:solidFill>
                  </a:rPr>
                  <a:t>age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years</a:t>
                </a:r>
                <a:r>
                  <a:rPr lang="en-US" dirty="0">
                    <a:solidFill>
                      <a:srgbClr val="C00000"/>
                    </a:solidFill>
                  </a:rPr>
                  <a:t>, </a:t>
                </a:r>
              </a:p>
              <a:p>
                <a:pPr marL="0" indent="0" algn="l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			then height is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</m:d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cm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like saying </a:t>
                </a:r>
                <a:r>
                  <a:rPr lang="en-US" b="1" dirty="0"/>
                  <a:t>10 is related to 200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Here, age is called Domain and height is called Codomain.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276600"/>
            <a:ext cx="1333500" cy="1147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4648200"/>
            <a:ext cx="1066800" cy="4572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1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9866" y="1028133"/>
                <a:ext cx="8763000" cy="53340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Domain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Values given as </a:t>
                </a:r>
                <a:r>
                  <a:rPr lang="en-US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input to the function 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is called the domain of the function.</a:t>
                </a:r>
              </a:p>
              <a:p>
                <a:pPr algn="just"/>
                <a:r>
                  <a:rPr lang="en-US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Codomain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Values that may possibly come out of a function is the codomain.</a:t>
                </a:r>
              </a:p>
              <a:p>
                <a:pPr algn="just"/>
                <a:r>
                  <a:rPr lang="en-US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Range</a:t>
                </a: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 Actual values that come out of a function is a range.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Example: </a:t>
                </a:r>
              </a:p>
              <a:p>
                <a:pPr marL="1481138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)=2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+1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(1)=2(1)+1= 3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(2)=2(2)+1= 5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2000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(4)=2(4)+1= 9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The range of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3, 5, 7, 9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9866" y="1028133"/>
                <a:ext cx="8763000" cy="5334000"/>
              </a:xfrm>
              <a:blipFill>
                <a:blip r:embed="rId2"/>
                <a:stretch>
                  <a:fillRect l="-974" t="-571" r="-1044" b="-2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6319768" y="5840603"/>
            <a:ext cx="1071632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Domain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5873983"/>
            <a:ext cx="11811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Codomain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3464" y="3962400"/>
            <a:ext cx="396618" cy="16138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53036" y="3429000"/>
            <a:ext cx="809764" cy="1975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7924800" y="2819400"/>
            <a:ext cx="914400" cy="30616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592437" y="353022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437" y="3530224"/>
                <a:ext cx="3810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600209" y="3979083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209" y="3979083"/>
                <a:ext cx="3810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6607981" y="442794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981" y="4427942"/>
                <a:ext cx="381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6615752" y="48768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752" y="4876800"/>
                <a:ext cx="381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153400" y="3047999"/>
                <a:ext cx="495300" cy="2833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2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3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4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5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6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7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8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9</a:t>
                </a:r>
              </a:p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10</a:t>
                </a:r>
              </a:p>
              <a:p>
                <a:pPr algn="ctr"/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047999"/>
                <a:ext cx="495300" cy="2833045"/>
              </a:xfrm>
              <a:prstGeom prst="rect">
                <a:avLst/>
              </a:prstGeom>
              <a:blipFill>
                <a:blip r:embed="rId7"/>
                <a:stretch>
                  <a:fillRect l="-3704" t="-2796" r="-1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 flipV="1">
            <a:off x="6858000" y="3690299"/>
            <a:ext cx="1400175" cy="50085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6858000" y="4180014"/>
            <a:ext cx="1400175" cy="0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6858000" y="4611283"/>
            <a:ext cx="1400175" cy="85824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6858000" y="5056869"/>
            <a:ext cx="1400175" cy="200931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ular Callout 76"/>
          <p:cNvSpPr/>
          <p:nvPr/>
        </p:nvSpPr>
        <p:spPr>
          <a:xfrm>
            <a:off x="2438400" y="3138996"/>
            <a:ext cx="1295400" cy="318656"/>
          </a:xfrm>
          <a:prstGeom prst="wedgeRoundRectCallout">
            <a:avLst>
              <a:gd name="adj1" fmla="val -31489"/>
              <a:gd name="adj2" fmla="val 110501"/>
              <a:gd name="adj3" fmla="val 1666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40524"/>
                </a:solidFill>
              </a:rPr>
              <a:t>Codomain</a:t>
            </a:r>
          </a:p>
        </p:txBody>
      </p:sp>
      <p:sp>
        <p:nvSpPr>
          <p:cNvPr id="78" name="Rounded Rectangular Callout 77"/>
          <p:cNvSpPr/>
          <p:nvPr/>
        </p:nvSpPr>
        <p:spPr>
          <a:xfrm>
            <a:off x="950547" y="4091723"/>
            <a:ext cx="1047412" cy="352762"/>
          </a:xfrm>
          <a:prstGeom prst="wedgeRoundRectCallout">
            <a:avLst>
              <a:gd name="adj1" fmla="val 64773"/>
              <a:gd name="adj2" fmla="val -98548"/>
              <a:gd name="adj3" fmla="val 1666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E40524"/>
                </a:solidFill>
              </a:rPr>
              <a:t>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5069" y="3519948"/>
            <a:ext cx="2008970" cy="457200"/>
          </a:xfrm>
          <a:prstGeom prst="rect">
            <a:avLst/>
          </a:prstGeom>
          <a:solidFill>
            <a:srgbClr val="8FCE4A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2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 animBg="1"/>
      <p:bldP spid="27" grpId="0" animBg="1"/>
      <p:bldP spid="28" grpId="0" animBg="1"/>
      <p:bldP spid="55" grpId="0"/>
      <p:bldP spid="56" grpId="0"/>
      <p:bldP spid="57" grpId="0"/>
      <p:bldP spid="58" grpId="0"/>
      <p:bldP spid="59" grpId="0"/>
      <p:bldP spid="77" grpId="0" animBg="1"/>
      <p:bldP spid="78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&amp; Function</a:t>
            </a:r>
          </a:p>
        </p:txBody>
      </p:sp>
      <p:sp>
        <p:nvSpPr>
          <p:cNvPr id="6" name="Oval 5"/>
          <p:cNvSpPr/>
          <p:nvPr/>
        </p:nvSpPr>
        <p:spPr>
          <a:xfrm>
            <a:off x="1035693" y="2923279"/>
            <a:ext cx="809764" cy="239137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607457" y="2085030"/>
            <a:ext cx="914400" cy="370617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19636" y="3018821"/>
            <a:ext cx="809764" cy="2391379"/>
          </a:xfrm>
          <a:prstGeom prst="ellipse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391400" y="3016914"/>
            <a:ext cx="787841" cy="2393286"/>
          </a:xfrm>
          <a:prstGeom prst="ellipse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5727986"/>
            <a:ext cx="164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Division (Domain)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0257" y="5727986"/>
            <a:ext cx="164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Students  (Codomain)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893" y="3432737"/>
            <a:ext cx="65736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400" b="1" dirty="0"/>
              <a:t>CX</a:t>
            </a:r>
          </a:p>
          <a:p>
            <a:pPr algn="ctr">
              <a:spcBef>
                <a:spcPts val="600"/>
              </a:spcBef>
            </a:pPr>
            <a:r>
              <a:rPr lang="en-US" sz="2400" b="1" dirty="0"/>
              <a:t>CY</a:t>
            </a:r>
          </a:p>
          <a:p>
            <a:pPr algn="ctr">
              <a:spcBef>
                <a:spcPts val="600"/>
              </a:spcBef>
            </a:pPr>
            <a:r>
              <a:rPr lang="en-US" sz="2400" b="1" dirty="0"/>
              <a:t>CZ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093" y="2348554"/>
            <a:ext cx="6858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000" b="1" dirty="0"/>
              <a:t>Ana</a:t>
            </a:r>
          </a:p>
          <a:p>
            <a:pPr algn="r">
              <a:spcBef>
                <a:spcPts val="600"/>
              </a:spcBef>
            </a:pPr>
            <a:r>
              <a:rPr lang="en-US" sz="2000" b="1" dirty="0" err="1"/>
              <a:t>Mit</a:t>
            </a:r>
            <a:endParaRPr lang="en-US" sz="2000" b="1" dirty="0"/>
          </a:p>
          <a:p>
            <a:pPr algn="r">
              <a:spcBef>
                <a:spcPts val="600"/>
              </a:spcBef>
            </a:pPr>
            <a:r>
              <a:rPr lang="en-US" sz="2000" b="1" dirty="0"/>
              <a:t>Sam</a:t>
            </a:r>
          </a:p>
          <a:p>
            <a:pPr algn="r">
              <a:spcBef>
                <a:spcPts val="600"/>
              </a:spcBef>
            </a:pPr>
            <a:r>
              <a:rPr lang="en-US" sz="2000" b="1" dirty="0" err="1"/>
              <a:t>Yug</a:t>
            </a:r>
            <a:endParaRPr lang="en-US" sz="2000" b="1" dirty="0"/>
          </a:p>
          <a:p>
            <a:pPr algn="r">
              <a:spcBef>
                <a:spcPts val="600"/>
              </a:spcBef>
            </a:pPr>
            <a:r>
              <a:rPr lang="en-US" sz="2000" b="1" dirty="0"/>
              <a:t>Jen</a:t>
            </a:r>
          </a:p>
          <a:p>
            <a:pPr algn="r">
              <a:spcBef>
                <a:spcPts val="600"/>
              </a:spcBef>
            </a:pPr>
            <a:r>
              <a:rPr lang="en-US" sz="2000" b="1" dirty="0"/>
              <a:t>Tom</a:t>
            </a:r>
          </a:p>
          <a:p>
            <a:pPr algn="r">
              <a:spcBef>
                <a:spcPts val="600"/>
              </a:spcBef>
            </a:pPr>
            <a:r>
              <a:rPr lang="en-US" sz="2000" b="1" dirty="0"/>
              <a:t>Ram</a:t>
            </a:r>
          </a:p>
          <a:p>
            <a:pPr algn="r">
              <a:spcBef>
                <a:spcPts val="600"/>
              </a:spcBef>
            </a:pPr>
            <a:r>
              <a:rPr lang="en-US" sz="2000" b="1" dirty="0"/>
              <a:t>Neel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591596" y="2553813"/>
            <a:ext cx="1253569" cy="10901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590009" y="3294591"/>
            <a:ext cx="1226720" cy="3606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591596" y="3643954"/>
            <a:ext cx="1193522" cy="8382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623967" y="2923280"/>
            <a:ext cx="1237351" cy="122589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1623967" y="3747241"/>
            <a:ext cx="1364490" cy="40193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617858" y="4149177"/>
            <a:ext cx="1189161" cy="1147235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561605" y="4053329"/>
            <a:ext cx="1299713" cy="523528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547739" y="4576857"/>
            <a:ext cx="1237379" cy="286347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7960" y="1332313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C00000"/>
                </a:solidFill>
              </a:rPr>
              <a:t>Is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not a function </a:t>
            </a:r>
            <a:r>
              <a:rPr lang="en-US" sz="2000" dirty="0">
                <a:solidFill>
                  <a:srgbClr val="C00000"/>
                </a:solidFill>
              </a:rPr>
              <a:t>since elements of domain point to multiple elements of codomain.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960" y="88715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Relation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1047" y="1332313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</a:rPr>
              <a:t>Is a function </a:t>
            </a:r>
            <a:r>
              <a:rPr lang="en-US" sz="2000" dirty="0">
                <a:solidFill>
                  <a:srgbClr val="0070C0"/>
                </a:solidFill>
              </a:rPr>
              <a:t>since elements of domain point to only one element of codomain.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047" y="887158"/>
            <a:ext cx="163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Relation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9338" y="3355312"/>
            <a:ext cx="760062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/>
              <a:t>Ana </a:t>
            </a:r>
          </a:p>
          <a:p>
            <a:pPr>
              <a:spcBef>
                <a:spcPts val="600"/>
              </a:spcBef>
            </a:pPr>
            <a:r>
              <a:rPr lang="en-US" sz="2400" b="1" dirty="0" err="1"/>
              <a:t>Yug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en-US" sz="2400" b="1" dirty="0"/>
              <a:t>Ram</a:t>
            </a:r>
          </a:p>
          <a:p>
            <a:pPr>
              <a:spcBef>
                <a:spcPts val="600"/>
              </a:spcBef>
            </a:pPr>
            <a:r>
              <a:rPr lang="en-US" sz="2400" b="1" dirty="0" err="1"/>
              <a:t>Mit</a:t>
            </a:r>
            <a:endParaRPr 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599358" y="3444911"/>
            <a:ext cx="68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CX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CY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CZ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449221" y="3632186"/>
            <a:ext cx="1150137" cy="10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7" idx="1"/>
          </p:cNvCxnSpPr>
          <p:nvPr/>
        </p:nvCxnSpPr>
        <p:spPr>
          <a:xfrm>
            <a:off x="6425651" y="4029686"/>
            <a:ext cx="1173707" cy="76945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485529" y="4506456"/>
            <a:ext cx="1210671" cy="2817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6425651" y="4612278"/>
            <a:ext cx="1270549" cy="279058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12504" y="5727986"/>
            <a:ext cx="164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Division (Codomain</a:t>
            </a:r>
            <a:r>
              <a:rPr lang="en-US" sz="2000" dirty="0"/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0404" y="5727986"/>
            <a:ext cx="1645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Students  (Domain)</a:t>
            </a:r>
          </a:p>
        </p:txBody>
      </p:sp>
      <p:cxnSp>
        <p:nvCxnSpPr>
          <p:cNvPr id="4" name="Straight Connector 3"/>
          <p:cNvCxnSpPr>
            <a:stCxn id="2" idx="2"/>
          </p:cNvCxnSpPr>
          <p:nvPr/>
        </p:nvCxnSpPr>
        <p:spPr>
          <a:xfrm>
            <a:off x="4572000" y="914400"/>
            <a:ext cx="0" cy="55214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21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22" grpId="0"/>
      <p:bldP spid="23" grpId="0"/>
      <p:bldP spid="24" grpId="0"/>
      <p:bldP spid="25" grpId="0"/>
      <p:bldP spid="26" grpId="0"/>
      <p:bldP spid="27" grpId="0"/>
      <p:bldP spid="41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</a:t>
                </a:r>
                <a:r>
                  <a:rPr lang="en-US" b="1" dirty="0"/>
                  <a:t>range of function </a:t>
                </a:r>
                <a:r>
                  <a:rPr lang="en-US" dirty="0"/>
                  <a:t>and </a:t>
                </a:r>
                <a:r>
                  <a:rPr lang="en-US" b="1" dirty="0"/>
                  <a:t>codomain of function </a:t>
                </a:r>
                <a:r>
                  <a:rPr lang="en-US" dirty="0"/>
                  <a:t>are equal then the function is said to be </a:t>
                </a:r>
                <a:r>
                  <a:rPr lang="en-US" dirty="0">
                    <a:solidFill>
                      <a:srgbClr val="0066FF"/>
                    </a:solidFill>
                  </a:rPr>
                  <a:t>onto or surjective or surjection.</a:t>
                </a:r>
              </a:p>
              <a:p>
                <a:r>
                  <a:rPr lang="en-US" dirty="0"/>
                  <a:t>Example: </a:t>
                </a:r>
              </a:p>
              <a:p>
                <a:pPr marL="9144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={−2,−1,1,2,3,4}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i="0" dirty="0" smtClean="0">
                        <a:latin typeface="Cambria Math" panose="02040503050406030204" pitchFamily="18" charset="0"/>
                      </a:rPr>
                      <m:t>={1,4,9,16}</m:t>
                    </m:r>
                  </m:oMath>
                </a14:m>
                <a:endParaRPr lang="en-US" sz="2200" dirty="0"/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=4,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1, 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=1,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=4,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=9,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2006600" lvl="3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(4)=16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dirty="0"/>
                  <a:t>Range of function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)={1, 4, 9, 16}=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6332560" y="3703662"/>
            <a:ext cx="914400" cy="26971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924800" y="3962400"/>
            <a:ext cx="914400" cy="2438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29400" y="333915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339155"/>
                <a:ext cx="381000" cy="381000"/>
              </a:xfrm>
              <a:prstGeom prst="rect">
                <a:avLst/>
              </a:prstGeom>
              <a:blipFill>
                <a:blip r:embed="rId3"/>
                <a:stretch>
                  <a:fillRect l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188656" y="3587656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656" y="3587656"/>
                <a:ext cx="381000" cy="381000"/>
              </a:xfrm>
              <a:prstGeom prst="rect">
                <a:avLst/>
              </a:prstGeom>
              <a:blipFill>
                <a:blip r:embed="rId4"/>
                <a:stretch>
                  <a:fillRect l="-3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592437" y="4515136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437" y="4515136"/>
                <a:ext cx="381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606653" y="49530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653" y="4953000"/>
                <a:ext cx="381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15752" y="540451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752" y="5404512"/>
                <a:ext cx="381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615752" y="586171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752" y="5861712"/>
                <a:ext cx="381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174440" y="400959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440" y="4009599"/>
                <a:ext cx="381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188656" y="457313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656" y="4573137"/>
                <a:ext cx="381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202304" y="510426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304" y="5104265"/>
                <a:ext cx="381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156244" y="5728648"/>
                <a:ext cx="468004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244" y="5728648"/>
                <a:ext cx="468004" cy="381000"/>
              </a:xfrm>
              <a:prstGeom prst="rect">
                <a:avLst/>
              </a:prstGeom>
              <a:blipFill>
                <a:blip r:embed="rId12"/>
                <a:stretch>
                  <a:fillRect l="-1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6967184" y="3962400"/>
            <a:ext cx="1207256" cy="80749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996752" y="4210050"/>
            <a:ext cx="1261423" cy="18055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950124" y="4304730"/>
            <a:ext cx="1322267" cy="41796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004148" y="4896137"/>
            <a:ext cx="1198156" cy="205285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586184" y="370366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184" y="3703662"/>
                <a:ext cx="381000" cy="381000"/>
              </a:xfrm>
              <a:prstGeom prst="rect">
                <a:avLst/>
              </a:prstGeom>
              <a:blipFill>
                <a:blip r:embed="rId13"/>
                <a:stretch>
                  <a:fillRect l="-12698" t="-8065" b="-241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600400" y="4128448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400" y="4128448"/>
                <a:ext cx="381000" cy="381000"/>
              </a:xfrm>
              <a:prstGeom prst="rect">
                <a:avLst/>
              </a:prstGeom>
              <a:blipFill>
                <a:blip r:embed="rId14"/>
                <a:stretch>
                  <a:fillRect l="-14516" t="-6349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7004148" y="5332865"/>
            <a:ext cx="1220904" cy="268407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956380" y="5957248"/>
            <a:ext cx="1268672" cy="6823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95912" y="2819400"/>
            <a:ext cx="1371600" cy="43218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ular Callout 25"/>
          <p:cNvSpPr/>
          <p:nvPr/>
        </p:nvSpPr>
        <p:spPr>
          <a:xfrm>
            <a:off x="2209800" y="1807193"/>
            <a:ext cx="1295400" cy="478807"/>
          </a:xfrm>
          <a:prstGeom prst="wedgeRoundRectCallout">
            <a:avLst>
              <a:gd name="adj1" fmla="val -59757"/>
              <a:gd name="adj2" fmla="val 75395"/>
              <a:gd name="adj3" fmla="val 1666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E40524"/>
                </a:solidFill>
              </a:rPr>
              <a:t>Codomain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8256" y="2362200"/>
            <a:ext cx="1257300" cy="457200"/>
          </a:xfrm>
          <a:prstGeom prst="rect">
            <a:avLst/>
          </a:prstGeom>
          <a:solidFill>
            <a:srgbClr val="8FCE4A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0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0" grpId="0"/>
      <p:bldP spid="21" grpId="0"/>
      <p:bldP spid="24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dirty="0">
                    <a:solidFill>
                      <a:srgbClr val="0066FF"/>
                    </a:solidFill>
                  </a:rPr>
                  <a:t>injective or one-to-one </a:t>
                </a:r>
                <a:r>
                  <a:rPr lang="en-US" dirty="0"/>
                  <a:t>if there </a:t>
                </a:r>
                <a:r>
                  <a:rPr lang="en-US" b="1" dirty="0"/>
                  <a:t>do not exist </a:t>
                </a:r>
                <a:r>
                  <a:rPr lang="en-US" dirty="0"/>
                  <a:t>two distinct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dirty="0"/>
                  <a:t>is a one-to-one function, </a:t>
                </a:r>
              </a:p>
              <a:p>
                <a:pPr marL="914400" lvl="2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={1, 2, 3, 4}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={2, 3, 4, 5}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3276600" y="3322662"/>
            <a:ext cx="914400" cy="26971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879644" y="3276600"/>
            <a:ext cx="914400" cy="26971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18480" y="352879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480" y="3528799"/>
                <a:ext cx="381000" cy="381000"/>
              </a:xfrm>
              <a:prstGeom prst="rect">
                <a:avLst/>
              </a:prstGeom>
              <a:blipFill rotWithShape="0">
                <a:blip r:embed="rId3"/>
                <a:stretch>
                  <a:fillRect l="-9677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132696" y="409233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696" y="4092337"/>
                <a:ext cx="381000" cy="381000"/>
              </a:xfrm>
              <a:prstGeom prst="rect">
                <a:avLst/>
              </a:prstGeom>
              <a:blipFill rotWithShape="0">
                <a:blip r:embed="rId4"/>
                <a:stretch>
                  <a:fillRect l="-9677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146344" y="462346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344" y="4623465"/>
                <a:ext cx="381000" cy="381000"/>
              </a:xfrm>
              <a:prstGeom prst="rect">
                <a:avLst/>
              </a:prstGeom>
              <a:blipFill rotWithShape="0">
                <a:blip r:embed="rId5"/>
                <a:stretch>
                  <a:fillRect l="-9524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00284" y="5247848"/>
                <a:ext cx="468004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84" y="5247848"/>
                <a:ext cx="468004" cy="381000"/>
              </a:xfrm>
              <a:prstGeom prst="rect">
                <a:avLst/>
              </a:prstGeom>
              <a:blipFill rotWithShape="0">
                <a:blip r:embed="rId6"/>
                <a:stretch>
                  <a:fillRect b="-80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12592" y="352879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592" y="3528799"/>
                <a:ext cx="381000" cy="381000"/>
              </a:xfrm>
              <a:prstGeom prst="rect">
                <a:avLst/>
              </a:prstGeom>
              <a:blipFill rotWithShape="0">
                <a:blip r:embed="rId7"/>
                <a:stretch>
                  <a:fillRect l="-9524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526808" y="409233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808" y="4092337"/>
                <a:ext cx="381000" cy="381000"/>
              </a:xfrm>
              <a:prstGeom prst="rect">
                <a:avLst/>
              </a:prstGeom>
              <a:blipFill rotWithShape="0">
                <a:blip r:embed="rId8"/>
                <a:stretch>
                  <a:fillRect l="-9677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540456" y="4623465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56" y="4623465"/>
                <a:ext cx="381000" cy="381000"/>
              </a:xfrm>
              <a:prstGeom prst="rect">
                <a:avLst/>
              </a:prstGeom>
              <a:blipFill rotWithShape="0">
                <a:blip r:embed="rId9"/>
                <a:stretch>
                  <a:fillRect l="-9677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494396" y="5247848"/>
                <a:ext cx="468004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396" y="5247848"/>
                <a:ext cx="468004" cy="381000"/>
              </a:xfrm>
              <a:prstGeom prst="rect">
                <a:avLst/>
              </a:prstGeom>
              <a:blipFill rotWithShape="0">
                <a:blip r:embed="rId10"/>
                <a:stretch>
                  <a:fillRect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0" idx="3"/>
            <a:endCxn id="6" idx="1"/>
          </p:cNvCxnSpPr>
          <p:nvPr/>
        </p:nvCxnSpPr>
        <p:spPr>
          <a:xfrm>
            <a:off x="3893592" y="3719299"/>
            <a:ext cx="1224888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3"/>
            <a:endCxn id="7" idx="1"/>
          </p:cNvCxnSpPr>
          <p:nvPr/>
        </p:nvCxnSpPr>
        <p:spPr>
          <a:xfrm>
            <a:off x="3907808" y="4282837"/>
            <a:ext cx="1224888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3"/>
            <a:endCxn id="8" idx="1"/>
          </p:cNvCxnSpPr>
          <p:nvPr/>
        </p:nvCxnSpPr>
        <p:spPr>
          <a:xfrm>
            <a:off x="3921456" y="4813965"/>
            <a:ext cx="1224888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893592" y="5385749"/>
            <a:ext cx="1252752" cy="5259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622344" y="60198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344" y="6019800"/>
                <a:ext cx="381000" cy="381000"/>
              </a:xfrm>
              <a:prstGeom prst="rect">
                <a:avLst/>
              </a:prstGeom>
              <a:blipFill>
                <a:blip r:embed="rId11"/>
                <a:stretch>
                  <a:fillRect l="-15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181600" y="60198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6019800"/>
                <a:ext cx="381000" cy="381000"/>
              </a:xfrm>
              <a:prstGeom prst="rect">
                <a:avLst/>
              </a:prstGeom>
              <a:blipFill>
                <a:blip r:embed="rId12"/>
                <a:stretch>
                  <a:fillRect l="-3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603435" y="1909836"/>
            <a:ext cx="1730565" cy="457200"/>
          </a:xfrm>
          <a:prstGeom prst="rect">
            <a:avLst/>
          </a:prstGeom>
          <a:solidFill>
            <a:srgbClr val="8FCE4A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8" grpId="0"/>
      <p:bldP spid="19" grpId="0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If function is both </a:t>
                </a:r>
                <a:r>
                  <a:rPr lang="en-US" b="1" dirty="0"/>
                  <a:t>one-to-one and onto </a:t>
                </a:r>
                <a:r>
                  <a:rPr lang="en-US" dirty="0"/>
                  <a:t>then the function is called </a:t>
                </a:r>
                <a:r>
                  <a:rPr lang="en-US" dirty="0">
                    <a:solidFill>
                      <a:srgbClr val="0066FF"/>
                    </a:solidFill>
                  </a:rPr>
                  <a:t>Bijection function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Example: </a:t>
                </a:r>
              </a:p>
              <a:p>
                <a:pPr marL="855663" lvl="1" indent="0">
                  <a:buNone/>
                </a:pP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en-US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={1,2,3,4}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={1,4,9,16}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 = 1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 = 4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(3) = 9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(4) = 16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180160" y="3933399"/>
            <a:ext cx="914400" cy="23912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772400" y="3886201"/>
            <a:ext cx="914400" cy="24383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019800" y="373380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733801"/>
                <a:ext cx="381000" cy="381000"/>
              </a:xfrm>
              <a:prstGeom prst="rect">
                <a:avLst/>
              </a:prstGeom>
              <a:blipFill>
                <a:blip r:embed="rId3"/>
                <a:stretch>
                  <a:fillRect l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581900" y="3733801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0" y="3733801"/>
                <a:ext cx="381000" cy="381000"/>
              </a:xfrm>
              <a:prstGeom prst="rect">
                <a:avLst/>
              </a:prstGeom>
              <a:blipFill>
                <a:blip r:embed="rId4"/>
                <a:stretch>
                  <a:fillRect l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440037" y="4038601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4253" y="4572001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3352" y="5154305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3352" y="5715001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2040" y="4024953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256" y="4496938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904" y="5028066"/>
            <a:ext cx="381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3844" y="5576249"/>
            <a:ext cx="46800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16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844352" y="4253553"/>
            <a:ext cx="1228300" cy="1137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851748" y="4718429"/>
            <a:ext cx="1170292" cy="53742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851748" y="5256668"/>
            <a:ext cx="1220904" cy="7477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836392" y="5815935"/>
            <a:ext cx="1199864" cy="70796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03008" y="2362200"/>
            <a:ext cx="1447800" cy="457200"/>
          </a:xfrm>
          <a:prstGeom prst="rect">
            <a:avLst/>
          </a:prstGeom>
          <a:solidFill>
            <a:srgbClr val="8FCE4A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 and Matrices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vector,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means a list (or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-tuple) of numbers: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called the components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457200" lvl="1" indent="0">
                  <a:buNone/>
                </a:pPr>
                <a:r>
                  <a:rPr lang="en-US" dirty="0"/>
                  <a:t>If all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zero,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called the zero vector.</a:t>
                </a:r>
              </a:p>
              <a:p>
                <a:r>
                  <a:rPr lang="en-US" b="1" dirty="0"/>
                  <a:t>Vector operations : Addition, Subtraction, Scalar Multiplication</a:t>
                </a:r>
              </a:p>
              <a:p>
                <a:r>
                  <a:rPr lang="en-US" dirty="0"/>
                  <a:t>Matrix A, means a rectangular array of numbers.</a:t>
                </a:r>
              </a:p>
              <a:p>
                <a:r>
                  <a:rPr lang="en-US" dirty="0"/>
                  <a:t>3x3 Matrix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Matrix operations: Addition, Subtraction, Multiplication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09900" y="1524000"/>
                <a:ext cx="3124200" cy="461665"/>
              </a:xfrm>
              <a:prstGeom prst="rect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, . . . ,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900" y="1524000"/>
                <a:ext cx="3124200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867400" y="4984956"/>
            <a:ext cx="1905000" cy="457200"/>
          </a:xfrm>
          <a:prstGeom prst="roundRect">
            <a:avLst/>
          </a:prstGeom>
          <a:solidFill>
            <a:srgbClr val="8FCE4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9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Inequalities</a:t>
                </a:r>
                <a:r>
                  <a:rPr lang="en-US" dirty="0"/>
                  <a:t>: The term inequality is applied to any statement involving one of the symbols &lt;, &gt;, ≤, ≥.</a:t>
                </a:r>
              </a:p>
              <a:p>
                <a:r>
                  <a:rPr lang="en-US" dirty="0"/>
                  <a:t>Examples of inequalities are: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&gt; 16 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2 +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2 ≤1/2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2 +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&gt; 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58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Linear equation with one Unknown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Two Equations with Two Unknowns</a:t>
                </a:r>
              </a:p>
              <a:p>
                <a:pPr lvl="1"/>
                <a:r>
                  <a:rPr lang="en-US" dirty="0"/>
                  <a:t>A system of two linear equations in the two unknowns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solution of above can be obtained by the elimination process, whereby reduce the system to a single equation in only one unknown.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62200" y="1676400"/>
                <a:ext cx="1447800" cy="461665"/>
              </a:xfrm>
              <a:prstGeom prst="rect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676400"/>
                <a:ext cx="14478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14895" y="1510424"/>
                <a:ext cx="1752600" cy="793615"/>
              </a:xfrm>
              <a:prstGeom prst="rect">
                <a:avLst/>
              </a:prstGeo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895" y="1510424"/>
                <a:ext cx="1752600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210105" y="1707176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83871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Declarative statement that is sufficiently objective, meaningful and precise </a:t>
                </a:r>
                <a:r>
                  <a:rPr lang="en-US" b="1" dirty="0"/>
                  <a:t>to have a truth value (true or false) </a:t>
                </a:r>
                <a:r>
                  <a:rPr lang="en-US" dirty="0"/>
                  <a:t>is known as proposition.</a:t>
                </a:r>
              </a:p>
              <a:p>
                <a:r>
                  <a:rPr lang="en-US" dirty="0"/>
                  <a:t>Proposition examples: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: Fourteen is an even integer.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dirty="0"/>
                  <a:t> : Mumbai is the capital city of India.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: 0 = 0</a:t>
                </a:r>
              </a:p>
              <a:p>
                <a:pPr marL="400050"/>
                <a:r>
                  <a:rPr lang="en-US" dirty="0"/>
                  <a:t>Following </a:t>
                </a:r>
                <a:r>
                  <a:rPr lang="en-US" dirty="0" smtClean="0"/>
                  <a:t>statements </a:t>
                </a:r>
                <a:r>
                  <a:rPr lang="en-US" b="1" dirty="0"/>
                  <a:t>are not propositions</a:t>
                </a:r>
                <a:r>
                  <a:rPr lang="en-US" dirty="0"/>
                  <a:t>.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Close the door.</a:t>
                </a:r>
              </a:p>
              <a:p>
                <a:pPr marL="971550" lvl="1" indent="-457200">
                  <a:buFont typeface="+mj-lt"/>
                  <a:buAutoNum type="arabicPeriod"/>
                </a:pPr>
                <a:r>
                  <a:rPr lang="en-US" dirty="0"/>
                  <a:t>Where are you?</a:t>
                </a:r>
              </a:p>
              <a:p>
                <a:pPr marL="9715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greater than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34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Conjunction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Ʌ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:r>
                  <a:rPr lang="en-US" dirty="0"/>
                  <a:t>The logical connective Conjunction </a:t>
                </a:r>
                <a:r>
                  <a:rPr lang="en-US" dirty="0">
                    <a:solidFill>
                      <a:srgbClr val="0066FF"/>
                    </a:solidFill>
                  </a:rPr>
                  <a:t>(logical AND) </a:t>
                </a:r>
                <a:r>
                  <a:rPr lang="en-US" dirty="0"/>
                  <a:t>is true only when </a:t>
                </a:r>
                <a:r>
                  <a:rPr lang="en-US" b="1" dirty="0"/>
                  <a:t>both of the propositions </a:t>
                </a:r>
                <a:r>
                  <a:rPr lang="en-US" dirty="0"/>
                  <a:t>are true. </a:t>
                </a:r>
              </a:p>
              <a:p>
                <a:r>
                  <a:rPr lang="en-US" dirty="0"/>
                  <a:t>Example: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: It is raining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: It is cold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/>
                  <a:t> : It is raining </a:t>
                </a:r>
                <a:r>
                  <a:rPr lang="en-US" sz="2200" b="1" dirty="0"/>
                  <a:t>AND</a:t>
                </a:r>
                <a:r>
                  <a:rPr lang="en-US" sz="2200" dirty="0"/>
                  <a:t> it is cold</a:t>
                </a:r>
              </a:p>
              <a:p>
                <a:r>
                  <a:rPr lang="en-US" dirty="0"/>
                  <a:t>Truth table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2286000" y="4114800"/>
              <a:ext cx="4572000" cy="198120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oMath>
                          </a14:m>
                          <a:r>
                            <a:rPr lang="en-US" sz="2000" b="1" dirty="0"/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m:rPr>
                                  <m:nor/>
                                </m:rPr>
                                <a:rPr lang="en-US" sz="1800" b="1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1" dirty="0" smtClean="0"/>
                                <m:t>Ʌ</m:t>
                              </m:r>
                              <m:r>
                                <m:rPr>
                                  <m:nor/>
                                </m:rPr>
                                <a:rPr lang="en-US" sz="2000" b="1" i="0" dirty="0" smtClean="0"/>
                                <m:t> </m:t>
                              </m:r>
                              <m:r>
                                <a:rPr lang="en-US" sz="1800" b="1" i="1" dirty="0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oMath>
                          </a14:m>
                          <a:endParaRPr lang="en-US" sz="2000" b="1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15270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52705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6952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5439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9043270"/>
                  </p:ext>
                </p:extLst>
              </p:nvPr>
            </p:nvGraphicFramePr>
            <p:xfrm>
              <a:off x="2286000" y="4114800"/>
              <a:ext cx="4572000" cy="198120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00" t="-7692" r="-2016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800" t="-7692" r="-1016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800" t="-7692" r="-160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00" t="-107692" r="-2016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800" t="-107692" r="-1016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15270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00" t="-207692" r="-20160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800" t="-207692" r="-10160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527057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00" t="-307692" r="-201600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800" t="-307692" r="-101600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69529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00" t="-407692" r="-201600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800" t="-407692" r="-101600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543975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38800" y="4507468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507468"/>
                <a:ext cx="91440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638800" y="492073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920734"/>
                <a:ext cx="91440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638800" y="533400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334000"/>
                <a:ext cx="9144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638800" y="571500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715000"/>
                <a:ext cx="9144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64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Disjunction (V)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:r>
                  <a:rPr lang="en-US" dirty="0"/>
                  <a:t>The logical disjunction, or </a:t>
                </a:r>
                <a:r>
                  <a:rPr lang="en-US" dirty="0">
                    <a:solidFill>
                      <a:srgbClr val="0066FF"/>
                    </a:solidFill>
                  </a:rPr>
                  <a:t>logical OR</a:t>
                </a:r>
                <a:r>
                  <a:rPr lang="en-US" dirty="0"/>
                  <a:t>, is true if </a:t>
                </a:r>
                <a:r>
                  <a:rPr lang="en-US" b="1" dirty="0"/>
                  <a:t>one or both</a:t>
                </a:r>
                <a:r>
                  <a:rPr lang="en-US" dirty="0"/>
                  <a:t> of the propositions are true.</a:t>
                </a:r>
              </a:p>
              <a:p>
                <a:r>
                  <a:rPr lang="en-US" dirty="0"/>
                  <a:t>Example:</a:t>
                </a:r>
              </a:p>
              <a:p>
                <a:pPr marL="914400" lvl="1" indent="-58738" defTabSz="798513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: 2+2=5</m:t>
                      </m:r>
                    </m:oMath>
                  </m:oMathPara>
                </a14:m>
                <a:endParaRPr lang="en-US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200" i="0" dirty="0" smtClean="0">
                          <a:latin typeface="Cambria Math" panose="02040503050406030204" pitchFamily="18" charset="0"/>
                        </a:rPr>
                        <m:t> : 1&lt;2</m:t>
                      </m:r>
                    </m:oMath>
                  </m:oMathPara>
                </a14:m>
                <a:endParaRPr lang="en-US" sz="22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i="0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200" i="0" dirty="0" smtClean="0">
                          <a:latin typeface="Cambria Math" panose="02040503050406030204" pitchFamily="18" charset="0"/>
                        </a:rPr>
                        <m:t> : 2+2=5 </m:t>
                      </m:r>
                      <m:r>
                        <a:rPr lang="en-US" sz="2200" b="1" i="0" dirty="0" smtClean="0">
                          <a:latin typeface="Cambria Math" panose="02040503050406030204" pitchFamily="18" charset="0"/>
                        </a:rPr>
                        <m:t>𝐎𝐑</m:t>
                      </m:r>
                      <m:r>
                        <a:rPr lang="en-US" sz="2200" i="0" dirty="0" smtClean="0">
                          <a:latin typeface="Cambria Math" panose="02040503050406030204" pitchFamily="18" charset="0"/>
                        </a:rPr>
                        <m:t> 1&lt;2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dirty="0"/>
                  <a:t>Truth table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286000" y="4191000"/>
              <a:ext cx="4572000" cy="198120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sz="2000" dirty="0"/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r>
                            <a:rPr lang="en-US" sz="2000" b="0" dirty="0"/>
                            <a:t>V</a:t>
                          </a:r>
                          <a:r>
                            <a:rPr lang="en-US" sz="2000" b="0" i="0" dirty="0">
                              <a:latin typeface="+mj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15270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52705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6952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54397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232511"/>
                  </p:ext>
                </p:extLst>
              </p:nvPr>
            </p:nvGraphicFramePr>
            <p:xfrm>
              <a:off x="2286000" y="4191000"/>
              <a:ext cx="4572000" cy="198120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7692" r="-2016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7692" r="-1016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800" t="-7692" r="-160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107692" r="-2016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107692" r="-1016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5270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204545" r="-2016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204545" r="-1016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27057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309231" r="-2016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309231" r="-1016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9529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409231" r="-2016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409231" r="-1016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43975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38800" y="4595336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595336"/>
                <a:ext cx="91440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38800" y="500860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008602"/>
                <a:ext cx="91440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638800" y="5421868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421868"/>
                <a:ext cx="9144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638800" y="5802868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802868"/>
                <a:ext cx="9144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55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Connectives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Negation (</a:t>
                </a:r>
                <a:r>
                  <a:rPr lang="en-US" altLang="en-US" b="1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</a:t>
                </a:r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  <a:sym typeface="Symbol" panose="05050102010706020507" pitchFamily="18" charset="2"/>
                      </a:rPr>
                      <m:t>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the negation of a proposition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is also a proposition.</a:t>
                </a:r>
              </a:p>
              <a:p>
                <a:r>
                  <a:rPr lang="en-US" dirty="0"/>
                  <a:t>Example: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: John studies.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altLang="en-US" sz="2200" i="0" dirty="0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  <a:sym typeface="Symbol" panose="05050102010706020507" pitchFamily="18" charset="2"/>
                      </a:rPr>
                      <m:t> </m:t>
                    </m:r>
                    <m:r>
                      <m:rPr>
                        <m:sty m:val="p"/>
                      </m:rPr>
                      <a:rPr lang="en-US" sz="2200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200" dirty="0"/>
                  <a:t> : John does NOT study.</a:t>
                </a:r>
              </a:p>
              <a:p>
                <a:r>
                  <a:rPr lang="en-US" dirty="0"/>
                  <a:t>Truth table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800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2895600" y="3962400"/>
              <a:ext cx="3048000" cy="11887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i="1" dirty="0" smtClean="0">
                                    <a:latin typeface="Cambria Math" panose="02040503050406030204" pitchFamily="18" charset="0"/>
                                    <a:ea typeface="ＭＳ Ｐゴシック" panose="020B0600070205080204" pitchFamily="34" charset="-128"/>
                                    <a:sym typeface="Symbol" panose="05050102010706020507" pitchFamily="18" charset="2"/>
                                  </a:rPr>
                                  <m:t> 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674220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16169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296399"/>
                  </p:ext>
                </p:extLst>
              </p:nvPr>
            </p:nvGraphicFramePr>
            <p:xfrm>
              <a:off x="2895600" y="3962400"/>
              <a:ext cx="3048000" cy="11887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0" t="-3077" r="-101600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00" t="-3077" r="-1600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74220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6169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6600" y="434340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343400"/>
                <a:ext cx="9144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81550" y="434340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550" y="4343400"/>
                <a:ext cx="9144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76600" y="4791194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791194"/>
                <a:ext cx="9144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81550" y="4792889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550" y="4792889"/>
                <a:ext cx="9144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60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Universal Quantifier </a:t>
                </a:r>
                <a:r>
                  <a:rPr lang="en-US" dirty="0"/>
                  <a:t>(denoted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“∀”</m:t>
                    </m:r>
                  </m:oMath>
                </a14:m>
                <a:r>
                  <a:rPr lang="en-US" i="0" dirty="0">
                    <a:latin typeface="+mj-lt"/>
                  </a:rPr>
                  <a:t> f</a:t>
                </a:r>
                <a:r>
                  <a:rPr lang="en-US" dirty="0"/>
                  <a:t>or all):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preposition,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gives expected result for all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the universe of discourse then the universal quantification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denoted by,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for all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true</a:t>
                </a:r>
              </a:p>
              <a:p>
                <a:pPr marL="739775" lvl="1" indent="-282575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 dirty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+1&gt;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order to prove that a universal quantification </a:t>
                </a:r>
                <a:r>
                  <a:rPr lang="en-US" b="1" dirty="0"/>
                  <a:t>is false</a:t>
                </a:r>
                <a:r>
                  <a:rPr lang="en-US" dirty="0"/>
                  <a:t>, it must be shown to be false </a:t>
                </a:r>
                <a:r>
                  <a:rPr lang="en-US" b="1" dirty="0">
                    <a:solidFill>
                      <a:srgbClr val="C00000"/>
                    </a:solidFill>
                  </a:rPr>
                  <a:t>for only ONE case.</a:t>
                </a:r>
              </a:p>
              <a:p>
                <a:r>
                  <a:rPr lang="en-US" dirty="0"/>
                  <a:t>In order to prove that a universal quantification </a:t>
                </a:r>
                <a:r>
                  <a:rPr lang="en-US" b="1" dirty="0"/>
                  <a:t>is true</a:t>
                </a:r>
                <a:r>
                  <a:rPr lang="en-US" dirty="0"/>
                  <a:t>, it must be shown true </a:t>
                </a:r>
                <a:r>
                  <a:rPr lang="en-US" b="1" dirty="0">
                    <a:solidFill>
                      <a:srgbClr val="C00000"/>
                    </a:solidFill>
                  </a:rPr>
                  <a:t>for ALL cases.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2819400" y="4481512"/>
            <a:ext cx="2377440" cy="457200"/>
          </a:xfrm>
          <a:prstGeom prst="roundRect">
            <a:avLst/>
          </a:prstGeom>
          <a:solidFill>
            <a:srgbClr val="8FCE4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057400" y="5376578"/>
            <a:ext cx="1828800" cy="457200"/>
          </a:xfrm>
          <a:prstGeom prst="roundRect">
            <a:avLst/>
          </a:prstGeom>
          <a:solidFill>
            <a:srgbClr val="8FCE4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066800" y="4038600"/>
            <a:ext cx="283464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Existential Quantifier </a:t>
                </a:r>
                <a:r>
                  <a:rPr lang="en-US" dirty="0"/>
                  <a:t>(denoted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”</m:t>
                    </m:r>
                  </m:oMath>
                </a14:m>
                <a:r>
                  <a:rPr lang="en-US" dirty="0"/>
                  <a:t> for some):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the preposition, if there exits 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the universe of discourse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giving expected result then the Existential Quantification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represented by,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739775" lvl="2" indent="0">
                  <a:buNone/>
                </a:pPr>
                <a:r>
                  <a:rPr lang="en-US" sz="2200" dirty="0"/>
                  <a:t>There exists a numerical value for which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/2 &lt;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is true</a:t>
                </a:r>
              </a:p>
              <a:p>
                <a:pPr marL="739775" lvl="2" indent="0">
                  <a:buNone/>
                </a:pPr>
                <a:r>
                  <a:rPr lang="en-US" sz="2200" dirty="0"/>
                  <a:t>Thus, </a:t>
                </a:r>
                <a14:m>
                  <m:oMath xmlns:m="http://schemas.openxmlformats.org/officeDocument/2006/math">
                    <m:r>
                      <a:rPr lang="en-US" altLang="en-US" sz="2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</m:t>
                    </m:r>
                    <m:r>
                      <a:rPr lang="en-US" altLang="en-US" sz="22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is true</a:t>
                </a:r>
              </a:p>
              <a:p>
                <a:r>
                  <a:rPr lang="en-US" dirty="0"/>
                  <a:t>In order to show an existential quantification </a:t>
                </a:r>
                <a:r>
                  <a:rPr lang="en-US" b="1" dirty="0"/>
                  <a:t>is true</a:t>
                </a:r>
                <a:r>
                  <a:rPr lang="en-US" dirty="0"/>
                  <a:t>, it must be shown true </a:t>
                </a:r>
                <a:r>
                  <a:rPr lang="en-US" b="1" dirty="0">
                    <a:solidFill>
                      <a:srgbClr val="C00000"/>
                    </a:solidFill>
                  </a:rPr>
                  <a:t>for only ONE value.</a:t>
                </a:r>
              </a:p>
              <a:p>
                <a:r>
                  <a:rPr lang="en-US" dirty="0"/>
                  <a:t>In order to show an existential quantification </a:t>
                </a:r>
                <a:r>
                  <a:rPr lang="en-US" b="1" dirty="0"/>
                  <a:t>is false</a:t>
                </a:r>
                <a:r>
                  <a:rPr lang="en-US" dirty="0"/>
                  <a:t>, it must be show false </a:t>
                </a:r>
                <a:r>
                  <a:rPr lang="en-US" b="1" dirty="0">
                    <a:solidFill>
                      <a:srgbClr val="C00000"/>
                    </a:solidFill>
                  </a:rPr>
                  <a:t>for ALL values.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 b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2043112" y="4924424"/>
            <a:ext cx="2514600" cy="457200"/>
          </a:xfrm>
          <a:prstGeom prst="roundRect">
            <a:avLst/>
          </a:prstGeom>
          <a:solidFill>
            <a:srgbClr val="8FCE4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952624" y="5802927"/>
            <a:ext cx="1905000" cy="457200"/>
          </a:xfrm>
          <a:prstGeom prst="roundRect">
            <a:avLst/>
          </a:prstGeom>
          <a:solidFill>
            <a:srgbClr val="8FCE4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676400" y="4495800"/>
            <a:ext cx="20574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50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 - 1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Define Algorithm. How algorithm differs from flow chart?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vector? Which operations are performed on vector?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List types of algorithms.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Discuss key characteristics of algorithm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0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5900</TotalTime>
  <Words>3183</Words>
  <Application>Microsoft Office PowerPoint</Application>
  <PresentationFormat>On-screen Show (4:3)</PresentationFormat>
  <Paragraphs>425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Introduction to Algorithms </vt:lpstr>
      <vt:lpstr>What is an Algorithm? </vt:lpstr>
      <vt:lpstr>Characteristics of an Algorithm</vt:lpstr>
      <vt:lpstr>Types of Algorithm</vt:lpstr>
      <vt:lpstr>Mathematics for Algorithmic Sets  </vt:lpstr>
      <vt:lpstr>Set Theory</vt:lpstr>
      <vt:lpstr>Set Theory</vt:lpstr>
      <vt:lpstr>Set Theory</vt:lpstr>
      <vt:lpstr>Set Theory</vt:lpstr>
      <vt:lpstr>Set Theory</vt:lpstr>
      <vt:lpstr>Set Operations</vt:lpstr>
      <vt:lpstr>Set Operations</vt:lpstr>
      <vt:lpstr>Set Operations</vt:lpstr>
      <vt:lpstr>Set Operations</vt:lpstr>
      <vt:lpstr>Set Operations</vt:lpstr>
      <vt:lpstr>Set Operations</vt:lpstr>
      <vt:lpstr>Relation </vt:lpstr>
      <vt:lpstr>Properties of the Relation</vt:lpstr>
      <vt:lpstr>Properties of the Relation</vt:lpstr>
      <vt:lpstr>Properties of the Relation</vt:lpstr>
      <vt:lpstr>Equivalence Relation</vt:lpstr>
      <vt:lpstr>Functions </vt:lpstr>
      <vt:lpstr>Function Notations</vt:lpstr>
      <vt:lpstr>Relation &amp; Function</vt:lpstr>
      <vt:lpstr>Functions </vt:lpstr>
      <vt:lpstr>Functions </vt:lpstr>
      <vt:lpstr>Functions </vt:lpstr>
      <vt:lpstr>Vectors and Matrices </vt:lpstr>
      <vt:lpstr>Linear Inequalities</vt:lpstr>
      <vt:lpstr>Linear Equations</vt:lpstr>
      <vt:lpstr>Logic </vt:lpstr>
      <vt:lpstr>Logical Connectives</vt:lpstr>
      <vt:lpstr>Logical Connectives</vt:lpstr>
      <vt:lpstr>Logical Connectives</vt:lpstr>
      <vt:lpstr>Logical Quantifiers</vt:lpstr>
      <vt:lpstr>Logical Quantifiers</vt:lpstr>
      <vt:lpstr>Assignment - 1</vt:lpstr>
    </vt:vector>
  </TitlesOfParts>
  <Company>Meet Patel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Meet Patel</dc:creator>
  <cp:lastModifiedBy>Meet</cp:lastModifiedBy>
  <cp:revision>1113</cp:revision>
  <dcterms:created xsi:type="dcterms:W3CDTF">2013-05-17T03:00:03Z</dcterms:created>
  <dcterms:modified xsi:type="dcterms:W3CDTF">2020-06-26T05:45:59Z</dcterms:modified>
</cp:coreProperties>
</file>